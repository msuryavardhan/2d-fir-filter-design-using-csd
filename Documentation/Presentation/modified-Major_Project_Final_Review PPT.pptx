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56" r:id="rId2"/>
    <p:sldId id="257" r:id="rId3"/>
    <p:sldId id="258" r:id="rId4"/>
    <p:sldId id="284" r:id="rId5"/>
    <p:sldId id="259" r:id="rId6"/>
    <p:sldId id="261" r:id="rId7"/>
    <p:sldId id="262" r:id="rId8"/>
    <p:sldId id="266" r:id="rId9"/>
    <p:sldId id="286" r:id="rId10"/>
    <p:sldId id="267" r:id="rId11"/>
    <p:sldId id="268" r:id="rId12"/>
    <p:sldId id="270" r:id="rId13"/>
    <p:sldId id="287" r:id="rId14"/>
    <p:sldId id="288" r:id="rId15"/>
    <p:sldId id="318" r:id="rId16"/>
    <p:sldId id="299" r:id="rId17"/>
    <p:sldId id="300" r:id="rId18"/>
    <p:sldId id="319" r:id="rId19"/>
    <p:sldId id="295" r:id="rId20"/>
    <p:sldId id="301" r:id="rId21"/>
    <p:sldId id="320" r:id="rId22"/>
    <p:sldId id="289" r:id="rId23"/>
    <p:sldId id="302" r:id="rId24"/>
    <p:sldId id="321" r:id="rId25"/>
    <p:sldId id="290" r:id="rId26"/>
    <p:sldId id="303" r:id="rId27"/>
    <p:sldId id="322" r:id="rId28"/>
    <p:sldId id="291" r:id="rId29"/>
    <p:sldId id="297" r:id="rId30"/>
    <p:sldId id="292" r:id="rId31"/>
    <p:sldId id="304" r:id="rId32"/>
    <p:sldId id="298" r:id="rId33"/>
    <p:sldId id="306" r:id="rId34"/>
    <p:sldId id="308" r:id="rId35"/>
    <p:sldId id="307" r:id="rId36"/>
    <p:sldId id="309" r:id="rId37"/>
    <p:sldId id="310" r:id="rId38"/>
    <p:sldId id="311" r:id="rId39"/>
    <p:sldId id="285" r:id="rId40"/>
    <p:sldId id="312" r:id="rId41"/>
    <p:sldId id="279"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rya Vardhan" initials="SV" lastIdx="1" clrIdx="0">
    <p:extLst>
      <p:ext uri="{19B8F6BF-5375-455C-9EA6-DF929625EA0E}">
        <p15:presenceInfo xmlns:p15="http://schemas.microsoft.com/office/powerpoint/2012/main" userId="bb9255013956b9a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3861" autoAdjust="0"/>
  </p:normalViewPr>
  <p:slideViewPr>
    <p:cSldViewPr snapToGrid="0">
      <p:cViewPr>
        <p:scale>
          <a:sx n="100" d="100"/>
          <a:sy n="100" d="100"/>
        </p:scale>
        <p:origin x="990" y="2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charts/_rels/chart1.xml.rels><?xml version="1.0" encoding="UTF-8" standalone="yes"?>
<Relationships xmlns="http://schemas.openxmlformats.org/package/2006/relationships"><Relationship Id="rId3" Type="http://schemas.openxmlformats.org/officeDocument/2006/relationships/oleObject" Target="file:///C:\Users\vardh\OneDrive\Desktop\Major%20Project\PPT'S%20&amp;%20documentation\New%20Microsoft%20Excel%20Workshee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vardh\OneDrive\Desktop\Major%20Project\PPT'S%20&amp;%20documentation\New%20Microsoft%20Excel%20Workshee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vardh\OneDrive\Desktop\Major%20Project\PPT'S%20&amp;%20documentation\New%20Microsoft%20Excel%20Worksheet.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Sheet1!$B$1:$B$2</c:f>
              <c:strCache>
                <c:ptCount val="2"/>
                <c:pt idx="0">
                  <c:v>Power</c:v>
                </c:pt>
                <c:pt idx="1">
                  <c:v>(mW)</c:v>
                </c:pt>
              </c:strCache>
            </c:strRef>
          </c:tx>
          <c:spPr>
            <a:solidFill>
              <a:schemeClr val="accent1"/>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Sheet1!$A$3:$A$7</c:f>
              <c:strCache>
                <c:ptCount val="5"/>
                <c:pt idx="0">
                  <c:v>Kumar et al. [42]</c:v>
                </c:pt>
                <c:pt idx="1">
                  <c:v>Mohanty et al. [43]</c:v>
                </c:pt>
                <c:pt idx="2">
                  <c:v>Khoo et al. [31]</c:v>
                </c:pt>
                <c:pt idx="3">
                  <c:v>Chen et al. [44]</c:v>
                </c:pt>
                <c:pt idx="4">
                  <c:v>Proposed 1 (Fully-Direct)</c:v>
                </c:pt>
              </c:strCache>
            </c:strRef>
          </c:cat>
          <c:val>
            <c:numRef>
              <c:f>Sheet1!$B$3:$B$7</c:f>
              <c:numCache>
                <c:formatCode>General</c:formatCode>
                <c:ptCount val="5"/>
                <c:pt idx="0">
                  <c:v>20.1069</c:v>
                </c:pt>
                <c:pt idx="1">
                  <c:v>50.010599999999997</c:v>
                </c:pt>
                <c:pt idx="2">
                  <c:v>9.3806999999999992</c:v>
                </c:pt>
                <c:pt idx="3">
                  <c:v>9.3559999999999999</c:v>
                </c:pt>
                <c:pt idx="4">
                  <c:v>5.1357999999999997</c:v>
                </c:pt>
              </c:numCache>
            </c:numRef>
          </c:val>
          <c:extLst>
            <c:ext xmlns:c16="http://schemas.microsoft.com/office/drawing/2014/chart" uri="{C3380CC4-5D6E-409C-BE32-E72D297353CC}">
              <c16:uniqueId val="{00000000-DBA2-4232-B821-40BCE5D27439}"/>
            </c:ext>
          </c:extLst>
        </c:ser>
        <c:ser>
          <c:idx val="1"/>
          <c:order val="1"/>
          <c:tx>
            <c:strRef>
              <c:f>Sheet1!$C$1:$C$2</c:f>
              <c:strCache>
                <c:ptCount val="2"/>
                <c:pt idx="0">
                  <c:v>Delay</c:v>
                </c:pt>
                <c:pt idx="1">
                  <c:v>(ns)</c:v>
                </c:pt>
              </c:strCache>
            </c:strRef>
          </c:tx>
          <c:spPr>
            <a:solidFill>
              <a:schemeClr val="accent2"/>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Sheet1!$A$3:$A$7</c:f>
              <c:strCache>
                <c:ptCount val="5"/>
                <c:pt idx="0">
                  <c:v>Kumar et al. [42]</c:v>
                </c:pt>
                <c:pt idx="1">
                  <c:v>Mohanty et al. [43]</c:v>
                </c:pt>
                <c:pt idx="2">
                  <c:v>Khoo et al. [31]</c:v>
                </c:pt>
                <c:pt idx="3">
                  <c:v>Chen et al. [44]</c:v>
                </c:pt>
                <c:pt idx="4">
                  <c:v>Proposed 1 (Fully-Direct)</c:v>
                </c:pt>
              </c:strCache>
            </c:strRef>
          </c:cat>
          <c:val>
            <c:numRef>
              <c:f>Sheet1!$C$3:$C$7</c:f>
              <c:numCache>
                <c:formatCode>General</c:formatCode>
                <c:ptCount val="5"/>
                <c:pt idx="0">
                  <c:v>6.53</c:v>
                </c:pt>
                <c:pt idx="1">
                  <c:v>11.79</c:v>
                </c:pt>
                <c:pt idx="2">
                  <c:v>13.1</c:v>
                </c:pt>
                <c:pt idx="3">
                  <c:v>19.23</c:v>
                </c:pt>
                <c:pt idx="4">
                  <c:v>16.559999999999999</c:v>
                </c:pt>
              </c:numCache>
            </c:numRef>
          </c:val>
          <c:extLst>
            <c:ext xmlns:c16="http://schemas.microsoft.com/office/drawing/2014/chart" uri="{C3380CC4-5D6E-409C-BE32-E72D297353CC}">
              <c16:uniqueId val="{00000001-DBA2-4232-B821-40BCE5D27439}"/>
            </c:ext>
          </c:extLst>
        </c:ser>
        <c:dLbls>
          <c:dLblPos val="outEnd"/>
          <c:showLegendKey val="0"/>
          <c:showVal val="1"/>
          <c:showCatName val="0"/>
          <c:showSerName val="0"/>
          <c:showPercent val="0"/>
          <c:showBubbleSize val="0"/>
        </c:dLbls>
        <c:gapWidth val="444"/>
        <c:overlap val="-90"/>
        <c:axId val="929352976"/>
        <c:axId val="941373120"/>
      </c:barChart>
      <c:catAx>
        <c:axId val="92935297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tx1">
                    <a:lumMod val="65000"/>
                    <a:lumOff val="35000"/>
                  </a:schemeClr>
                </a:solidFill>
                <a:latin typeface="+mn-lt"/>
                <a:ea typeface="+mn-ea"/>
                <a:cs typeface="+mn-cs"/>
              </a:defRPr>
            </a:pPr>
            <a:endParaRPr lang="en-US"/>
          </a:p>
        </c:txPr>
        <c:crossAx val="941373120"/>
        <c:crosses val="autoZero"/>
        <c:auto val="1"/>
        <c:lblAlgn val="ctr"/>
        <c:lblOffset val="100"/>
        <c:noMultiLvlLbl val="0"/>
      </c:catAx>
      <c:valAx>
        <c:axId val="941373120"/>
        <c:scaling>
          <c:orientation val="minMax"/>
        </c:scaling>
        <c:delete val="1"/>
        <c:axPos val="l"/>
        <c:numFmt formatCode="General" sourceLinked="1"/>
        <c:majorTickMark val="none"/>
        <c:minorTickMark val="none"/>
        <c:tickLblPos val="nextTo"/>
        <c:crossAx val="929352976"/>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Sheet1!$D$1:$D$2</c:f>
              <c:strCache>
                <c:ptCount val="2"/>
                <c:pt idx="0">
                  <c:v>ADP</c:v>
                </c:pt>
                <c:pt idx="1">
                  <c:v>(µm2 .ms)</c:v>
                </c:pt>
              </c:strCache>
            </c:strRef>
          </c:tx>
          <c:spPr>
            <a:solidFill>
              <a:schemeClr val="accent1"/>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6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Sheet1!$A$3:$A$7</c:f>
              <c:strCache>
                <c:ptCount val="5"/>
                <c:pt idx="0">
                  <c:v>Kumar et al. [42]</c:v>
                </c:pt>
                <c:pt idx="1">
                  <c:v>Mohanty et al. [43]</c:v>
                </c:pt>
                <c:pt idx="2">
                  <c:v>Khoo et al. [31]</c:v>
                </c:pt>
                <c:pt idx="3">
                  <c:v>Chen et al. [44]</c:v>
                </c:pt>
                <c:pt idx="4">
                  <c:v>Proposed 1 (Fully-Direct)</c:v>
                </c:pt>
              </c:strCache>
            </c:strRef>
          </c:cat>
          <c:val>
            <c:numRef>
              <c:f>Sheet1!$D$3:$D$7</c:f>
              <c:numCache>
                <c:formatCode>General</c:formatCode>
                <c:ptCount val="5"/>
                <c:pt idx="0">
                  <c:v>0.53188000000000002</c:v>
                </c:pt>
                <c:pt idx="1">
                  <c:v>25.37555</c:v>
                </c:pt>
                <c:pt idx="2">
                  <c:v>4.6360840000000003</c:v>
                </c:pt>
                <c:pt idx="3">
                  <c:v>0.42996299999999998</c:v>
                </c:pt>
                <c:pt idx="4">
                  <c:v>0.26891700000000002</c:v>
                </c:pt>
              </c:numCache>
            </c:numRef>
          </c:val>
          <c:extLst>
            <c:ext xmlns:c16="http://schemas.microsoft.com/office/drawing/2014/chart" uri="{C3380CC4-5D6E-409C-BE32-E72D297353CC}">
              <c16:uniqueId val="{00000000-D507-4C9A-A1EF-32BD0F41E317}"/>
            </c:ext>
          </c:extLst>
        </c:ser>
        <c:dLbls>
          <c:dLblPos val="outEnd"/>
          <c:showLegendKey val="0"/>
          <c:showVal val="1"/>
          <c:showCatName val="0"/>
          <c:showSerName val="0"/>
          <c:showPercent val="0"/>
          <c:showBubbleSize val="0"/>
        </c:dLbls>
        <c:gapWidth val="444"/>
        <c:overlap val="-90"/>
        <c:axId val="929292656"/>
        <c:axId val="941379840"/>
      </c:barChart>
      <c:catAx>
        <c:axId val="92929265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tx1">
                    <a:lumMod val="65000"/>
                    <a:lumOff val="35000"/>
                  </a:schemeClr>
                </a:solidFill>
                <a:latin typeface="+mn-lt"/>
                <a:ea typeface="+mn-ea"/>
                <a:cs typeface="+mn-cs"/>
              </a:defRPr>
            </a:pPr>
            <a:endParaRPr lang="en-US"/>
          </a:p>
        </c:txPr>
        <c:crossAx val="941379840"/>
        <c:crosses val="autoZero"/>
        <c:auto val="1"/>
        <c:lblAlgn val="ctr"/>
        <c:lblOffset val="100"/>
        <c:noMultiLvlLbl val="0"/>
      </c:catAx>
      <c:valAx>
        <c:axId val="941379840"/>
        <c:scaling>
          <c:orientation val="minMax"/>
        </c:scaling>
        <c:delete val="1"/>
        <c:axPos val="l"/>
        <c:numFmt formatCode="General" sourceLinked="1"/>
        <c:majorTickMark val="none"/>
        <c:minorTickMark val="none"/>
        <c:tickLblPos val="nextTo"/>
        <c:crossAx val="92929265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Sheet1!$E$1:$E$2</c:f>
              <c:strCache>
                <c:ptCount val="2"/>
                <c:pt idx="0">
                  <c:v>PDP</c:v>
                </c:pt>
                <c:pt idx="1">
                  <c:v>(µm2 . mW)</c:v>
                </c:pt>
              </c:strCache>
            </c:strRef>
          </c:tx>
          <c:spPr>
            <a:solidFill>
              <a:schemeClr val="accent1"/>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6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Sheet1!$A$3:$A$7</c:f>
              <c:strCache>
                <c:ptCount val="5"/>
                <c:pt idx="0">
                  <c:v>Kumar et al. [42]</c:v>
                </c:pt>
                <c:pt idx="1">
                  <c:v>Mohanty et al. [43]</c:v>
                </c:pt>
                <c:pt idx="2">
                  <c:v>Khoo et al. [31]</c:v>
                </c:pt>
                <c:pt idx="3">
                  <c:v>Chen et al. [44]</c:v>
                </c:pt>
                <c:pt idx="4">
                  <c:v>Proposed 1 (Fully-Direct)</c:v>
                </c:pt>
              </c:strCache>
            </c:strRef>
          </c:cat>
          <c:val>
            <c:numRef>
              <c:f>Sheet1!$E$3:$E$7</c:f>
              <c:numCache>
                <c:formatCode>General</c:formatCode>
                <c:ptCount val="5"/>
                <c:pt idx="0">
                  <c:v>131.30000000000001</c:v>
                </c:pt>
                <c:pt idx="1">
                  <c:v>589.62</c:v>
                </c:pt>
                <c:pt idx="2">
                  <c:v>122.89</c:v>
                </c:pt>
                <c:pt idx="3">
                  <c:v>179.91</c:v>
                </c:pt>
                <c:pt idx="4">
                  <c:v>85.04</c:v>
                </c:pt>
              </c:numCache>
            </c:numRef>
          </c:val>
          <c:extLst>
            <c:ext xmlns:c16="http://schemas.microsoft.com/office/drawing/2014/chart" uri="{C3380CC4-5D6E-409C-BE32-E72D297353CC}">
              <c16:uniqueId val="{00000000-DD02-4C80-848A-93E3C84790E3}"/>
            </c:ext>
          </c:extLst>
        </c:ser>
        <c:dLbls>
          <c:dLblPos val="outEnd"/>
          <c:showLegendKey val="0"/>
          <c:showVal val="1"/>
          <c:showCatName val="0"/>
          <c:showSerName val="0"/>
          <c:showPercent val="0"/>
          <c:showBubbleSize val="0"/>
        </c:dLbls>
        <c:gapWidth val="444"/>
        <c:overlap val="-90"/>
        <c:axId val="929366432"/>
        <c:axId val="855462352"/>
      </c:barChart>
      <c:catAx>
        <c:axId val="92936643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tx1">
                    <a:lumMod val="65000"/>
                    <a:lumOff val="35000"/>
                  </a:schemeClr>
                </a:solidFill>
                <a:latin typeface="+mn-lt"/>
                <a:ea typeface="+mn-ea"/>
                <a:cs typeface="+mn-cs"/>
              </a:defRPr>
            </a:pPr>
            <a:endParaRPr lang="en-US"/>
          </a:p>
        </c:txPr>
        <c:crossAx val="855462352"/>
        <c:crosses val="autoZero"/>
        <c:auto val="1"/>
        <c:lblAlgn val="ctr"/>
        <c:lblOffset val="100"/>
        <c:noMultiLvlLbl val="0"/>
      </c:catAx>
      <c:valAx>
        <c:axId val="855462352"/>
        <c:scaling>
          <c:orientation val="minMax"/>
        </c:scaling>
        <c:delete val="1"/>
        <c:axPos val="l"/>
        <c:numFmt formatCode="General" sourceLinked="1"/>
        <c:majorTickMark val="none"/>
        <c:minorTickMark val="none"/>
        <c:tickLblPos val="nextTo"/>
        <c:crossAx val="92936643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omments/comment1.xml><?xml version="1.0" encoding="utf-8"?>
<p:cmLst xmlns:a="http://schemas.openxmlformats.org/drawingml/2006/main" xmlns:r="http://schemas.openxmlformats.org/officeDocument/2006/relationships" xmlns:p="http://schemas.openxmlformats.org/presentationml/2006/main">
  <p:cm authorId="1" dt="2023-04-15T10:10:34.785" idx="1">
    <p:pos x="7152" y="1697"/>
    <p:text>OS</p:text>
    <p:extLst>
      <p:ext uri="{C676402C-5697-4E1C-873F-D02D1690AC5C}">
        <p15:threadingInfo xmlns:p15="http://schemas.microsoft.com/office/powerpoint/2012/main" timeZoneBias="-33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658114-C95A-4039-853F-EA208CCE786D}" type="datetimeFigureOut">
              <a:rPr lang="en-IN" smtClean="0"/>
              <a:t>15-04-2023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7F3B7F-A6B7-49CB-9A7C-F08D5DB4B1C5}" type="slidenum">
              <a:rPr lang="en-IN" smtClean="0"/>
              <a:t>‹#›</a:t>
            </a:fld>
            <a:endParaRPr lang="en-IN"/>
          </a:p>
        </p:txBody>
      </p:sp>
    </p:spTree>
    <p:extLst>
      <p:ext uri="{BB962C8B-B14F-4D97-AF65-F5344CB8AC3E}">
        <p14:creationId xmlns:p14="http://schemas.microsoft.com/office/powerpoint/2010/main" val="18697220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7F3B7F-A6B7-49CB-9A7C-F08D5DB4B1C5}" type="slidenum">
              <a:rPr lang="en-IN" smtClean="0"/>
              <a:t>9</a:t>
            </a:fld>
            <a:endParaRPr lang="en-IN"/>
          </a:p>
        </p:txBody>
      </p:sp>
    </p:spTree>
    <p:extLst>
      <p:ext uri="{BB962C8B-B14F-4D97-AF65-F5344CB8AC3E}">
        <p14:creationId xmlns:p14="http://schemas.microsoft.com/office/powerpoint/2010/main" val="29645757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83E14-AE32-4DC4-8359-A508E109588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E9D01B7-6A98-4158-A282-C51E0AB0F1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9002CA9-F75F-4B99-AB0A-8192F2931F2E}"/>
              </a:ext>
            </a:extLst>
          </p:cNvPr>
          <p:cNvSpPr>
            <a:spLocks noGrp="1"/>
          </p:cNvSpPr>
          <p:nvPr>
            <p:ph type="dt" sz="half" idx="10"/>
          </p:nvPr>
        </p:nvSpPr>
        <p:spPr/>
        <p:txBody>
          <a:bodyPr/>
          <a:lstStyle/>
          <a:p>
            <a:fld id="{4F862443-A10E-4B82-96E6-04DEE93D6621}" type="datetimeFigureOut">
              <a:rPr lang="en-US" smtClean="0"/>
              <a:t>4/15/2023</a:t>
            </a:fld>
            <a:endParaRPr lang="en-US"/>
          </a:p>
        </p:txBody>
      </p:sp>
      <p:sp>
        <p:nvSpPr>
          <p:cNvPr id="5" name="Footer Placeholder 4">
            <a:extLst>
              <a:ext uri="{FF2B5EF4-FFF2-40B4-BE49-F238E27FC236}">
                <a16:creationId xmlns:a16="http://schemas.microsoft.com/office/drawing/2014/main" id="{17A47189-B5A5-4799-9057-5D42DEA6E6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CECC92-CA54-419F-B3C3-5BBE37242095}"/>
              </a:ext>
            </a:extLst>
          </p:cNvPr>
          <p:cNvSpPr>
            <a:spLocks noGrp="1"/>
          </p:cNvSpPr>
          <p:nvPr>
            <p:ph type="sldNum" sz="quarter" idx="12"/>
          </p:nvPr>
        </p:nvSpPr>
        <p:spPr/>
        <p:txBody>
          <a:bodyPr/>
          <a:lstStyle/>
          <a:p>
            <a:fld id="{60F56087-91A6-4964-B54C-61BA5A74B582}" type="slidenum">
              <a:rPr lang="en-US" smtClean="0"/>
              <a:t>‹#›</a:t>
            </a:fld>
            <a:endParaRPr lang="en-US"/>
          </a:p>
        </p:txBody>
      </p:sp>
    </p:spTree>
    <p:extLst>
      <p:ext uri="{BB962C8B-B14F-4D97-AF65-F5344CB8AC3E}">
        <p14:creationId xmlns:p14="http://schemas.microsoft.com/office/powerpoint/2010/main" val="21289393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3F858-5096-43E7-BC7D-14F38144043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5B9183-0F77-4F4F-A0A8-D67DEAF395E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26B255-C4BC-4731-95C6-82E055774B65}"/>
              </a:ext>
            </a:extLst>
          </p:cNvPr>
          <p:cNvSpPr>
            <a:spLocks noGrp="1"/>
          </p:cNvSpPr>
          <p:nvPr>
            <p:ph type="dt" sz="half" idx="10"/>
          </p:nvPr>
        </p:nvSpPr>
        <p:spPr/>
        <p:txBody>
          <a:bodyPr/>
          <a:lstStyle/>
          <a:p>
            <a:fld id="{4F862443-A10E-4B82-96E6-04DEE93D6621}" type="datetimeFigureOut">
              <a:rPr lang="en-US" smtClean="0"/>
              <a:t>4/15/2023</a:t>
            </a:fld>
            <a:endParaRPr lang="en-US"/>
          </a:p>
        </p:txBody>
      </p:sp>
      <p:sp>
        <p:nvSpPr>
          <p:cNvPr id="5" name="Footer Placeholder 4">
            <a:extLst>
              <a:ext uri="{FF2B5EF4-FFF2-40B4-BE49-F238E27FC236}">
                <a16:creationId xmlns:a16="http://schemas.microsoft.com/office/drawing/2014/main" id="{27B6E45E-3A8E-49FB-8969-8738206373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751759-80E8-4072-9497-570AB4AFA016}"/>
              </a:ext>
            </a:extLst>
          </p:cNvPr>
          <p:cNvSpPr>
            <a:spLocks noGrp="1"/>
          </p:cNvSpPr>
          <p:nvPr>
            <p:ph type="sldNum" sz="quarter" idx="12"/>
          </p:nvPr>
        </p:nvSpPr>
        <p:spPr/>
        <p:txBody>
          <a:bodyPr/>
          <a:lstStyle/>
          <a:p>
            <a:fld id="{60F56087-91A6-4964-B54C-61BA5A74B582}" type="slidenum">
              <a:rPr lang="en-US" smtClean="0"/>
              <a:t>‹#›</a:t>
            </a:fld>
            <a:endParaRPr lang="en-US"/>
          </a:p>
        </p:txBody>
      </p:sp>
    </p:spTree>
    <p:extLst>
      <p:ext uri="{BB962C8B-B14F-4D97-AF65-F5344CB8AC3E}">
        <p14:creationId xmlns:p14="http://schemas.microsoft.com/office/powerpoint/2010/main" val="4233228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6A1CB-E8F9-4E25-821D-EF335F9D84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2710054-C7CE-4856-BA2C-2F9C611D3EF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0E666AA-21DC-4CEC-8154-A35B067F1132}"/>
              </a:ext>
            </a:extLst>
          </p:cNvPr>
          <p:cNvSpPr>
            <a:spLocks noGrp="1"/>
          </p:cNvSpPr>
          <p:nvPr>
            <p:ph type="dt" sz="half" idx="10"/>
          </p:nvPr>
        </p:nvSpPr>
        <p:spPr/>
        <p:txBody>
          <a:bodyPr/>
          <a:lstStyle/>
          <a:p>
            <a:fld id="{4F862443-A10E-4B82-96E6-04DEE93D6621}" type="datetimeFigureOut">
              <a:rPr lang="en-US" smtClean="0"/>
              <a:t>4/15/2023</a:t>
            </a:fld>
            <a:endParaRPr lang="en-US"/>
          </a:p>
        </p:txBody>
      </p:sp>
      <p:sp>
        <p:nvSpPr>
          <p:cNvPr id="5" name="Footer Placeholder 4">
            <a:extLst>
              <a:ext uri="{FF2B5EF4-FFF2-40B4-BE49-F238E27FC236}">
                <a16:creationId xmlns:a16="http://schemas.microsoft.com/office/drawing/2014/main" id="{CA81AA31-7C36-4736-9F2F-FBCF1457E2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FFE0AC-2CA9-445F-8A03-9AFB9B9C9A88}"/>
              </a:ext>
            </a:extLst>
          </p:cNvPr>
          <p:cNvSpPr>
            <a:spLocks noGrp="1"/>
          </p:cNvSpPr>
          <p:nvPr>
            <p:ph type="sldNum" sz="quarter" idx="12"/>
          </p:nvPr>
        </p:nvSpPr>
        <p:spPr/>
        <p:txBody>
          <a:bodyPr/>
          <a:lstStyle/>
          <a:p>
            <a:fld id="{60F56087-91A6-4964-B54C-61BA5A74B582}" type="slidenum">
              <a:rPr lang="en-US" smtClean="0"/>
              <a:t>‹#›</a:t>
            </a:fld>
            <a:endParaRPr lang="en-US"/>
          </a:p>
        </p:txBody>
      </p:sp>
    </p:spTree>
    <p:extLst>
      <p:ext uri="{BB962C8B-B14F-4D97-AF65-F5344CB8AC3E}">
        <p14:creationId xmlns:p14="http://schemas.microsoft.com/office/powerpoint/2010/main" val="17919852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1124F-9C8B-4414-85B9-4B9070D6A9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811644-3AE6-48EB-8552-A8413AB6C12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B1FCA1E-1BB3-45C1-A4C8-FF0B54D3EE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BA40D58-BC03-4285-BD32-8825D48510CE}"/>
              </a:ext>
            </a:extLst>
          </p:cNvPr>
          <p:cNvSpPr>
            <a:spLocks noGrp="1"/>
          </p:cNvSpPr>
          <p:nvPr>
            <p:ph type="dt" sz="half" idx="10"/>
          </p:nvPr>
        </p:nvSpPr>
        <p:spPr/>
        <p:txBody>
          <a:bodyPr/>
          <a:lstStyle/>
          <a:p>
            <a:fld id="{4F862443-A10E-4B82-96E6-04DEE93D6621}" type="datetimeFigureOut">
              <a:rPr lang="en-US" smtClean="0"/>
              <a:t>4/15/2023</a:t>
            </a:fld>
            <a:endParaRPr lang="en-US"/>
          </a:p>
        </p:txBody>
      </p:sp>
      <p:sp>
        <p:nvSpPr>
          <p:cNvPr id="6" name="Footer Placeholder 5">
            <a:extLst>
              <a:ext uri="{FF2B5EF4-FFF2-40B4-BE49-F238E27FC236}">
                <a16:creationId xmlns:a16="http://schemas.microsoft.com/office/drawing/2014/main" id="{F431CDCB-D788-4354-AC2A-73BB15EA35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DB15FB-46AC-4DC0-AF82-353EAB919DA9}"/>
              </a:ext>
            </a:extLst>
          </p:cNvPr>
          <p:cNvSpPr>
            <a:spLocks noGrp="1"/>
          </p:cNvSpPr>
          <p:nvPr>
            <p:ph type="sldNum" sz="quarter" idx="12"/>
          </p:nvPr>
        </p:nvSpPr>
        <p:spPr/>
        <p:txBody>
          <a:bodyPr/>
          <a:lstStyle/>
          <a:p>
            <a:fld id="{60F56087-91A6-4964-B54C-61BA5A74B582}" type="slidenum">
              <a:rPr lang="en-US" smtClean="0"/>
              <a:t>‹#›</a:t>
            </a:fld>
            <a:endParaRPr lang="en-US"/>
          </a:p>
        </p:txBody>
      </p:sp>
    </p:spTree>
    <p:extLst>
      <p:ext uri="{BB962C8B-B14F-4D97-AF65-F5344CB8AC3E}">
        <p14:creationId xmlns:p14="http://schemas.microsoft.com/office/powerpoint/2010/main" val="19566775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40771-0D55-4D25-9A84-A8E50E71CC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2DE5B57-9E8F-413B-8559-3B8E3BF9F7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AFCED44-1B5E-4DBA-84C3-07609C60203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F8B662F-5291-4E7E-AE47-47FB34F281C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C059D0-C81E-4A79-9E33-D55821BF170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06F3EBA-FBB7-4BD4-B558-547DFD76A1F4}"/>
              </a:ext>
            </a:extLst>
          </p:cNvPr>
          <p:cNvSpPr>
            <a:spLocks noGrp="1"/>
          </p:cNvSpPr>
          <p:nvPr>
            <p:ph type="dt" sz="half" idx="10"/>
          </p:nvPr>
        </p:nvSpPr>
        <p:spPr/>
        <p:txBody>
          <a:bodyPr/>
          <a:lstStyle/>
          <a:p>
            <a:fld id="{4F862443-A10E-4B82-96E6-04DEE93D6621}" type="datetimeFigureOut">
              <a:rPr lang="en-US" smtClean="0"/>
              <a:t>4/15/2023</a:t>
            </a:fld>
            <a:endParaRPr lang="en-US"/>
          </a:p>
        </p:txBody>
      </p:sp>
      <p:sp>
        <p:nvSpPr>
          <p:cNvPr id="8" name="Footer Placeholder 7">
            <a:extLst>
              <a:ext uri="{FF2B5EF4-FFF2-40B4-BE49-F238E27FC236}">
                <a16:creationId xmlns:a16="http://schemas.microsoft.com/office/drawing/2014/main" id="{7545B561-2B77-4830-A4D3-91331F9F546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E3FAFC0-D007-4172-A0D8-430D1E581FB9}"/>
              </a:ext>
            </a:extLst>
          </p:cNvPr>
          <p:cNvSpPr>
            <a:spLocks noGrp="1"/>
          </p:cNvSpPr>
          <p:nvPr>
            <p:ph type="sldNum" sz="quarter" idx="12"/>
          </p:nvPr>
        </p:nvSpPr>
        <p:spPr/>
        <p:txBody>
          <a:bodyPr/>
          <a:lstStyle/>
          <a:p>
            <a:fld id="{60F56087-91A6-4964-B54C-61BA5A74B582}" type="slidenum">
              <a:rPr lang="en-US" smtClean="0"/>
              <a:t>‹#›</a:t>
            </a:fld>
            <a:endParaRPr lang="en-US"/>
          </a:p>
        </p:txBody>
      </p:sp>
    </p:spTree>
    <p:extLst>
      <p:ext uri="{BB962C8B-B14F-4D97-AF65-F5344CB8AC3E}">
        <p14:creationId xmlns:p14="http://schemas.microsoft.com/office/powerpoint/2010/main" val="18440262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347B9-DC31-48FA-93B6-750F428B994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686A49-F4DD-4DDB-B20B-37117C4A09D9}"/>
              </a:ext>
            </a:extLst>
          </p:cNvPr>
          <p:cNvSpPr>
            <a:spLocks noGrp="1"/>
          </p:cNvSpPr>
          <p:nvPr>
            <p:ph type="dt" sz="half" idx="10"/>
          </p:nvPr>
        </p:nvSpPr>
        <p:spPr/>
        <p:txBody>
          <a:bodyPr/>
          <a:lstStyle/>
          <a:p>
            <a:fld id="{4F862443-A10E-4B82-96E6-04DEE93D6621}" type="datetimeFigureOut">
              <a:rPr lang="en-US" smtClean="0"/>
              <a:t>4/15/2023</a:t>
            </a:fld>
            <a:endParaRPr lang="en-US"/>
          </a:p>
        </p:txBody>
      </p:sp>
      <p:sp>
        <p:nvSpPr>
          <p:cNvPr id="4" name="Footer Placeholder 3">
            <a:extLst>
              <a:ext uri="{FF2B5EF4-FFF2-40B4-BE49-F238E27FC236}">
                <a16:creationId xmlns:a16="http://schemas.microsoft.com/office/drawing/2014/main" id="{79B929EA-FE76-4D95-82F1-44554C750A0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5FEE015-6D3C-4B17-8124-6234DE65326B}"/>
              </a:ext>
            </a:extLst>
          </p:cNvPr>
          <p:cNvSpPr>
            <a:spLocks noGrp="1"/>
          </p:cNvSpPr>
          <p:nvPr>
            <p:ph type="sldNum" sz="quarter" idx="12"/>
          </p:nvPr>
        </p:nvSpPr>
        <p:spPr/>
        <p:txBody>
          <a:bodyPr/>
          <a:lstStyle/>
          <a:p>
            <a:fld id="{60F56087-91A6-4964-B54C-61BA5A74B582}" type="slidenum">
              <a:rPr lang="en-US" smtClean="0"/>
              <a:t>‹#›</a:t>
            </a:fld>
            <a:endParaRPr lang="en-US"/>
          </a:p>
        </p:txBody>
      </p:sp>
    </p:spTree>
    <p:extLst>
      <p:ext uri="{BB962C8B-B14F-4D97-AF65-F5344CB8AC3E}">
        <p14:creationId xmlns:p14="http://schemas.microsoft.com/office/powerpoint/2010/main" val="2281036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BCD1C8-80B1-412E-918E-8480D8B8096D}"/>
              </a:ext>
            </a:extLst>
          </p:cNvPr>
          <p:cNvSpPr>
            <a:spLocks noGrp="1"/>
          </p:cNvSpPr>
          <p:nvPr>
            <p:ph type="dt" sz="half" idx="10"/>
          </p:nvPr>
        </p:nvSpPr>
        <p:spPr/>
        <p:txBody>
          <a:bodyPr/>
          <a:lstStyle/>
          <a:p>
            <a:fld id="{4F862443-A10E-4B82-96E6-04DEE93D6621}" type="datetimeFigureOut">
              <a:rPr lang="en-US" smtClean="0"/>
              <a:t>4/15/2023</a:t>
            </a:fld>
            <a:endParaRPr lang="en-US"/>
          </a:p>
        </p:txBody>
      </p:sp>
      <p:sp>
        <p:nvSpPr>
          <p:cNvPr id="3" name="Footer Placeholder 2">
            <a:extLst>
              <a:ext uri="{FF2B5EF4-FFF2-40B4-BE49-F238E27FC236}">
                <a16:creationId xmlns:a16="http://schemas.microsoft.com/office/drawing/2014/main" id="{750B3370-5BF7-4948-9059-E29FC331557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A6A83E6-3EEF-4B22-9FD2-723AC369E916}"/>
              </a:ext>
            </a:extLst>
          </p:cNvPr>
          <p:cNvSpPr>
            <a:spLocks noGrp="1"/>
          </p:cNvSpPr>
          <p:nvPr>
            <p:ph type="sldNum" sz="quarter" idx="12"/>
          </p:nvPr>
        </p:nvSpPr>
        <p:spPr/>
        <p:txBody>
          <a:bodyPr/>
          <a:lstStyle/>
          <a:p>
            <a:fld id="{60F56087-91A6-4964-B54C-61BA5A74B582}" type="slidenum">
              <a:rPr lang="en-US" smtClean="0"/>
              <a:t>‹#›</a:t>
            </a:fld>
            <a:endParaRPr lang="en-US"/>
          </a:p>
        </p:txBody>
      </p:sp>
    </p:spTree>
    <p:extLst>
      <p:ext uri="{BB962C8B-B14F-4D97-AF65-F5344CB8AC3E}">
        <p14:creationId xmlns:p14="http://schemas.microsoft.com/office/powerpoint/2010/main" val="37897758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283DA-7B41-4345-A80C-144C82B630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CAEC1DE-5303-44E5-BB43-3B135F38C9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316540F-EFAA-48A2-A55A-C9E9EA5503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321508-E3D3-46FB-BB07-4D25675D47AC}"/>
              </a:ext>
            </a:extLst>
          </p:cNvPr>
          <p:cNvSpPr>
            <a:spLocks noGrp="1"/>
          </p:cNvSpPr>
          <p:nvPr>
            <p:ph type="dt" sz="half" idx="10"/>
          </p:nvPr>
        </p:nvSpPr>
        <p:spPr/>
        <p:txBody>
          <a:bodyPr/>
          <a:lstStyle/>
          <a:p>
            <a:fld id="{4F862443-A10E-4B82-96E6-04DEE93D6621}" type="datetimeFigureOut">
              <a:rPr lang="en-US" smtClean="0"/>
              <a:t>4/15/2023</a:t>
            </a:fld>
            <a:endParaRPr lang="en-US"/>
          </a:p>
        </p:txBody>
      </p:sp>
      <p:sp>
        <p:nvSpPr>
          <p:cNvPr id="6" name="Footer Placeholder 5">
            <a:extLst>
              <a:ext uri="{FF2B5EF4-FFF2-40B4-BE49-F238E27FC236}">
                <a16:creationId xmlns:a16="http://schemas.microsoft.com/office/drawing/2014/main" id="{FB544EBD-C903-4847-B2A1-766C251C1C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17742F-6064-4AAF-8818-25587035B4AC}"/>
              </a:ext>
            </a:extLst>
          </p:cNvPr>
          <p:cNvSpPr>
            <a:spLocks noGrp="1"/>
          </p:cNvSpPr>
          <p:nvPr>
            <p:ph type="sldNum" sz="quarter" idx="12"/>
          </p:nvPr>
        </p:nvSpPr>
        <p:spPr/>
        <p:txBody>
          <a:bodyPr/>
          <a:lstStyle/>
          <a:p>
            <a:fld id="{60F56087-91A6-4964-B54C-61BA5A74B582}" type="slidenum">
              <a:rPr lang="en-US" smtClean="0"/>
              <a:t>‹#›</a:t>
            </a:fld>
            <a:endParaRPr lang="en-US"/>
          </a:p>
        </p:txBody>
      </p:sp>
    </p:spTree>
    <p:extLst>
      <p:ext uri="{BB962C8B-B14F-4D97-AF65-F5344CB8AC3E}">
        <p14:creationId xmlns:p14="http://schemas.microsoft.com/office/powerpoint/2010/main" val="11032360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77522-B012-4781-A807-3D17D00782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01B94BC-53E1-4841-B408-679FC4C13F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99C533A-93E1-4BAC-BE2F-301ED2A240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CA5CE6-A74C-480D-864A-D941A2D6B2B0}"/>
              </a:ext>
            </a:extLst>
          </p:cNvPr>
          <p:cNvSpPr>
            <a:spLocks noGrp="1"/>
          </p:cNvSpPr>
          <p:nvPr>
            <p:ph type="dt" sz="half" idx="10"/>
          </p:nvPr>
        </p:nvSpPr>
        <p:spPr/>
        <p:txBody>
          <a:bodyPr/>
          <a:lstStyle/>
          <a:p>
            <a:fld id="{4F862443-A10E-4B82-96E6-04DEE93D6621}" type="datetimeFigureOut">
              <a:rPr lang="en-US" smtClean="0"/>
              <a:t>4/15/2023</a:t>
            </a:fld>
            <a:endParaRPr lang="en-US"/>
          </a:p>
        </p:txBody>
      </p:sp>
      <p:sp>
        <p:nvSpPr>
          <p:cNvPr id="6" name="Footer Placeholder 5">
            <a:extLst>
              <a:ext uri="{FF2B5EF4-FFF2-40B4-BE49-F238E27FC236}">
                <a16:creationId xmlns:a16="http://schemas.microsoft.com/office/drawing/2014/main" id="{148780BD-C7DF-44E2-8C87-3390A74856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02C587-ED24-4158-9DA2-5E49B693A083}"/>
              </a:ext>
            </a:extLst>
          </p:cNvPr>
          <p:cNvSpPr>
            <a:spLocks noGrp="1"/>
          </p:cNvSpPr>
          <p:nvPr>
            <p:ph type="sldNum" sz="quarter" idx="12"/>
          </p:nvPr>
        </p:nvSpPr>
        <p:spPr/>
        <p:txBody>
          <a:bodyPr/>
          <a:lstStyle/>
          <a:p>
            <a:fld id="{60F56087-91A6-4964-B54C-61BA5A74B582}" type="slidenum">
              <a:rPr lang="en-US" smtClean="0"/>
              <a:t>‹#›</a:t>
            </a:fld>
            <a:endParaRPr lang="en-US"/>
          </a:p>
        </p:txBody>
      </p:sp>
    </p:spTree>
    <p:extLst>
      <p:ext uri="{BB962C8B-B14F-4D97-AF65-F5344CB8AC3E}">
        <p14:creationId xmlns:p14="http://schemas.microsoft.com/office/powerpoint/2010/main" val="3146859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F92AB-B36C-4F53-A0C6-631E9620557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9A11210-2DCC-4D6E-B842-4FFE9EA08B1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F0703D-FDC1-48C2-B7D1-FE112A44FABB}"/>
              </a:ext>
            </a:extLst>
          </p:cNvPr>
          <p:cNvSpPr>
            <a:spLocks noGrp="1"/>
          </p:cNvSpPr>
          <p:nvPr>
            <p:ph type="dt" sz="half" idx="10"/>
          </p:nvPr>
        </p:nvSpPr>
        <p:spPr/>
        <p:txBody>
          <a:bodyPr/>
          <a:lstStyle/>
          <a:p>
            <a:fld id="{4F862443-A10E-4B82-96E6-04DEE93D6621}" type="datetimeFigureOut">
              <a:rPr lang="en-US" smtClean="0"/>
              <a:t>4/15/2023</a:t>
            </a:fld>
            <a:endParaRPr lang="en-US"/>
          </a:p>
        </p:txBody>
      </p:sp>
      <p:sp>
        <p:nvSpPr>
          <p:cNvPr id="5" name="Footer Placeholder 4">
            <a:extLst>
              <a:ext uri="{FF2B5EF4-FFF2-40B4-BE49-F238E27FC236}">
                <a16:creationId xmlns:a16="http://schemas.microsoft.com/office/drawing/2014/main" id="{1A1413D4-DE4B-4949-8472-D7CE290754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C783AF-FACD-44E1-B4C4-EEF178ED6D4E}"/>
              </a:ext>
            </a:extLst>
          </p:cNvPr>
          <p:cNvSpPr>
            <a:spLocks noGrp="1"/>
          </p:cNvSpPr>
          <p:nvPr>
            <p:ph type="sldNum" sz="quarter" idx="12"/>
          </p:nvPr>
        </p:nvSpPr>
        <p:spPr/>
        <p:txBody>
          <a:bodyPr/>
          <a:lstStyle/>
          <a:p>
            <a:fld id="{60F56087-91A6-4964-B54C-61BA5A74B582}" type="slidenum">
              <a:rPr lang="en-US" smtClean="0"/>
              <a:t>‹#›</a:t>
            </a:fld>
            <a:endParaRPr lang="en-US"/>
          </a:p>
        </p:txBody>
      </p:sp>
    </p:spTree>
    <p:extLst>
      <p:ext uri="{BB962C8B-B14F-4D97-AF65-F5344CB8AC3E}">
        <p14:creationId xmlns:p14="http://schemas.microsoft.com/office/powerpoint/2010/main" val="20520474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3F089F-CC88-4F83-AC95-CBC87147FCB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E1553AE-9920-45D2-BD42-CCB951E450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7451BA-EC38-4234-B973-79C5DCE20C88}"/>
              </a:ext>
            </a:extLst>
          </p:cNvPr>
          <p:cNvSpPr>
            <a:spLocks noGrp="1"/>
          </p:cNvSpPr>
          <p:nvPr>
            <p:ph type="dt" sz="half" idx="10"/>
          </p:nvPr>
        </p:nvSpPr>
        <p:spPr/>
        <p:txBody>
          <a:bodyPr/>
          <a:lstStyle/>
          <a:p>
            <a:fld id="{4F862443-A10E-4B82-96E6-04DEE93D6621}" type="datetimeFigureOut">
              <a:rPr lang="en-US" smtClean="0"/>
              <a:t>4/15/2023</a:t>
            </a:fld>
            <a:endParaRPr lang="en-US"/>
          </a:p>
        </p:txBody>
      </p:sp>
      <p:sp>
        <p:nvSpPr>
          <p:cNvPr id="5" name="Footer Placeholder 4">
            <a:extLst>
              <a:ext uri="{FF2B5EF4-FFF2-40B4-BE49-F238E27FC236}">
                <a16:creationId xmlns:a16="http://schemas.microsoft.com/office/drawing/2014/main" id="{F7B6D940-2CFA-4E44-AAA3-FC69B34324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DE0E31-1F8F-4F84-846A-11A5B97DAAE8}"/>
              </a:ext>
            </a:extLst>
          </p:cNvPr>
          <p:cNvSpPr>
            <a:spLocks noGrp="1"/>
          </p:cNvSpPr>
          <p:nvPr>
            <p:ph type="sldNum" sz="quarter" idx="12"/>
          </p:nvPr>
        </p:nvSpPr>
        <p:spPr/>
        <p:txBody>
          <a:bodyPr/>
          <a:lstStyle/>
          <a:p>
            <a:fld id="{60F56087-91A6-4964-B54C-61BA5A74B582}" type="slidenum">
              <a:rPr lang="en-US" smtClean="0"/>
              <a:t>‹#›</a:t>
            </a:fld>
            <a:endParaRPr lang="en-US"/>
          </a:p>
        </p:txBody>
      </p:sp>
    </p:spTree>
    <p:extLst>
      <p:ext uri="{BB962C8B-B14F-4D97-AF65-F5344CB8AC3E}">
        <p14:creationId xmlns:p14="http://schemas.microsoft.com/office/powerpoint/2010/main" val="2507454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9E0751-4DDC-4849-876E-4603BCA1B7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7B83CF2-AAA8-4F2F-BAE4-5B7CC6ED38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2074F5-8037-4FE2-A38B-E134AA86AB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862443-A10E-4B82-96E6-04DEE93D6621}" type="datetimeFigureOut">
              <a:rPr lang="en-US" smtClean="0"/>
              <a:t>4/15/2023</a:t>
            </a:fld>
            <a:endParaRPr lang="en-US"/>
          </a:p>
        </p:txBody>
      </p:sp>
      <p:sp>
        <p:nvSpPr>
          <p:cNvPr id="5" name="Footer Placeholder 4">
            <a:extLst>
              <a:ext uri="{FF2B5EF4-FFF2-40B4-BE49-F238E27FC236}">
                <a16:creationId xmlns:a16="http://schemas.microsoft.com/office/drawing/2014/main" id="{77FEA8FC-0075-42C8-8917-4E626510B3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F83C293-0CD6-484A-9311-919BBC4916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F56087-91A6-4964-B54C-61BA5A74B582}" type="slidenum">
              <a:rPr lang="en-US" smtClean="0"/>
              <a:t>‹#›</a:t>
            </a:fld>
            <a:endParaRPr lang="en-US"/>
          </a:p>
        </p:txBody>
      </p:sp>
    </p:spTree>
    <p:extLst>
      <p:ext uri="{BB962C8B-B14F-4D97-AF65-F5344CB8AC3E}">
        <p14:creationId xmlns:p14="http://schemas.microsoft.com/office/powerpoint/2010/main" val="5862398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0C0E9-EFBF-4CDD-B678-DDBA035660AA}"/>
              </a:ext>
            </a:extLst>
          </p:cNvPr>
          <p:cNvSpPr>
            <a:spLocks noGrp="1"/>
          </p:cNvSpPr>
          <p:nvPr>
            <p:ph type="ctrTitle"/>
          </p:nvPr>
        </p:nvSpPr>
        <p:spPr>
          <a:xfrm>
            <a:off x="1524000" y="1180147"/>
            <a:ext cx="9144000" cy="2387600"/>
          </a:xfrm>
        </p:spPr>
        <p:txBody>
          <a:bodyPr>
            <a:noAutofit/>
          </a:bodyPr>
          <a:lstStyle/>
          <a:p>
            <a:pPr rtl="0">
              <a:spcBef>
                <a:spcPts val="0"/>
              </a:spcBef>
              <a:spcAft>
                <a:spcPts val="0"/>
              </a:spcAft>
            </a:pPr>
            <a:r>
              <a:rPr lang="en-IN" sz="36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VLSI Design and Implementation of Two Dimensional FIR filter architectures using CSD</a:t>
            </a:r>
            <a:br>
              <a:rPr lang="en-US" sz="3200" dirty="0">
                <a:solidFill>
                  <a:srgbClr val="FF0000"/>
                </a:solidFill>
                <a:latin typeface="Times New Roman" panose="02020603050405020304" pitchFamily="18" charset="0"/>
                <a:cs typeface="Times New Roman" panose="02020603050405020304" pitchFamily="18" charset="0"/>
              </a:rPr>
            </a:br>
            <a:endParaRPr lang="en-US" sz="3200" dirty="0">
              <a:solidFill>
                <a:srgbClr val="FF0000"/>
              </a:solidFill>
              <a:latin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E66D7F78-615B-4C3B-B66B-01B92363E7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38686"/>
            <a:ext cx="1625601" cy="152092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BC30CBF-0579-4A92-9E87-3010FE3DCA60}"/>
              </a:ext>
            </a:extLst>
          </p:cNvPr>
          <p:cNvSpPr txBox="1"/>
          <p:nvPr/>
        </p:nvSpPr>
        <p:spPr>
          <a:xfrm>
            <a:off x="209674" y="4105311"/>
            <a:ext cx="4981451" cy="2215991"/>
          </a:xfrm>
          <a:prstGeom prst="rect">
            <a:avLst/>
          </a:prstGeom>
          <a:noFill/>
        </p:spPr>
        <p:txBody>
          <a:bodyPr wrap="square" rtlCol="0">
            <a:spAutoFit/>
          </a:bodyPr>
          <a:lstStyle/>
          <a:p>
            <a:pPr rtl="0">
              <a:spcBef>
                <a:spcPts val="0"/>
              </a:spcBef>
              <a:spcAft>
                <a:spcPts val="0"/>
              </a:spcAft>
            </a:pPr>
            <a:r>
              <a:rPr lang="en-US" sz="2000" b="1" i="0" u="none" strike="noStrike" dirty="0">
                <a:solidFill>
                  <a:srgbClr val="1D1D1B"/>
                </a:solidFill>
                <a:effectLst/>
                <a:latin typeface="Oswald" panose="020B0604020202020204" pitchFamily="2" charset="0"/>
              </a:rPr>
              <a:t>Names of students</a:t>
            </a:r>
          </a:p>
          <a:p>
            <a:pPr rtl="0">
              <a:spcBef>
                <a:spcPts val="0"/>
              </a:spcBef>
              <a:spcAft>
                <a:spcPts val="0"/>
              </a:spcAft>
            </a:pPr>
            <a:endParaRPr lang="en-US" sz="2000" b="0" dirty="0">
              <a:effectLst/>
            </a:endParaRPr>
          </a:p>
          <a:p>
            <a:pPr rtl="0" fontAlgn="base">
              <a:spcBef>
                <a:spcPts val="0"/>
              </a:spcBef>
              <a:spcAft>
                <a:spcPts val="0"/>
              </a:spcAft>
              <a:buFont typeface="+mj-lt"/>
              <a:buAutoNum type="arabicPeriod"/>
            </a:pPr>
            <a:r>
              <a:rPr lang="en-US" sz="2000" b="0" i="0" u="none" strike="noStrike" dirty="0">
                <a:solidFill>
                  <a:srgbClr val="1D1D1B"/>
                </a:solidFill>
                <a:effectLst/>
                <a:latin typeface="Montserrat" panose="00000500000000000000" pitchFamily="2" charset="0"/>
              </a:rPr>
              <a:t>A. Pavan Kumar (19B81A0430)</a:t>
            </a:r>
          </a:p>
          <a:p>
            <a:pPr rtl="0" fontAlgn="base">
              <a:spcBef>
                <a:spcPts val="0"/>
              </a:spcBef>
              <a:spcAft>
                <a:spcPts val="0"/>
              </a:spcAft>
              <a:buFont typeface="+mj-lt"/>
              <a:buAutoNum type="arabicPeriod"/>
            </a:pPr>
            <a:r>
              <a:rPr lang="en-US" sz="2000" b="0" i="0" u="none" strike="noStrike">
                <a:solidFill>
                  <a:srgbClr val="1D1D1B"/>
                </a:solidFill>
                <a:effectLst/>
                <a:latin typeface="Montserrat" panose="00000500000000000000" pitchFamily="2" charset="0"/>
              </a:rPr>
              <a:t>D</a:t>
            </a:r>
            <a:r>
              <a:rPr lang="en-US" sz="2000" b="0" i="0" u="none" strike="noStrike" dirty="0">
                <a:solidFill>
                  <a:srgbClr val="1D1D1B"/>
                </a:solidFill>
                <a:effectLst/>
                <a:latin typeface="Montserrat" panose="00000500000000000000" pitchFamily="2" charset="0"/>
              </a:rPr>
              <a:t>. Jahnavi  (19B81A0414)</a:t>
            </a:r>
          </a:p>
          <a:p>
            <a:pPr fontAlgn="base">
              <a:buFont typeface="+mj-lt"/>
              <a:buAutoNum type="arabicPeriod"/>
            </a:pPr>
            <a:r>
              <a:rPr lang="en-US" sz="2000" b="0" i="0" u="none" strike="noStrike" dirty="0">
                <a:solidFill>
                  <a:srgbClr val="1D1D1B"/>
                </a:solidFill>
                <a:effectLst/>
                <a:latin typeface="Montserrat" panose="00000500000000000000" pitchFamily="2" charset="0"/>
              </a:rPr>
              <a:t>M. Surya Vardhan (19B81A0449)</a:t>
            </a:r>
          </a:p>
          <a:p>
            <a:pPr rtl="0" fontAlgn="base">
              <a:spcBef>
                <a:spcPts val="0"/>
              </a:spcBef>
              <a:spcAft>
                <a:spcPts val="0"/>
              </a:spcAft>
              <a:buFont typeface="+mj-lt"/>
              <a:buAutoNum type="arabicPeriod"/>
            </a:pPr>
            <a:endParaRPr lang="en-US" sz="2000" b="0" i="0" u="none" strike="noStrike" dirty="0">
              <a:solidFill>
                <a:srgbClr val="1D1D1B"/>
              </a:solidFill>
              <a:effectLst/>
              <a:latin typeface="Montserrat" panose="00000500000000000000" pitchFamily="2" charset="0"/>
            </a:endParaRPr>
          </a:p>
          <a:p>
            <a:endParaRPr lang="en-US" dirty="0"/>
          </a:p>
        </p:txBody>
      </p:sp>
      <p:sp>
        <p:nvSpPr>
          <p:cNvPr id="5" name="TextBox 4">
            <a:extLst>
              <a:ext uri="{FF2B5EF4-FFF2-40B4-BE49-F238E27FC236}">
                <a16:creationId xmlns:a16="http://schemas.microsoft.com/office/drawing/2014/main" id="{7B613F90-735E-4190-A133-F421324B9E05}"/>
              </a:ext>
            </a:extLst>
          </p:cNvPr>
          <p:cNvSpPr txBox="1"/>
          <p:nvPr/>
        </p:nvSpPr>
        <p:spPr>
          <a:xfrm>
            <a:off x="7358744" y="4221425"/>
            <a:ext cx="4289754" cy="1938992"/>
          </a:xfrm>
          <a:prstGeom prst="rect">
            <a:avLst/>
          </a:prstGeom>
          <a:noFill/>
        </p:spPr>
        <p:txBody>
          <a:bodyPr wrap="square" rtlCol="0">
            <a:spAutoFit/>
          </a:bodyPr>
          <a:lstStyle/>
          <a:p>
            <a:pPr algn="r" rtl="0">
              <a:spcBef>
                <a:spcPts val="0"/>
              </a:spcBef>
              <a:spcAft>
                <a:spcPts val="0"/>
              </a:spcAft>
            </a:pPr>
            <a:r>
              <a:rPr lang="en-US" sz="2000" b="1" i="0" u="none" strike="noStrike" dirty="0">
                <a:solidFill>
                  <a:srgbClr val="1D1D1B"/>
                </a:solidFill>
                <a:effectLst/>
                <a:latin typeface="Oswald" panose="020B0604020202020204" pitchFamily="2" charset="0"/>
              </a:rPr>
              <a:t>Under the Guidance</a:t>
            </a:r>
            <a:endParaRPr lang="en-US" sz="2000" dirty="0"/>
          </a:p>
          <a:p>
            <a:pPr algn="r" rtl="0">
              <a:spcBef>
                <a:spcPts val="0"/>
              </a:spcBef>
              <a:spcAft>
                <a:spcPts val="0"/>
              </a:spcAft>
            </a:pPr>
            <a:r>
              <a:rPr lang="en-US" sz="2000" dirty="0">
                <a:solidFill>
                  <a:srgbClr val="1D1D1B"/>
                </a:solidFill>
                <a:latin typeface="Montserrat" panose="00000500000000000000" pitchFamily="2" charset="0"/>
              </a:rPr>
              <a:t>D</a:t>
            </a:r>
            <a:r>
              <a:rPr lang="en-US" sz="2000" b="0" i="0" u="none" strike="noStrike" dirty="0">
                <a:solidFill>
                  <a:srgbClr val="1D1D1B"/>
                </a:solidFill>
                <a:effectLst/>
                <a:latin typeface="Montserrat" panose="00000500000000000000" pitchFamily="2" charset="0"/>
              </a:rPr>
              <a:t>r. </a:t>
            </a:r>
            <a:r>
              <a:rPr lang="en-US" sz="2000" b="0" i="0" u="none" strike="noStrike" dirty="0" err="1">
                <a:solidFill>
                  <a:srgbClr val="1D1D1B"/>
                </a:solidFill>
                <a:effectLst/>
                <a:latin typeface="Montserrat" panose="00000500000000000000" pitchFamily="2" charset="0"/>
              </a:rPr>
              <a:t>Venkata</a:t>
            </a:r>
            <a:r>
              <a:rPr lang="en-US" sz="2000" b="0" i="0" u="none" strike="noStrike" dirty="0">
                <a:solidFill>
                  <a:srgbClr val="1D1D1B"/>
                </a:solidFill>
                <a:effectLst/>
                <a:latin typeface="Montserrat" panose="00000500000000000000" pitchFamily="2" charset="0"/>
              </a:rPr>
              <a:t> Krishna Odugu</a:t>
            </a:r>
            <a:endParaRPr lang="en-US" sz="2000" b="0" dirty="0">
              <a:effectLst/>
            </a:endParaRPr>
          </a:p>
          <a:p>
            <a:pPr algn="r" rtl="0">
              <a:spcBef>
                <a:spcPts val="0"/>
              </a:spcBef>
              <a:spcAft>
                <a:spcPts val="0"/>
              </a:spcAft>
            </a:pPr>
            <a:r>
              <a:rPr lang="en-US" sz="2000" b="0" i="0" u="none" strike="noStrike" dirty="0">
                <a:solidFill>
                  <a:srgbClr val="1D1D1B"/>
                </a:solidFill>
                <a:effectLst/>
                <a:latin typeface="Montserrat" panose="00000500000000000000" pitchFamily="2" charset="0"/>
              </a:rPr>
              <a:t>Associate Professor,</a:t>
            </a:r>
            <a:endParaRPr lang="en-US" sz="2000" b="0" dirty="0">
              <a:effectLst/>
            </a:endParaRPr>
          </a:p>
          <a:p>
            <a:pPr algn="r" rtl="0">
              <a:spcBef>
                <a:spcPts val="0"/>
              </a:spcBef>
              <a:spcAft>
                <a:spcPts val="0"/>
              </a:spcAft>
            </a:pPr>
            <a:r>
              <a:rPr lang="en-US" sz="2000" b="0" i="0" u="none" strike="noStrike" dirty="0">
                <a:solidFill>
                  <a:srgbClr val="1D1D1B"/>
                </a:solidFill>
                <a:effectLst/>
                <a:latin typeface="Montserrat" panose="00000500000000000000" pitchFamily="2" charset="0"/>
              </a:rPr>
              <a:t>ECE Dept.</a:t>
            </a:r>
            <a:endParaRPr lang="en-US" sz="2000" b="0" dirty="0">
              <a:effectLst/>
            </a:endParaRPr>
          </a:p>
          <a:p>
            <a:br>
              <a:rPr lang="en-US" sz="2000" dirty="0"/>
            </a:br>
            <a:endParaRPr lang="en-US" sz="2000" dirty="0"/>
          </a:p>
        </p:txBody>
      </p:sp>
    </p:spTree>
    <p:extLst>
      <p:ext uri="{BB962C8B-B14F-4D97-AF65-F5344CB8AC3E}">
        <p14:creationId xmlns:p14="http://schemas.microsoft.com/office/powerpoint/2010/main" val="1019025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0B05D-CB96-458C-8E97-46BC28ADFAF1}"/>
              </a:ext>
            </a:extLst>
          </p:cNvPr>
          <p:cNvSpPr>
            <a:spLocks noGrp="1"/>
          </p:cNvSpPr>
          <p:nvPr>
            <p:ph type="title"/>
          </p:nvPr>
        </p:nvSpPr>
        <p:spPr/>
        <p:txBody>
          <a:bodyPr>
            <a:normAutofit/>
          </a:bodyPr>
          <a:lstStyle/>
          <a:p>
            <a:pPr algn="ctr"/>
            <a:r>
              <a:rPr lang="en-US" sz="4000" b="1" dirty="0">
                <a:solidFill>
                  <a:srgbClr val="FF0000"/>
                </a:solidFill>
                <a:latin typeface="Times New Roman" panose="02020603050405020304" pitchFamily="18" charset="0"/>
                <a:cs typeface="Times New Roman" panose="02020603050405020304" pitchFamily="18" charset="0"/>
              </a:rPr>
              <a:t>ABSTRACT</a:t>
            </a:r>
          </a:p>
        </p:txBody>
      </p:sp>
      <p:pic>
        <p:nvPicPr>
          <p:cNvPr id="4" name="Picture 2">
            <a:extLst>
              <a:ext uri="{FF2B5EF4-FFF2-40B4-BE49-F238E27FC236}">
                <a16:creationId xmlns:a16="http://schemas.microsoft.com/office/drawing/2014/main" id="{B94403CD-7DF5-4AE9-8C0E-DC8B7FA552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750703" cy="152092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3200810-4341-44F1-BB8C-1FDCC6EA1B55}"/>
              </a:ext>
            </a:extLst>
          </p:cNvPr>
          <p:cNvSpPr txBox="1"/>
          <p:nvPr/>
        </p:nvSpPr>
        <p:spPr>
          <a:xfrm>
            <a:off x="875351" y="1813199"/>
            <a:ext cx="10515600" cy="3782061"/>
          </a:xfrm>
          <a:prstGeom prst="rect">
            <a:avLst/>
          </a:prstGeom>
          <a:noFill/>
        </p:spPr>
        <p:txBody>
          <a:bodyPr wrap="square" rtlCol="0">
            <a:spAutoFit/>
          </a:bodyPr>
          <a:lstStyle/>
          <a:p>
            <a:pPr marL="717750" indent="-285750" algn="just">
              <a:lnSpc>
                <a:spcPct val="150000"/>
              </a:lnSpc>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The 2D FIR filter is commonly used in image processing applications such as image restoration, image filtering, image sharpening and smoothing, etc.</a:t>
            </a:r>
            <a:endParaRPr lang="en-IN" dirty="0">
              <a:latin typeface="Times New Roman" panose="02020603050405020304" pitchFamily="18" charset="0"/>
              <a:cs typeface="Times New Roman" panose="02020603050405020304" pitchFamily="18" charset="0"/>
            </a:endParaRPr>
          </a:p>
          <a:p>
            <a:pPr marL="717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existing 2D FIR filter architecture using more number of multipliers, adders &amp; subtractors which leads to more power and area. </a:t>
            </a:r>
          </a:p>
          <a:p>
            <a:pPr marL="717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To reduce the number of multipliers, the symmetry is incorporated in the filter coefficients while designing the filter.</a:t>
            </a:r>
          </a:p>
          <a:p>
            <a:pPr marL="717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To optimize the filter architecture, the </a:t>
            </a:r>
            <a:r>
              <a:rPr lang="en" dirty="0">
                <a:latin typeface="Times New Roman" panose="02020603050405020304" pitchFamily="18" charset="0"/>
                <a:cs typeface="Times New Roman" panose="02020603050405020304" pitchFamily="18" charset="0"/>
              </a:rPr>
              <a:t>Canonic Signed Digit (CSD) number format is considered to represent the filter coefficients.</a:t>
            </a:r>
          </a:p>
          <a:p>
            <a:pPr marL="717750" indent="-285750" algn="just">
              <a:lnSpc>
                <a:spcPct val="150000"/>
              </a:lnSpc>
              <a:buFont typeface="Arial" panose="020B0604020202020204" pitchFamily="34" charset="0"/>
              <a:buChar char="•"/>
            </a:pPr>
            <a:r>
              <a:rPr lang="en" dirty="0">
                <a:latin typeface="Times New Roman" panose="02020603050405020304" pitchFamily="18" charset="0"/>
                <a:cs typeface="Times New Roman" panose="02020603050405020304" pitchFamily="18" charset="0"/>
              </a:rPr>
              <a:t>The VLSI architecture of symmetry 2D FIR filter is implemented using Fully Direct form.</a:t>
            </a:r>
          </a:p>
        </p:txBody>
      </p:sp>
    </p:spTree>
    <p:extLst>
      <p:ext uri="{BB962C8B-B14F-4D97-AF65-F5344CB8AC3E}">
        <p14:creationId xmlns:p14="http://schemas.microsoft.com/office/powerpoint/2010/main" val="4674253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9FAA5-F7EE-4A5C-B529-8E076033C434}"/>
              </a:ext>
            </a:extLst>
          </p:cNvPr>
          <p:cNvSpPr>
            <a:spLocks noGrp="1"/>
          </p:cNvSpPr>
          <p:nvPr>
            <p:ph type="title"/>
          </p:nvPr>
        </p:nvSpPr>
        <p:spPr/>
        <p:txBody>
          <a:bodyPr>
            <a:normAutofit/>
          </a:bodyPr>
          <a:lstStyle/>
          <a:p>
            <a:pPr algn="ctr"/>
            <a:r>
              <a:rPr lang="en-US" sz="4000" b="1" dirty="0">
                <a:solidFill>
                  <a:srgbClr val="FF0000"/>
                </a:solidFill>
                <a:latin typeface="Times New Roman" panose="02020603050405020304" pitchFamily="18" charset="0"/>
                <a:cs typeface="Times New Roman" panose="02020603050405020304" pitchFamily="18" charset="0"/>
              </a:rPr>
              <a:t>OBJECTIVE</a:t>
            </a:r>
          </a:p>
        </p:txBody>
      </p:sp>
      <p:pic>
        <p:nvPicPr>
          <p:cNvPr id="4" name="Picture 2">
            <a:extLst>
              <a:ext uri="{FF2B5EF4-FFF2-40B4-BE49-F238E27FC236}">
                <a16:creationId xmlns:a16="http://schemas.microsoft.com/office/drawing/2014/main" id="{DFADB0C9-316E-4B90-8508-399A0D985F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750703" cy="1520923"/>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5">
            <a:extLst>
              <a:ext uri="{FF2B5EF4-FFF2-40B4-BE49-F238E27FC236}">
                <a16:creationId xmlns:a16="http://schemas.microsoft.com/office/drawing/2014/main" id="{10EEC965-F43C-43D4-B00C-F751A8DADFDE}"/>
              </a:ext>
            </a:extLst>
          </p:cNvPr>
          <p:cNvSpPr>
            <a:spLocks noGrp="1"/>
          </p:cNvSpPr>
          <p:nvPr>
            <p:ph idx="1"/>
          </p:nvPr>
        </p:nvSpPr>
        <p:spPr>
          <a:xfrm>
            <a:off x="875351" y="2055813"/>
            <a:ext cx="10515600" cy="4351338"/>
          </a:xfrm>
        </p:spPr>
        <p:txBody>
          <a:bodyPr>
            <a:normAutofit/>
          </a:bodyPr>
          <a:lstStyle/>
          <a:p>
            <a:pPr>
              <a:lnSpc>
                <a:spcPct val="150000"/>
              </a:lnSpc>
            </a:pPr>
            <a:r>
              <a:rPr lang="en-US" sz="2400" b="0" i="0" dirty="0">
                <a:solidFill>
                  <a:srgbClr val="333333"/>
                </a:solidFill>
                <a:effectLst/>
                <a:latin typeface="Times New Roman" panose="02020603050405020304" pitchFamily="18" charset="0"/>
                <a:cs typeface="Times New Roman" panose="02020603050405020304" pitchFamily="18" charset="0"/>
              </a:rPr>
              <a:t>To design an efficient symmetry 2D FIR filter using Kth-McClellan Transform technique.</a:t>
            </a:r>
          </a:p>
          <a:p>
            <a:pPr>
              <a:lnSpc>
                <a:spcPct val="150000"/>
              </a:lnSpc>
            </a:pPr>
            <a:r>
              <a:rPr lang="en-US" sz="2400" b="0" i="0" dirty="0">
                <a:solidFill>
                  <a:srgbClr val="333333"/>
                </a:solidFill>
                <a:effectLst/>
                <a:latin typeface="Times New Roman" panose="02020603050405020304" pitchFamily="18" charset="0"/>
                <a:cs typeface="Times New Roman" panose="02020603050405020304" pitchFamily="18" charset="0"/>
              </a:rPr>
              <a:t>To represent the filter coefficients in CSD format to replace the conventional multiplication process and to reduce the number of adders.</a:t>
            </a:r>
          </a:p>
          <a:p>
            <a:pPr>
              <a:lnSpc>
                <a:spcPct val="150000"/>
              </a:lnSpc>
            </a:pPr>
            <a:r>
              <a:rPr lang="en-US" sz="2400" b="0" i="0" dirty="0">
                <a:solidFill>
                  <a:srgbClr val="333333"/>
                </a:solidFill>
                <a:effectLst/>
                <a:latin typeface="Times New Roman" panose="02020603050405020304" pitchFamily="18" charset="0"/>
                <a:cs typeface="Times New Roman" panose="02020603050405020304" pitchFamily="18" charset="0"/>
              </a:rPr>
              <a:t>To design area-delay-power efficient VLSI architecture in the Fully Direct form.</a:t>
            </a:r>
          </a:p>
        </p:txBody>
      </p:sp>
    </p:spTree>
    <p:extLst>
      <p:ext uri="{BB962C8B-B14F-4D97-AF65-F5344CB8AC3E}">
        <p14:creationId xmlns:p14="http://schemas.microsoft.com/office/powerpoint/2010/main" val="20338171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F7370-999F-42E0-9D61-584B21ACF369}"/>
              </a:ext>
            </a:extLst>
          </p:cNvPr>
          <p:cNvSpPr>
            <a:spLocks noGrp="1"/>
          </p:cNvSpPr>
          <p:nvPr>
            <p:ph type="title"/>
          </p:nvPr>
        </p:nvSpPr>
        <p:spPr>
          <a:xfrm>
            <a:off x="1000516" y="0"/>
            <a:ext cx="10058400" cy="1478280"/>
          </a:xfrm>
        </p:spPr>
        <p:txBody>
          <a:bodyPr>
            <a:normAutofit/>
          </a:bodyPr>
          <a:lstStyle/>
          <a:p>
            <a:r>
              <a:rPr lang="en-US" sz="4000" b="1" dirty="0">
                <a:solidFill>
                  <a:srgbClr val="FF0000"/>
                </a:solidFill>
                <a:latin typeface="Times New Roman" panose="02020603050405020304" pitchFamily="18" charset="0"/>
                <a:cs typeface="Times New Roman" panose="02020603050405020304" pitchFamily="18" charset="0"/>
              </a:rPr>
              <a:t>LITERATURE SURVEY</a:t>
            </a:r>
            <a:endParaRPr lang="en-IN" sz="4000" b="1" dirty="0">
              <a:solidFill>
                <a:srgbClr val="FF0000"/>
              </a:solidFill>
              <a:latin typeface="Times New Roman" panose="02020603050405020304" pitchFamily="18" charset="0"/>
              <a:cs typeface="Times New Roman" panose="02020603050405020304" pitchFamily="18" charset="0"/>
            </a:endParaRPr>
          </a:p>
        </p:txBody>
      </p:sp>
      <p:pic>
        <p:nvPicPr>
          <p:cNvPr id="30" name="Content Placeholder 29">
            <a:extLst>
              <a:ext uri="{FF2B5EF4-FFF2-40B4-BE49-F238E27FC236}">
                <a16:creationId xmlns:a16="http://schemas.microsoft.com/office/drawing/2014/main" id="{92C29A5A-3A2E-4246-B679-391510B92036}"/>
              </a:ext>
            </a:extLst>
          </p:cNvPr>
          <p:cNvPicPr>
            <a:picLocks noGrp="1" noChangeAspect="1"/>
          </p:cNvPicPr>
          <p:nvPr>
            <p:ph sz="half" idx="2"/>
          </p:nvPr>
        </p:nvPicPr>
        <p:blipFill>
          <a:blip r:embed="rId2"/>
          <a:stretch>
            <a:fillRect/>
          </a:stretch>
        </p:blipFill>
        <p:spPr>
          <a:xfrm>
            <a:off x="7056120" y="74872"/>
            <a:ext cx="2926080" cy="1478280"/>
          </a:xfrm>
        </p:spPr>
      </p:pic>
      <p:graphicFrame>
        <p:nvGraphicFramePr>
          <p:cNvPr id="3" name="Table 3">
            <a:extLst>
              <a:ext uri="{FF2B5EF4-FFF2-40B4-BE49-F238E27FC236}">
                <a16:creationId xmlns:a16="http://schemas.microsoft.com/office/drawing/2014/main" id="{298E9809-2709-3452-7060-6E6B921C11B2}"/>
              </a:ext>
            </a:extLst>
          </p:cNvPr>
          <p:cNvGraphicFramePr>
            <a:graphicFrameLocks noGrp="1"/>
          </p:cNvGraphicFramePr>
          <p:nvPr>
            <p:ph sz="quarter" idx="4"/>
            <p:extLst>
              <p:ext uri="{D42A27DB-BD31-4B8C-83A1-F6EECF244321}">
                <p14:modId xmlns:p14="http://schemas.microsoft.com/office/powerpoint/2010/main" val="2933431945"/>
              </p:ext>
            </p:extLst>
          </p:nvPr>
        </p:nvGraphicFramePr>
        <p:xfrm>
          <a:off x="228600" y="2249948"/>
          <a:ext cx="11734800" cy="3065203"/>
        </p:xfrm>
        <a:graphic>
          <a:graphicData uri="http://schemas.openxmlformats.org/drawingml/2006/table">
            <a:tbl>
              <a:tblPr firstRow="1" bandRow="1">
                <a:tableStyleId>{5C22544A-7EE6-4342-B048-85BDC9FD1C3A}</a:tableStyleId>
              </a:tblPr>
              <a:tblGrid>
                <a:gridCol w="2933700">
                  <a:extLst>
                    <a:ext uri="{9D8B030D-6E8A-4147-A177-3AD203B41FA5}">
                      <a16:colId xmlns:a16="http://schemas.microsoft.com/office/drawing/2014/main" val="3057604083"/>
                    </a:ext>
                  </a:extLst>
                </a:gridCol>
                <a:gridCol w="2933700">
                  <a:extLst>
                    <a:ext uri="{9D8B030D-6E8A-4147-A177-3AD203B41FA5}">
                      <a16:colId xmlns:a16="http://schemas.microsoft.com/office/drawing/2014/main" val="2526797950"/>
                    </a:ext>
                  </a:extLst>
                </a:gridCol>
                <a:gridCol w="2933700">
                  <a:extLst>
                    <a:ext uri="{9D8B030D-6E8A-4147-A177-3AD203B41FA5}">
                      <a16:colId xmlns:a16="http://schemas.microsoft.com/office/drawing/2014/main" val="1409926728"/>
                    </a:ext>
                  </a:extLst>
                </a:gridCol>
                <a:gridCol w="2933700">
                  <a:extLst>
                    <a:ext uri="{9D8B030D-6E8A-4147-A177-3AD203B41FA5}">
                      <a16:colId xmlns:a16="http://schemas.microsoft.com/office/drawing/2014/main" val="3388822195"/>
                    </a:ext>
                  </a:extLst>
                </a:gridCol>
              </a:tblGrid>
              <a:tr h="318047">
                <a:tc>
                  <a:txBody>
                    <a:bodyPr/>
                    <a:lstStyle/>
                    <a:p>
                      <a:pPr marL="0" indent="0">
                        <a:buFontTx/>
                        <a:buNone/>
                      </a:pPr>
                      <a:r>
                        <a:rPr lang="en-IN" dirty="0">
                          <a:latin typeface="Times New Roman" panose="02020603050405020304" pitchFamily="18" charset="0"/>
                          <a:cs typeface="Times New Roman" panose="02020603050405020304" pitchFamily="18" charset="0"/>
                        </a:rPr>
                        <a:t>Name </a:t>
                      </a:r>
                    </a:p>
                  </a:txBody>
                  <a:tcPr/>
                </a:tc>
                <a:tc>
                  <a:txBody>
                    <a:bodyPr/>
                    <a:lstStyle/>
                    <a:p>
                      <a:pPr marL="0" indent="0">
                        <a:buFontTx/>
                        <a:buNone/>
                      </a:pPr>
                      <a:r>
                        <a:rPr lang="en-IN" dirty="0">
                          <a:latin typeface="Times New Roman" panose="02020603050405020304" pitchFamily="18" charset="0"/>
                          <a:cs typeface="Times New Roman" panose="02020603050405020304" pitchFamily="18" charset="0"/>
                        </a:rPr>
                        <a:t>Year Proposed</a:t>
                      </a:r>
                    </a:p>
                  </a:txBody>
                  <a:tcPr/>
                </a:tc>
                <a:tc>
                  <a:txBody>
                    <a:bodyPr/>
                    <a:lstStyle/>
                    <a:p>
                      <a:pPr marL="0" indent="0">
                        <a:buFontTx/>
                        <a:buNone/>
                      </a:pPr>
                      <a:r>
                        <a:rPr lang="en-IN" dirty="0">
                          <a:latin typeface="Times New Roman" panose="02020603050405020304" pitchFamily="18" charset="0"/>
                          <a:cs typeface="Times New Roman" panose="02020603050405020304" pitchFamily="18" charset="0"/>
                        </a:rPr>
                        <a:t>Methods Proposed</a:t>
                      </a:r>
                    </a:p>
                  </a:txBody>
                  <a:tcPr/>
                </a:tc>
                <a:tc>
                  <a:txBody>
                    <a:bodyPr/>
                    <a:lstStyle/>
                    <a:p>
                      <a:pPr marL="0" indent="0">
                        <a:buFontTx/>
                        <a:buNone/>
                      </a:pPr>
                      <a:r>
                        <a:rPr lang="en-IN" dirty="0">
                          <a:latin typeface="Times New Roman" panose="02020603050405020304" pitchFamily="18" charset="0"/>
                          <a:cs typeface="Times New Roman" panose="02020603050405020304" pitchFamily="18" charset="0"/>
                        </a:rPr>
                        <a:t>Drawbacks</a:t>
                      </a:r>
                    </a:p>
                  </a:txBody>
                  <a:tcPr/>
                </a:tc>
                <a:extLst>
                  <a:ext uri="{0D108BD9-81ED-4DB2-BD59-A6C34878D82A}">
                    <a16:rowId xmlns:a16="http://schemas.microsoft.com/office/drawing/2014/main" val="3167082762"/>
                  </a:ext>
                </a:extLst>
              </a:tr>
              <a:tr h="1033653">
                <a:tc>
                  <a:txBody>
                    <a:bodyPr/>
                    <a:lstStyle/>
                    <a:p>
                      <a:pPr marL="0" indent="0">
                        <a:buFontTx/>
                        <a:buNone/>
                      </a:pPr>
                      <a:r>
                        <a:rPr lang="en-IN" dirty="0">
                          <a:latin typeface="Times New Roman" panose="02020603050405020304" pitchFamily="18" charset="0"/>
                          <a:cs typeface="Times New Roman" panose="02020603050405020304" pitchFamily="18" charset="0"/>
                        </a:rPr>
                        <a:t>Mohanty, B. K., Meher, P. K., Al - </a:t>
                      </a:r>
                      <a:r>
                        <a:rPr lang="en-IN" dirty="0" err="1">
                          <a:latin typeface="Times New Roman" panose="02020603050405020304" pitchFamily="18" charset="0"/>
                          <a:cs typeface="Times New Roman" panose="02020603050405020304" pitchFamily="18" charset="0"/>
                        </a:rPr>
                        <a:t>Maadeed</a:t>
                      </a:r>
                      <a:r>
                        <a:rPr lang="en-IN" dirty="0">
                          <a:latin typeface="Times New Roman" panose="02020603050405020304" pitchFamily="18" charset="0"/>
                          <a:cs typeface="Times New Roman" panose="02020603050405020304" pitchFamily="18" charset="0"/>
                        </a:rPr>
                        <a:t> &amp; Amira.</a:t>
                      </a:r>
                    </a:p>
                  </a:txBody>
                  <a:tcPr/>
                </a:tc>
                <a:tc>
                  <a:txBody>
                    <a:bodyPr/>
                    <a:lstStyle/>
                    <a:p>
                      <a:pPr marL="0" indent="0">
                        <a:buFontTx/>
                        <a:buNone/>
                      </a:pPr>
                      <a:r>
                        <a:rPr lang="en-IN" dirty="0">
                          <a:latin typeface="Times New Roman" panose="02020603050405020304" pitchFamily="18" charset="0"/>
                          <a:cs typeface="Times New Roman" panose="02020603050405020304" pitchFamily="18" charset="0"/>
                        </a:rPr>
                        <a:t>2013</a:t>
                      </a:r>
                    </a:p>
                  </a:txBody>
                  <a:tcPr/>
                </a:tc>
                <a:tc>
                  <a:txBody>
                    <a:bodyPr/>
                    <a:lstStyle/>
                    <a:p>
                      <a:pPr marL="0" indent="0">
                        <a:buFontTx/>
                        <a:buNone/>
                      </a:pPr>
                      <a:r>
                        <a:rPr lang="en-US" dirty="0">
                          <a:latin typeface="Times New Roman" panose="02020603050405020304" pitchFamily="18" charset="0"/>
                          <a:cs typeface="Times New Roman" panose="02020603050405020304" pitchFamily="18" charset="0"/>
                        </a:rPr>
                        <a:t>The memory-efficient 2D FIR filters in-separable and non-separable structures.</a:t>
                      </a:r>
                      <a:endParaRPr lang="en-IN" dirty="0">
                        <a:latin typeface="Times New Roman" panose="02020603050405020304" pitchFamily="18" charset="0"/>
                        <a:cs typeface="Times New Roman" panose="02020603050405020304" pitchFamily="18" charset="0"/>
                      </a:endParaRPr>
                    </a:p>
                  </a:txBody>
                  <a:tcPr/>
                </a:tc>
                <a:tc>
                  <a:txBody>
                    <a:bodyPr/>
                    <a:lstStyle/>
                    <a:p>
                      <a:pPr marL="0" indent="0">
                        <a:buFontTx/>
                        <a:buNone/>
                      </a:pPr>
                      <a:r>
                        <a:rPr lang="en-US" dirty="0">
                          <a:latin typeface="Times New Roman" panose="02020603050405020304" pitchFamily="18" charset="0"/>
                          <a:cs typeface="Times New Roman" panose="02020603050405020304" pitchFamily="18" charset="0"/>
                        </a:rPr>
                        <a:t>Multipliers are complex blocks and occupies more area and consumes large power.</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64815158"/>
                  </a:ext>
                </a:extLst>
              </a:tr>
              <a:tr h="1510723">
                <a:tc>
                  <a:txBody>
                    <a:bodyPr/>
                    <a:lstStyle/>
                    <a:p>
                      <a:pPr marL="0" indent="0">
                        <a:buFontTx/>
                        <a:buNone/>
                      </a:pPr>
                      <a:r>
                        <a:rPr lang="en-IN" dirty="0">
                          <a:latin typeface="Times New Roman" panose="02020603050405020304" pitchFamily="18" charset="0"/>
                          <a:cs typeface="Times New Roman" panose="02020603050405020304" pitchFamily="18" charset="0"/>
                        </a:rPr>
                        <a:t>Bindima and Elias</a:t>
                      </a:r>
                    </a:p>
                  </a:txBody>
                  <a:tcPr/>
                </a:tc>
                <a:tc>
                  <a:txBody>
                    <a:bodyPr/>
                    <a:lstStyle/>
                    <a:p>
                      <a:pPr marL="0" indent="0">
                        <a:buFontTx/>
                        <a:buNone/>
                      </a:pPr>
                      <a:r>
                        <a:rPr lang="en-IN" dirty="0">
                          <a:latin typeface="Times New Roman" panose="02020603050405020304" pitchFamily="18" charset="0"/>
                          <a:cs typeface="Times New Roman" panose="02020603050405020304" pitchFamily="18" charset="0"/>
                        </a:rPr>
                        <a:t>2016, 2017, 2019</a:t>
                      </a:r>
                    </a:p>
                  </a:txBody>
                  <a:tcPr/>
                </a:tc>
                <a:tc>
                  <a:txBody>
                    <a:bodyPr/>
                    <a:lstStyle/>
                    <a:p>
                      <a:pPr marL="0" indent="0">
                        <a:buFontTx/>
                        <a:buNone/>
                      </a:pPr>
                      <a:r>
                        <a:rPr lang="en-US" dirty="0">
                          <a:latin typeface="Times New Roman" panose="02020603050405020304" pitchFamily="18" charset="0"/>
                          <a:cs typeface="Times New Roman" panose="02020603050405020304" pitchFamily="18" charset="0"/>
                        </a:rPr>
                        <a:t>Low complex circular and fan type 2D FIR filter design.</a:t>
                      </a:r>
                      <a:endParaRPr lang="en-IN" dirty="0">
                        <a:latin typeface="Times New Roman" panose="02020603050405020304" pitchFamily="18" charset="0"/>
                        <a:cs typeface="Times New Roman" panose="02020603050405020304" pitchFamily="18" charset="0"/>
                      </a:endParaRPr>
                    </a:p>
                  </a:txBody>
                  <a:tcPr/>
                </a:tc>
                <a:tc>
                  <a:txBody>
                    <a:bodyPr/>
                    <a:lstStyle/>
                    <a:p>
                      <a:pPr marL="0" indent="0">
                        <a:buFontTx/>
                        <a:buNone/>
                      </a:pPr>
                      <a:r>
                        <a:rPr lang="en-US" dirty="0">
                          <a:latin typeface="Times New Roman" panose="02020603050405020304" pitchFamily="18" charset="0"/>
                          <a:cs typeface="Times New Roman" panose="02020603050405020304" pitchFamily="18" charset="0"/>
                        </a:rPr>
                        <a:t>Focused on the design of higher-order filters and the design required a huge number of multipliers.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64924289"/>
                  </a:ext>
                </a:extLst>
              </a:tr>
            </a:tbl>
          </a:graphicData>
        </a:graphic>
      </p:graphicFrame>
      <p:sp>
        <p:nvSpPr>
          <p:cNvPr id="7" name="Slide Number Placeholder 6">
            <a:extLst>
              <a:ext uri="{FF2B5EF4-FFF2-40B4-BE49-F238E27FC236}">
                <a16:creationId xmlns:a16="http://schemas.microsoft.com/office/drawing/2014/main" id="{D316F77E-9E86-40F4-BAEF-FE6DFD4397DB}"/>
              </a:ext>
            </a:extLst>
          </p:cNvPr>
          <p:cNvSpPr>
            <a:spLocks noGrp="1"/>
          </p:cNvSpPr>
          <p:nvPr>
            <p:ph type="sldNum" sz="quarter" idx="12"/>
          </p:nvPr>
        </p:nvSpPr>
        <p:spPr/>
        <p:txBody>
          <a:bodyPr>
            <a:normAutofit/>
          </a:bodyPr>
          <a:lstStyle/>
          <a:p>
            <a:pPr>
              <a:spcAft>
                <a:spcPts val="600"/>
              </a:spcAft>
            </a:pPr>
            <a:fld id="{D57F1E4F-1CFF-5643-939E-217C01CDF565}" type="slidenum">
              <a:rPr lang="en-US"/>
              <a:pPr>
                <a:spcAft>
                  <a:spcPts val="600"/>
                </a:spcAft>
              </a:pPr>
              <a:t>4</a:t>
            </a:fld>
            <a:endParaRPr lang="en-US"/>
          </a:p>
        </p:txBody>
      </p:sp>
      <p:pic>
        <p:nvPicPr>
          <p:cNvPr id="9" name="Picture 8">
            <a:extLst>
              <a:ext uri="{FF2B5EF4-FFF2-40B4-BE49-F238E27FC236}">
                <a16:creationId xmlns:a16="http://schemas.microsoft.com/office/drawing/2014/main" id="{6B1674A2-073D-4881-B096-FE6CCAA16CC6}"/>
              </a:ext>
            </a:extLst>
          </p:cNvPr>
          <p:cNvPicPr>
            <a:picLocks noChangeAspect="1"/>
          </p:cNvPicPr>
          <p:nvPr/>
        </p:nvPicPr>
        <p:blipFill>
          <a:blip r:embed="rId3"/>
          <a:stretch>
            <a:fillRect/>
          </a:stretch>
        </p:blipFill>
        <p:spPr>
          <a:xfrm>
            <a:off x="10299543" y="55884"/>
            <a:ext cx="1518746" cy="1152866"/>
          </a:xfrm>
          <a:prstGeom prst="rect">
            <a:avLst/>
          </a:prstGeom>
        </p:spPr>
      </p:pic>
    </p:spTree>
    <p:extLst>
      <p:ext uri="{BB962C8B-B14F-4D97-AF65-F5344CB8AC3E}">
        <p14:creationId xmlns:p14="http://schemas.microsoft.com/office/powerpoint/2010/main" val="3204879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CD716-1F17-4EB1-93B5-EE8F4BCBD03A}"/>
              </a:ext>
            </a:extLst>
          </p:cNvPr>
          <p:cNvSpPr>
            <a:spLocks noGrp="1"/>
          </p:cNvSpPr>
          <p:nvPr>
            <p:ph type="title"/>
          </p:nvPr>
        </p:nvSpPr>
        <p:spPr>
          <a:xfrm>
            <a:off x="486507" y="477667"/>
            <a:ext cx="11850858" cy="1325563"/>
          </a:xfrm>
        </p:spPr>
        <p:txBody>
          <a:bodyPr>
            <a:noAutofit/>
          </a:bodyPr>
          <a:lstStyle/>
          <a:p>
            <a:pPr algn="ctr"/>
            <a:r>
              <a:rPr lang="en-US" sz="4000" dirty="0">
                <a:solidFill>
                  <a:srgbClr val="FF0000"/>
                </a:solidFill>
                <a:latin typeface="Times New Roman" panose="02020603050405020304" pitchFamily="18" charset="0"/>
                <a:cs typeface="Times New Roman" panose="02020603050405020304" pitchFamily="18" charset="0"/>
              </a:rPr>
              <a:t> </a:t>
            </a:r>
            <a:br>
              <a:rPr lang="en-US" sz="4000" dirty="0">
                <a:solidFill>
                  <a:srgbClr val="FF0000"/>
                </a:solidFill>
                <a:latin typeface="Times New Roman" panose="02020603050405020304" pitchFamily="18" charset="0"/>
                <a:cs typeface="Times New Roman" panose="02020603050405020304" pitchFamily="18" charset="0"/>
              </a:rPr>
            </a:br>
            <a:r>
              <a:rPr lang="en-US" sz="4000" dirty="0">
                <a:solidFill>
                  <a:srgbClr val="FF0000"/>
                </a:solidFill>
                <a:latin typeface="Times New Roman" panose="02020603050405020304" pitchFamily="18" charset="0"/>
                <a:cs typeface="Times New Roman" panose="02020603050405020304" pitchFamily="18" charset="0"/>
              </a:rPr>
              <a:t>ARCHITECTURE OF DIRECT FORM FIR </a:t>
            </a:r>
            <a:br>
              <a:rPr lang="en-US" sz="4000" dirty="0">
                <a:solidFill>
                  <a:srgbClr val="FF0000"/>
                </a:solidFill>
                <a:latin typeface="Times New Roman" panose="02020603050405020304" pitchFamily="18" charset="0"/>
                <a:cs typeface="Times New Roman" panose="02020603050405020304" pitchFamily="18" charset="0"/>
              </a:rPr>
            </a:br>
            <a:r>
              <a:rPr lang="en-US" sz="4000" dirty="0">
                <a:solidFill>
                  <a:srgbClr val="FF0000"/>
                </a:solidFill>
                <a:latin typeface="Times New Roman" panose="02020603050405020304" pitchFamily="18" charset="0"/>
                <a:cs typeface="Times New Roman" panose="02020603050405020304" pitchFamily="18" charset="0"/>
              </a:rPr>
              <a:t>FILTER </a:t>
            </a:r>
            <a:br>
              <a:rPr lang="en-US" sz="4000" dirty="0">
                <a:solidFill>
                  <a:srgbClr val="FF0000"/>
                </a:solidFill>
                <a:latin typeface="Times New Roman" panose="02020603050405020304" pitchFamily="18" charset="0"/>
                <a:cs typeface="Times New Roman" panose="02020603050405020304" pitchFamily="18" charset="0"/>
              </a:rPr>
            </a:br>
            <a:endParaRPr lang="en-US" sz="4000" dirty="0">
              <a:solidFill>
                <a:srgbClr val="FF0000"/>
              </a:solidFill>
              <a:latin typeface="Times New Roman" panose="02020603050405020304" pitchFamily="18" charset="0"/>
              <a:cs typeface="Times New Roman" panose="02020603050405020304" pitchFamily="18" charset="0"/>
            </a:endParaRPr>
          </a:p>
        </p:txBody>
      </p:sp>
      <p:pic>
        <p:nvPicPr>
          <p:cNvPr id="4" name="Picture 2">
            <a:extLst>
              <a:ext uri="{FF2B5EF4-FFF2-40B4-BE49-F238E27FC236}">
                <a16:creationId xmlns:a16="http://schemas.microsoft.com/office/drawing/2014/main" id="{2A84B4C6-7D9B-46FD-9B72-0EEC365959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750703" cy="152092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0DC68510-27A0-A245-0079-72193C6AE6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2814" y="2051038"/>
            <a:ext cx="9306372" cy="3051887"/>
          </a:xfrm>
          <a:prstGeom prst="rect">
            <a:avLst/>
          </a:prstGeom>
        </p:spPr>
      </p:pic>
      <p:sp>
        <p:nvSpPr>
          <p:cNvPr id="8" name="TextBox 7">
            <a:extLst>
              <a:ext uri="{FF2B5EF4-FFF2-40B4-BE49-F238E27FC236}">
                <a16:creationId xmlns:a16="http://schemas.microsoft.com/office/drawing/2014/main" id="{CD13F548-FF17-1FEC-C470-979583A76DC3}"/>
              </a:ext>
            </a:extLst>
          </p:cNvPr>
          <p:cNvSpPr txBox="1"/>
          <p:nvPr/>
        </p:nvSpPr>
        <p:spPr>
          <a:xfrm>
            <a:off x="3256983" y="5350733"/>
            <a:ext cx="6169936" cy="338554"/>
          </a:xfrm>
          <a:prstGeom prst="rect">
            <a:avLst/>
          </a:prstGeom>
          <a:noFill/>
        </p:spPr>
        <p:txBody>
          <a:bodyPr wrap="square">
            <a:spAutoFit/>
          </a:bodyPr>
          <a:lstStyle/>
          <a:p>
            <a:r>
              <a:rPr lang="en-IN" sz="1600" b="1" dirty="0">
                <a:latin typeface="Times New Roman" panose="02020603050405020304" pitchFamily="18" charset="0"/>
                <a:cs typeface="Times New Roman" panose="02020603050405020304" pitchFamily="18" charset="0"/>
              </a:rPr>
              <a:t>Fig: General Architecture of 2D FIR filters Fully Direct form</a:t>
            </a:r>
          </a:p>
        </p:txBody>
      </p:sp>
    </p:spTree>
    <p:extLst>
      <p:ext uri="{BB962C8B-B14F-4D97-AF65-F5344CB8AC3E}">
        <p14:creationId xmlns:p14="http://schemas.microsoft.com/office/powerpoint/2010/main" val="42412813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4C74F-EAEC-4861-835C-DC6A52833E62}"/>
              </a:ext>
            </a:extLst>
          </p:cNvPr>
          <p:cNvSpPr>
            <a:spLocks noGrp="1"/>
          </p:cNvSpPr>
          <p:nvPr>
            <p:ph type="title"/>
          </p:nvPr>
        </p:nvSpPr>
        <p:spPr>
          <a:xfrm>
            <a:off x="1596907" y="193772"/>
            <a:ext cx="10317453" cy="1325563"/>
          </a:xfrm>
        </p:spPr>
        <p:txBody>
          <a:bodyPr>
            <a:normAutofit/>
          </a:bodyPr>
          <a:lstStyle/>
          <a:p>
            <a:pPr algn="ctr"/>
            <a:r>
              <a:rPr lang="en" sz="4000" dirty="0">
                <a:solidFill>
                  <a:srgbClr val="FF0000"/>
                </a:solidFill>
                <a:latin typeface="Times New Roman" panose="02020603050405020304" pitchFamily="18" charset="0"/>
                <a:ea typeface="Montserrat"/>
                <a:cs typeface="Times New Roman" panose="02020603050405020304" pitchFamily="18" charset="0"/>
                <a:sym typeface="Montserrat"/>
              </a:rPr>
              <a:t>CANONICAL SIGNED DIGIT REPRESENTATION</a:t>
            </a:r>
            <a:endParaRPr lang="en-US" sz="4000" dirty="0">
              <a:solidFill>
                <a:srgbClr val="FF0000"/>
              </a:solidFill>
              <a:latin typeface="Times New Roman" panose="02020603050405020304" pitchFamily="18" charset="0"/>
              <a:cs typeface="Times New Roman" panose="02020603050405020304" pitchFamily="18" charset="0"/>
            </a:endParaRPr>
          </a:p>
        </p:txBody>
      </p:sp>
      <p:pic>
        <p:nvPicPr>
          <p:cNvPr id="4" name="Picture 2">
            <a:extLst>
              <a:ext uri="{FF2B5EF4-FFF2-40B4-BE49-F238E27FC236}">
                <a16:creationId xmlns:a16="http://schemas.microsoft.com/office/drawing/2014/main" id="{8FDCF028-2F5E-4303-8331-5D5D3ADC9E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750703" cy="152092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B08F7A6-7AAB-4AA4-8884-D5A3F4347AD8}"/>
              </a:ext>
            </a:extLst>
          </p:cNvPr>
          <p:cNvSpPr txBox="1"/>
          <p:nvPr/>
        </p:nvSpPr>
        <p:spPr>
          <a:xfrm>
            <a:off x="1101969" y="1445490"/>
            <a:ext cx="9988062" cy="5288948"/>
          </a:xfrm>
          <a:prstGeom prst="rect">
            <a:avLst/>
          </a:prstGeom>
          <a:noFill/>
        </p:spPr>
        <p:txBody>
          <a:bodyPr wrap="square" rtlCol="0">
            <a:spAutoFit/>
          </a:bodyPr>
          <a:lstStyle/>
          <a:p>
            <a:pPr marL="285750" lvl="0" indent="-285750" algn="l" rtl="0">
              <a:lnSpc>
                <a:spcPct val="150000"/>
              </a:lnSpc>
              <a:spcBef>
                <a:spcPts val="0"/>
              </a:spcBef>
              <a:spcAft>
                <a:spcPts val="0"/>
              </a:spcAft>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Encoding a binary number such that it contains the fewest number of non-zero bits is called Canonical Signed Digit (CSD).</a:t>
            </a:r>
            <a:endParaRPr lang="en-GB" sz="2000" dirty="0">
              <a:highlight>
                <a:srgbClr val="FFFFFF"/>
              </a:highlight>
              <a:latin typeface="Times New Roman" panose="02020603050405020304" pitchFamily="18" charset="0"/>
              <a:cs typeface="Times New Roman" panose="02020603050405020304" pitchFamily="18" charset="0"/>
            </a:endParaRPr>
          </a:p>
          <a:p>
            <a:pPr marL="285750" lvl="0" indent="-285750" algn="l" rtl="0">
              <a:lnSpc>
                <a:spcPct val="150000"/>
              </a:lnSpc>
              <a:spcBef>
                <a:spcPts val="0"/>
              </a:spcBef>
              <a:spcAft>
                <a:spcPts val="0"/>
              </a:spcAft>
              <a:buFont typeface="Arial" panose="020B0604020202020204" pitchFamily="34" charset="0"/>
              <a:buChar char="•"/>
            </a:pPr>
            <a:r>
              <a:rPr lang="en-GB" sz="2000" dirty="0">
                <a:highlight>
                  <a:srgbClr val="FFFFFF"/>
                </a:highlight>
                <a:latin typeface="Times New Roman" panose="02020603050405020304" pitchFamily="18" charset="0"/>
                <a:cs typeface="Times New Roman" panose="02020603050405020304" pitchFamily="18" charset="0"/>
              </a:rPr>
              <a:t>The digital multiplication using CSD converted numbers is faster than using conventional digital numbers.</a:t>
            </a:r>
          </a:p>
          <a:p>
            <a:pPr>
              <a:lnSpc>
                <a:spcPct val="150000"/>
              </a:lnSpc>
            </a:pPr>
            <a:r>
              <a:rPr lang="en-GB" sz="2400" b="1" dirty="0">
                <a:latin typeface="Times New Roman" panose="02020603050405020304" pitchFamily="18" charset="0"/>
                <a:cs typeface="Times New Roman" panose="02020603050405020304" pitchFamily="18" charset="0"/>
              </a:rPr>
              <a:t>Properties of CSD numbers:</a:t>
            </a:r>
            <a:r>
              <a:rPr lang="en-GB" sz="2400" dirty="0">
                <a:latin typeface="Times New Roman" panose="02020603050405020304" pitchFamily="18" charset="0"/>
                <a:cs typeface="Times New Roman" panose="02020603050405020304" pitchFamily="18" charset="0"/>
              </a:rPr>
              <a:t> </a:t>
            </a:r>
          </a:p>
          <a:p>
            <a:pPr marL="475735" lvl="0" indent="-342900" algn="l" rtl="0">
              <a:lnSpc>
                <a:spcPct val="150000"/>
              </a:lnSpc>
              <a:spcBef>
                <a:spcPts val="0"/>
              </a:spcBef>
              <a:spcAft>
                <a:spcPts val="0"/>
              </a:spcAft>
              <a:buSzPts val="1508"/>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No 2-consecutive bits in a CSD number are non-zero.</a:t>
            </a:r>
          </a:p>
          <a:p>
            <a:pPr marL="475735" lvl="0" indent="-342900" algn="l" rtl="0">
              <a:lnSpc>
                <a:spcPct val="150000"/>
              </a:lnSpc>
              <a:spcBef>
                <a:spcPts val="0"/>
              </a:spcBef>
              <a:spcAft>
                <a:spcPts val="0"/>
              </a:spcAft>
              <a:buSzPts val="1508"/>
              <a:buFont typeface="Arial" panose="020B0604020202020204" pitchFamily="34" charset="0"/>
              <a:buChar char="•"/>
            </a:pPr>
            <a:r>
              <a:rPr lang="en-GB" sz="2000" dirty="0">
                <a:highlight>
                  <a:srgbClr val="FFFFFF"/>
                </a:highlight>
                <a:latin typeface="Times New Roman" panose="02020603050405020304" pitchFamily="18" charset="0"/>
                <a:cs typeface="Times New Roman" panose="02020603050405020304" pitchFamily="18" charset="0"/>
              </a:rPr>
              <a:t>Signed-digit binary uses three symbols in each power-of-two position: -1, 0, 1</a:t>
            </a:r>
            <a:endParaRPr lang="en-GB" sz="2000" dirty="0">
              <a:latin typeface="Times New Roman" panose="02020603050405020304" pitchFamily="18" charset="0"/>
              <a:cs typeface="Times New Roman" panose="02020603050405020304" pitchFamily="18" charset="0"/>
            </a:endParaRPr>
          </a:p>
          <a:p>
            <a:pPr marL="475735" lvl="0" indent="-342900" algn="l" rtl="0">
              <a:lnSpc>
                <a:spcPct val="150000"/>
              </a:lnSpc>
              <a:spcBef>
                <a:spcPts val="0"/>
              </a:spcBef>
              <a:spcAft>
                <a:spcPts val="0"/>
              </a:spcAft>
              <a:buSzPts val="1508"/>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The CSD representation of a number contains the minimum possible number of non-zero bits, thus the name canonical.</a:t>
            </a:r>
          </a:p>
          <a:p>
            <a:pPr marL="475735" lvl="0" indent="-342900" algn="l" rtl="0">
              <a:lnSpc>
                <a:spcPct val="150000"/>
              </a:lnSpc>
              <a:spcBef>
                <a:spcPts val="0"/>
              </a:spcBef>
              <a:spcAft>
                <a:spcPts val="0"/>
              </a:spcAft>
              <a:buSzPts val="1508"/>
              <a:buFont typeface="Arial" panose="020B0604020202020204" pitchFamily="34" charset="0"/>
              <a:buChar char="•"/>
            </a:pPr>
            <a:r>
              <a:rPr lang="en-GB" sz="2000" dirty="0">
                <a:highlight>
                  <a:srgbClr val="FFFFFF"/>
                </a:highlight>
                <a:latin typeface="Times New Roman" panose="02020603050405020304" pitchFamily="18" charset="0"/>
                <a:cs typeface="Times New Roman" panose="02020603050405020304" pitchFamily="18" charset="0"/>
              </a:rPr>
              <a:t>The CSD form contains 33% less non-zero digits than the binary presentation (on average). </a:t>
            </a:r>
            <a:endParaRPr lang="en-GB" sz="2000" dirty="0">
              <a:latin typeface="Times New Roman" panose="02020603050405020304" pitchFamily="18" charset="0"/>
              <a:cs typeface="Times New Roman" panose="02020603050405020304" pitchFamily="18" charset="0"/>
            </a:endParaRPr>
          </a:p>
          <a:p>
            <a:pPr>
              <a:lnSpc>
                <a:spcPct val="150000"/>
              </a:lnSpc>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86981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81DEC-A34E-4532-85E5-2AF86297E9A8}"/>
              </a:ext>
            </a:extLst>
          </p:cNvPr>
          <p:cNvSpPr>
            <a:spLocks noGrp="1"/>
          </p:cNvSpPr>
          <p:nvPr>
            <p:ph type="title"/>
          </p:nvPr>
        </p:nvSpPr>
        <p:spPr/>
        <p:txBody>
          <a:bodyPr>
            <a:normAutofit/>
          </a:bodyPr>
          <a:lstStyle/>
          <a:p>
            <a:pPr algn="ctr"/>
            <a:r>
              <a:rPr lang="en" sz="4000" dirty="0">
                <a:solidFill>
                  <a:srgbClr val="FF0000"/>
                </a:solidFill>
                <a:latin typeface="Times New Roman" panose="02020603050405020304" pitchFamily="18" charset="0"/>
                <a:ea typeface="Montserrat"/>
                <a:cs typeface="Times New Roman" panose="02020603050405020304" pitchFamily="18" charset="0"/>
                <a:sym typeface="Montserrat"/>
              </a:rPr>
              <a:t>CANONIC SIGNED DIGIT EXAMPLE</a:t>
            </a:r>
            <a:endParaRPr lang="en-US" sz="40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EA11DE4-BD10-4411-818D-D1FBAD99A968}"/>
              </a:ext>
            </a:extLst>
          </p:cNvPr>
          <p:cNvSpPr>
            <a:spLocks noGrp="1"/>
          </p:cNvSpPr>
          <p:nvPr>
            <p:ph idx="1"/>
          </p:nvPr>
        </p:nvSpPr>
        <p:spPr>
          <a:xfrm>
            <a:off x="875351" y="1565691"/>
            <a:ext cx="10515600" cy="5057312"/>
          </a:xfrm>
        </p:spPr>
        <p:txBody>
          <a:bodyPr>
            <a:noAutofit/>
          </a:bodyPr>
          <a:lstStyle/>
          <a:p>
            <a:pPr marL="0" lvl="0" indent="0" algn="l" rtl="0">
              <a:spcBef>
                <a:spcPts val="0"/>
              </a:spcBef>
              <a:spcAft>
                <a:spcPts val="0"/>
              </a:spcAft>
              <a:buClr>
                <a:schemeClr val="dk1"/>
              </a:buClr>
              <a:buSzPts val="1100"/>
              <a:buFont typeface="Arial"/>
              <a:buNone/>
            </a:pPr>
            <a:r>
              <a:rPr lang="en-US" sz="1800" b="1" dirty="0">
                <a:solidFill>
                  <a:srgbClr val="232629"/>
                </a:solidFill>
                <a:highlight>
                  <a:srgbClr val="FFFFFF"/>
                </a:highlight>
                <a:latin typeface="Times New Roman" panose="02020603050405020304" pitchFamily="18" charset="0"/>
                <a:cs typeface="Times New Roman" panose="02020603050405020304" pitchFamily="18" charset="0"/>
              </a:rPr>
              <a:t>Example :</a:t>
            </a:r>
            <a:r>
              <a:rPr lang="en-US" sz="1800" dirty="0">
                <a:solidFill>
                  <a:srgbClr val="232629"/>
                </a:solidFill>
                <a:highlight>
                  <a:srgbClr val="FFFFFF"/>
                </a:highlight>
                <a:latin typeface="Times New Roman" panose="02020603050405020304" pitchFamily="18" charset="0"/>
                <a:cs typeface="Times New Roman" panose="02020603050405020304" pitchFamily="18" charset="0"/>
              </a:rPr>
              <a:t> Lets take for example a number 287, which is 1 0001 1111 in binary representation. (256 + 16 + 8 + 4 + 2 + 1 = 287)</a:t>
            </a:r>
          </a:p>
          <a:p>
            <a:pPr marL="914400" lvl="0" indent="457200" algn="l" rtl="0">
              <a:spcBef>
                <a:spcPts val="0"/>
              </a:spcBef>
              <a:spcAft>
                <a:spcPts val="0"/>
              </a:spcAft>
              <a:buClr>
                <a:schemeClr val="dk1"/>
              </a:buClr>
              <a:buSzPts val="1100"/>
              <a:buFont typeface="Arial"/>
              <a:buNone/>
            </a:pPr>
            <a:endParaRPr lang="en-US" sz="1800" dirty="0">
              <a:solidFill>
                <a:schemeClr val="dk2"/>
              </a:solidFill>
              <a:latin typeface="Times New Roman" panose="02020603050405020304" pitchFamily="18" charset="0"/>
              <a:cs typeface="Times New Roman" panose="02020603050405020304" pitchFamily="18" charset="0"/>
            </a:endParaRPr>
          </a:p>
          <a:p>
            <a:pPr marL="0" lvl="0" indent="0" algn="l" rtl="0">
              <a:lnSpc>
                <a:spcPct val="115000"/>
              </a:lnSpc>
              <a:spcBef>
                <a:spcPts val="0"/>
              </a:spcBef>
              <a:spcAft>
                <a:spcPts val="0"/>
              </a:spcAft>
              <a:buClr>
                <a:schemeClr val="dk1"/>
              </a:buClr>
              <a:buSzPts val="1100"/>
              <a:buFont typeface="Arial"/>
              <a:buNone/>
            </a:pPr>
            <a:r>
              <a:rPr lang="en-US" sz="1800" dirty="0">
                <a:solidFill>
                  <a:schemeClr val="dk2"/>
                </a:solidFill>
                <a:latin typeface="Times New Roman" panose="02020603050405020304" pitchFamily="18" charset="0"/>
                <a:cs typeface="Times New Roman" panose="02020603050405020304" pitchFamily="18" charset="0"/>
              </a:rPr>
              <a:t>                                                                </a:t>
            </a:r>
            <a:r>
              <a:rPr lang="en-US" sz="1800" b="1" dirty="0">
                <a:solidFill>
                  <a:schemeClr val="dk1"/>
                </a:solidFill>
                <a:latin typeface="Times New Roman" panose="02020603050405020304" pitchFamily="18" charset="0"/>
                <a:cs typeface="Times New Roman" panose="02020603050405020304" pitchFamily="18" charset="0"/>
              </a:rPr>
              <a:t>1 0001 1111</a:t>
            </a:r>
          </a:p>
          <a:p>
            <a:pPr marL="0" lvl="0" indent="0" algn="l" rtl="0">
              <a:lnSpc>
                <a:spcPct val="115000"/>
              </a:lnSpc>
              <a:spcBef>
                <a:spcPts val="0"/>
              </a:spcBef>
              <a:spcAft>
                <a:spcPts val="0"/>
              </a:spcAft>
              <a:buClr>
                <a:schemeClr val="dk1"/>
              </a:buClr>
              <a:buSzPts val="1100"/>
              <a:buFont typeface="Arial"/>
              <a:buNone/>
            </a:pPr>
            <a:r>
              <a:rPr lang="en-US" sz="1800" dirty="0">
                <a:solidFill>
                  <a:srgbClr val="232629"/>
                </a:solidFill>
                <a:highlight>
                  <a:srgbClr val="FFFFFF"/>
                </a:highlight>
                <a:latin typeface="Times New Roman" panose="02020603050405020304" pitchFamily="18" charset="0"/>
                <a:cs typeface="Times New Roman" panose="02020603050405020304" pitchFamily="18" charset="0"/>
              </a:rPr>
              <a:t>Starting from the right (LSB), if you find more than non-zero elements (1 or -1) in a row, take all of them, plus the next zero. (if there is not zero at the left side of the MSB, create one there). We see that the first part of this number is,</a:t>
            </a:r>
          </a:p>
          <a:p>
            <a:pPr marL="3200400" lvl="0" indent="0" algn="l" rtl="0">
              <a:lnSpc>
                <a:spcPct val="115000"/>
              </a:lnSpc>
              <a:spcBef>
                <a:spcPts val="0"/>
              </a:spcBef>
              <a:spcAft>
                <a:spcPts val="0"/>
              </a:spcAft>
              <a:buClr>
                <a:schemeClr val="dk1"/>
              </a:buClr>
              <a:buSzPts val="1100"/>
              <a:buFont typeface="Arial"/>
              <a:buNone/>
            </a:pPr>
            <a:r>
              <a:rPr lang="en-US" sz="1800" dirty="0">
                <a:solidFill>
                  <a:srgbClr val="232629"/>
                </a:solidFill>
                <a:highlight>
                  <a:srgbClr val="FFFFFF"/>
                </a:highlight>
                <a:latin typeface="Times New Roman" panose="02020603050405020304" pitchFamily="18" charset="0"/>
                <a:cs typeface="Times New Roman" panose="02020603050405020304" pitchFamily="18" charset="0"/>
              </a:rPr>
              <a:t>   </a:t>
            </a:r>
            <a:r>
              <a:rPr lang="en-US" sz="1800" b="1" dirty="0">
                <a:solidFill>
                  <a:srgbClr val="232629"/>
                </a:solidFill>
                <a:highlight>
                  <a:srgbClr val="FFFFFF"/>
                </a:highlight>
                <a:latin typeface="Times New Roman" panose="02020603050405020304" pitchFamily="18" charset="0"/>
                <a:cs typeface="Times New Roman" panose="02020603050405020304" pitchFamily="18" charset="0"/>
              </a:rPr>
              <a:t> 01 1111</a:t>
            </a:r>
          </a:p>
          <a:p>
            <a:pPr marL="0" lvl="0" indent="0" algn="l" rtl="0">
              <a:lnSpc>
                <a:spcPct val="115000"/>
              </a:lnSpc>
              <a:spcBef>
                <a:spcPts val="0"/>
              </a:spcBef>
              <a:spcAft>
                <a:spcPts val="0"/>
              </a:spcAft>
              <a:buClr>
                <a:schemeClr val="dk1"/>
              </a:buClr>
              <a:buSzPts val="1100"/>
              <a:buFont typeface="Arial"/>
              <a:buNone/>
            </a:pPr>
            <a:r>
              <a:rPr lang="en-US" sz="1800" dirty="0">
                <a:solidFill>
                  <a:srgbClr val="232629"/>
                </a:solidFill>
                <a:highlight>
                  <a:srgbClr val="FFFFFF"/>
                </a:highlight>
                <a:latin typeface="Times New Roman" panose="02020603050405020304" pitchFamily="18" charset="0"/>
                <a:cs typeface="Times New Roman" panose="02020603050405020304" pitchFamily="18" charset="0"/>
              </a:rPr>
              <a:t>Add 1 to the number (i.e. change the 0 to 1, and all the 1's to 0's), and force the rightmost digit to be -1</a:t>
            </a:r>
          </a:p>
          <a:p>
            <a:pPr marL="0" lvl="0" indent="0" algn="l" rtl="0">
              <a:lnSpc>
                <a:spcPct val="115000"/>
              </a:lnSpc>
              <a:spcBef>
                <a:spcPts val="0"/>
              </a:spcBef>
              <a:spcAft>
                <a:spcPts val="0"/>
              </a:spcAft>
              <a:buClr>
                <a:schemeClr val="dk1"/>
              </a:buClr>
              <a:buSzPts val="1100"/>
              <a:buFont typeface="Arial"/>
              <a:buNone/>
            </a:pPr>
            <a:endParaRPr lang="en-US" sz="1800" dirty="0">
              <a:solidFill>
                <a:srgbClr val="232629"/>
              </a:solidFill>
              <a:highlight>
                <a:srgbClr val="FFFFFF"/>
              </a:highlight>
              <a:latin typeface="Times New Roman" panose="02020603050405020304" pitchFamily="18" charset="0"/>
              <a:cs typeface="Times New Roman" panose="02020603050405020304" pitchFamily="18" charset="0"/>
            </a:endParaRPr>
          </a:p>
          <a:p>
            <a:pPr marL="0" lvl="0" indent="0" algn="l" rtl="0">
              <a:lnSpc>
                <a:spcPct val="115000"/>
              </a:lnSpc>
              <a:spcBef>
                <a:spcPts val="0"/>
              </a:spcBef>
              <a:spcAft>
                <a:spcPts val="0"/>
              </a:spcAft>
              <a:buClr>
                <a:schemeClr val="dk1"/>
              </a:buClr>
              <a:buSzPts val="1100"/>
              <a:buFont typeface="Arial"/>
              <a:buNone/>
            </a:pPr>
            <a:r>
              <a:rPr lang="en-US" sz="1800" dirty="0">
                <a:solidFill>
                  <a:srgbClr val="232629"/>
                </a:solidFill>
                <a:highlight>
                  <a:srgbClr val="FFFFFF"/>
                </a:highlight>
                <a:latin typeface="Times New Roman" panose="02020603050405020304" pitchFamily="18" charset="0"/>
                <a:cs typeface="Times New Roman" panose="02020603050405020304" pitchFamily="18" charset="0"/>
              </a:rPr>
              <a:t>                                                                </a:t>
            </a:r>
            <a:r>
              <a:rPr lang="en-US" sz="1800" b="1" dirty="0">
                <a:solidFill>
                  <a:srgbClr val="232629"/>
                </a:solidFill>
                <a:highlight>
                  <a:srgbClr val="FFFFFF"/>
                </a:highlight>
                <a:latin typeface="Times New Roman" panose="02020603050405020304" pitchFamily="18" charset="0"/>
                <a:cs typeface="Times New Roman" panose="02020603050405020304" pitchFamily="18" charset="0"/>
              </a:rPr>
              <a:t> 01 1111 -&gt; 10 000-1</a:t>
            </a:r>
          </a:p>
          <a:p>
            <a:pPr marL="0" lvl="0" indent="0" algn="l" rtl="0">
              <a:lnSpc>
                <a:spcPct val="115000"/>
              </a:lnSpc>
              <a:spcBef>
                <a:spcPts val="0"/>
              </a:spcBef>
              <a:spcAft>
                <a:spcPts val="0"/>
              </a:spcAft>
              <a:buClr>
                <a:schemeClr val="dk1"/>
              </a:buClr>
              <a:buSzPts val="1100"/>
              <a:buFont typeface="Arial"/>
              <a:buNone/>
            </a:pPr>
            <a:r>
              <a:rPr lang="en-US" sz="1800" dirty="0">
                <a:solidFill>
                  <a:srgbClr val="232629"/>
                </a:solidFill>
                <a:highlight>
                  <a:srgbClr val="FFFFFF"/>
                </a:highlight>
                <a:latin typeface="Times New Roman" panose="02020603050405020304" pitchFamily="18" charset="0"/>
                <a:cs typeface="Times New Roman" panose="02020603050405020304" pitchFamily="18" charset="0"/>
              </a:rPr>
              <a:t>You can check that the number is still the same: 16 + 8 + 4 + 2 + 1 = 31 = 32 + (-1). Now the number looks like this</a:t>
            </a:r>
          </a:p>
          <a:p>
            <a:pPr marL="0" lvl="0" indent="0" algn="l" rtl="0">
              <a:lnSpc>
                <a:spcPct val="115000"/>
              </a:lnSpc>
              <a:spcBef>
                <a:spcPts val="0"/>
              </a:spcBef>
              <a:spcAft>
                <a:spcPts val="0"/>
              </a:spcAft>
              <a:buClr>
                <a:schemeClr val="dk1"/>
              </a:buClr>
              <a:buSzPts val="1100"/>
              <a:buFont typeface="Arial"/>
              <a:buNone/>
            </a:pPr>
            <a:r>
              <a:rPr lang="en-US" sz="1800" dirty="0">
                <a:solidFill>
                  <a:srgbClr val="232629"/>
                </a:solidFill>
                <a:highlight>
                  <a:srgbClr val="FFFFFF"/>
                </a:highlight>
                <a:latin typeface="Times New Roman" panose="02020603050405020304" pitchFamily="18" charset="0"/>
                <a:cs typeface="Times New Roman" panose="02020603050405020304" pitchFamily="18" charset="0"/>
              </a:rPr>
              <a:t>                                                                 </a:t>
            </a:r>
            <a:r>
              <a:rPr lang="en-US" sz="1800" b="1" dirty="0">
                <a:solidFill>
                  <a:srgbClr val="232629"/>
                </a:solidFill>
                <a:highlight>
                  <a:srgbClr val="FFFFFF"/>
                </a:highlight>
                <a:latin typeface="Times New Roman" panose="02020603050405020304" pitchFamily="18" charset="0"/>
                <a:cs typeface="Times New Roman" panose="02020603050405020304" pitchFamily="18" charset="0"/>
              </a:rPr>
              <a:t>1 0010 000-1</a:t>
            </a:r>
          </a:p>
          <a:p>
            <a:pPr marL="0" lvl="0" indent="0" algn="l" rtl="0">
              <a:lnSpc>
                <a:spcPct val="115000"/>
              </a:lnSpc>
              <a:spcBef>
                <a:spcPts val="0"/>
              </a:spcBef>
              <a:spcAft>
                <a:spcPts val="0"/>
              </a:spcAft>
              <a:buClr>
                <a:schemeClr val="dk1"/>
              </a:buClr>
              <a:buSzPts val="1100"/>
              <a:buFont typeface="Arial"/>
              <a:buNone/>
            </a:pPr>
            <a:r>
              <a:rPr lang="en-US" sz="1800" dirty="0">
                <a:solidFill>
                  <a:srgbClr val="232629"/>
                </a:solidFill>
                <a:highlight>
                  <a:srgbClr val="FFFFFF"/>
                </a:highlight>
                <a:latin typeface="Times New Roman" panose="02020603050405020304" pitchFamily="18" charset="0"/>
                <a:cs typeface="Times New Roman" panose="02020603050405020304" pitchFamily="18" charset="0"/>
              </a:rPr>
              <a:t>Since there are no more consecutive non-zero digits, the conversion is complete. Thus, the CSD presentation for the number 287 is 1 0010 000-1, which is 256 + 32 - 1.</a:t>
            </a:r>
          </a:p>
          <a:p>
            <a:endParaRPr lang="en-US" sz="1800" dirty="0">
              <a:latin typeface="Times New Roman" panose="02020603050405020304" pitchFamily="18" charset="0"/>
              <a:cs typeface="Times New Roman" panose="02020603050405020304" pitchFamily="18" charset="0"/>
            </a:endParaRPr>
          </a:p>
        </p:txBody>
      </p:sp>
      <p:pic>
        <p:nvPicPr>
          <p:cNvPr id="4" name="Picture 2">
            <a:extLst>
              <a:ext uri="{FF2B5EF4-FFF2-40B4-BE49-F238E27FC236}">
                <a16:creationId xmlns:a16="http://schemas.microsoft.com/office/drawing/2014/main" id="{99DC0BB3-DA60-4942-9591-445E672D57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750703" cy="15209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98293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DA3D2FD-84C1-4E9E-98B3-7B3AA9B80A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5470" y="1072602"/>
            <a:ext cx="9812447" cy="5681283"/>
          </a:xfrm>
          <a:prstGeom prst="rect">
            <a:avLst/>
          </a:prstGeom>
        </p:spPr>
      </p:pic>
      <p:sp>
        <p:nvSpPr>
          <p:cNvPr id="2" name="TextBox 1">
            <a:extLst>
              <a:ext uri="{FF2B5EF4-FFF2-40B4-BE49-F238E27FC236}">
                <a16:creationId xmlns:a16="http://schemas.microsoft.com/office/drawing/2014/main" id="{F8D4A36D-D690-E1F2-ECB8-E185E73057AB}"/>
              </a:ext>
            </a:extLst>
          </p:cNvPr>
          <p:cNvSpPr txBox="1"/>
          <p:nvPr/>
        </p:nvSpPr>
        <p:spPr>
          <a:xfrm>
            <a:off x="1510419" y="364716"/>
            <a:ext cx="9171161" cy="707886"/>
          </a:xfrm>
          <a:prstGeom prst="rect">
            <a:avLst/>
          </a:prstGeom>
          <a:noFill/>
        </p:spPr>
        <p:txBody>
          <a:bodyPr wrap="square" rtlCol="0">
            <a:spAutoFit/>
          </a:bodyPr>
          <a:lstStyle/>
          <a:p>
            <a:pPr algn="ctr"/>
            <a:r>
              <a:rPr lang="en-IN" sz="4000" dirty="0">
                <a:solidFill>
                  <a:srgbClr val="FF0000"/>
                </a:solidFill>
                <a:latin typeface="Times New Roman" panose="02020603050405020304" pitchFamily="18" charset="0"/>
                <a:cs typeface="Times New Roman" panose="02020603050405020304" pitchFamily="18" charset="0"/>
              </a:rPr>
              <a:t>FIR Filter Coefficients for order 11</a:t>
            </a:r>
            <a:endParaRPr lang="en-IN" sz="20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96279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17F4187-3361-50B9-B1A6-3332F3F64EFB}"/>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80357" y="1336737"/>
            <a:ext cx="4978471" cy="3425385"/>
          </a:xfrm>
          <a:prstGeom prst="rect">
            <a:avLst/>
          </a:prstGeom>
        </p:spPr>
      </p:pic>
      <p:sp>
        <p:nvSpPr>
          <p:cNvPr id="6" name="TextBox 5">
            <a:extLst>
              <a:ext uri="{FF2B5EF4-FFF2-40B4-BE49-F238E27FC236}">
                <a16:creationId xmlns:a16="http://schemas.microsoft.com/office/drawing/2014/main" id="{B0E428FE-9C72-ACD8-4145-21C4CDD40CAA}"/>
              </a:ext>
            </a:extLst>
          </p:cNvPr>
          <p:cNvSpPr txBox="1"/>
          <p:nvPr/>
        </p:nvSpPr>
        <p:spPr>
          <a:xfrm>
            <a:off x="6039514" y="5203186"/>
            <a:ext cx="6097508" cy="338554"/>
          </a:xfrm>
          <a:prstGeom prst="rect">
            <a:avLst/>
          </a:prstGeom>
          <a:noFill/>
        </p:spPr>
        <p:txBody>
          <a:bodyPr wrap="square">
            <a:spAutoFit/>
          </a:bodyPr>
          <a:lstStyle/>
          <a:p>
            <a:pPr algn="ct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Fig: </a:t>
            </a:r>
            <a:r>
              <a:rPr lang="en-US" sz="1600" b="1" dirty="0">
                <a:effectLst/>
                <a:latin typeface="Times New Roman" panose="02020603050405020304" pitchFamily="18" charset="0"/>
                <a:ea typeface="Calibri" panose="020F0502020204030204" pitchFamily="34" charset="0"/>
              </a:rPr>
              <a:t>Contour of Low Pass FIR Filter </a:t>
            </a:r>
            <a:endParaRPr lang="en-IN" sz="1600" b="1"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6E398CB6-2E12-7B42-DC2F-9D1F21AAD1F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714849" y="951122"/>
            <a:ext cx="4746839" cy="4200809"/>
          </a:xfrm>
          <a:prstGeom prst="rect">
            <a:avLst/>
          </a:prstGeom>
          <a:noFill/>
          <a:ln>
            <a:noFill/>
          </a:ln>
        </p:spPr>
      </p:pic>
      <p:sp>
        <p:nvSpPr>
          <p:cNvPr id="9" name="TextBox 8">
            <a:extLst>
              <a:ext uri="{FF2B5EF4-FFF2-40B4-BE49-F238E27FC236}">
                <a16:creationId xmlns:a16="http://schemas.microsoft.com/office/drawing/2014/main" id="{CD402579-EC81-5F27-77A1-7423E5F9CBCB}"/>
              </a:ext>
            </a:extLst>
          </p:cNvPr>
          <p:cNvSpPr txBox="1"/>
          <p:nvPr/>
        </p:nvSpPr>
        <p:spPr>
          <a:xfrm>
            <a:off x="-76487" y="4943220"/>
            <a:ext cx="6292158" cy="417422"/>
          </a:xfrm>
          <a:prstGeom prst="rect">
            <a:avLst/>
          </a:prstGeom>
          <a:noFill/>
        </p:spPr>
        <p:txBody>
          <a:bodyPr wrap="square">
            <a:spAutoFit/>
          </a:bodyPr>
          <a:lstStyle/>
          <a:p>
            <a:pPr algn="ctr">
              <a:lnSpc>
                <a:spcPct val="150000"/>
              </a:lnSpc>
              <a:tabLst>
                <a:tab pos="228600" algn="l"/>
                <a:tab pos="457200" algn="l"/>
              </a:tabLst>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Fig: </a:t>
            </a:r>
            <a:r>
              <a:rPr lang="en-US" sz="1600" b="1" dirty="0">
                <a:effectLst/>
                <a:latin typeface="Times New Roman" panose="02020603050405020304" pitchFamily="18" charset="0"/>
                <a:ea typeface="Times New Roman" panose="02020603050405020304" pitchFamily="18" charset="0"/>
              </a:rPr>
              <a:t>Frequency response of Low Pass </a:t>
            </a:r>
            <a:r>
              <a:rPr lang="en-US" sz="1600" b="1" dirty="0">
                <a:latin typeface="Times New Roman" panose="02020603050405020304" pitchFamily="18" charset="0"/>
                <a:ea typeface="Times New Roman" panose="02020603050405020304" pitchFamily="18" charset="0"/>
              </a:rPr>
              <a:t>FIR </a:t>
            </a:r>
            <a:r>
              <a:rPr lang="en-US" sz="1600" b="1" dirty="0">
                <a:effectLst/>
                <a:latin typeface="Times New Roman" panose="02020603050405020304" pitchFamily="18" charset="0"/>
                <a:ea typeface="Times New Roman" panose="02020603050405020304" pitchFamily="18" charset="0"/>
              </a:rPr>
              <a:t>Filter</a:t>
            </a:r>
            <a:endParaRPr lang="en-IN" sz="11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7618738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a:extLst>
              <a:ext uri="{FF2B5EF4-FFF2-40B4-BE49-F238E27FC236}">
                <a16:creationId xmlns:a16="http://schemas.microsoft.com/office/drawing/2014/main" id="{0CE7A7E0-8F80-447B-83C0-1167AC5003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750703" cy="152092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Table 4">
            <a:extLst>
              <a:ext uri="{FF2B5EF4-FFF2-40B4-BE49-F238E27FC236}">
                <a16:creationId xmlns:a16="http://schemas.microsoft.com/office/drawing/2014/main" id="{E195A136-CA5E-4B2C-A875-3470D948A3E2}"/>
              </a:ext>
            </a:extLst>
          </p:cNvPr>
          <p:cNvGraphicFramePr>
            <a:graphicFrameLocks noGrp="1"/>
          </p:cNvGraphicFramePr>
          <p:nvPr>
            <p:ph idx="1"/>
            <p:extLst>
              <p:ext uri="{D42A27DB-BD31-4B8C-83A1-F6EECF244321}">
                <p14:modId xmlns:p14="http://schemas.microsoft.com/office/powerpoint/2010/main" val="4163167204"/>
              </p:ext>
            </p:extLst>
          </p:nvPr>
        </p:nvGraphicFramePr>
        <p:xfrm>
          <a:off x="635000" y="1607357"/>
          <a:ext cx="10922000" cy="4809058"/>
        </p:xfrm>
        <a:graphic>
          <a:graphicData uri="http://schemas.openxmlformats.org/drawingml/2006/table">
            <a:tbl>
              <a:tblPr firstRow="1" bandRow="1">
                <a:effectLst>
                  <a:outerShdw blurRad="50800" dist="38100" dir="5400000" algn="t" rotWithShape="0">
                    <a:prstClr val="black">
                      <a:alpha val="40000"/>
                    </a:prstClr>
                  </a:outerShdw>
                </a:effectLst>
                <a:tableStyleId>{073A0DAA-6AF3-43AB-8588-CEC1D06C72B9}</a:tableStyleId>
              </a:tblPr>
              <a:tblGrid>
                <a:gridCol w="1160386">
                  <a:extLst>
                    <a:ext uri="{9D8B030D-6E8A-4147-A177-3AD203B41FA5}">
                      <a16:colId xmlns:a16="http://schemas.microsoft.com/office/drawing/2014/main" val="3468026922"/>
                    </a:ext>
                  </a:extLst>
                </a:gridCol>
                <a:gridCol w="3185279">
                  <a:extLst>
                    <a:ext uri="{9D8B030D-6E8A-4147-A177-3AD203B41FA5}">
                      <a16:colId xmlns:a16="http://schemas.microsoft.com/office/drawing/2014/main" val="2013402566"/>
                    </a:ext>
                  </a:extLst>
                </a:gridCol>
                <a:gridCol w="3375227">
                  <a:extLst>
                    <a:ext uri="{9D8B030D-6E8A-4147-A177-3AD203B41FA5}">
                      <a16:colId xmlns:a16="http://schemas.microsoft.com/office/drawing/2014/main" val="182389883"/>
                    </a:ext>
                  </a:extLst>
                </a:gridCol>
                <a:gridCol w="3201108">
                  <a:extLst>
                    <a:ext uri="{9D8B030D-6E8A-4147-A177-3AD203B41FA5}">
                      <a16:colId xmlns:a16="http://schemas.microsoft.com/office/drawing/2014/main" val="1044034938"/>
                    </a:ext>
                  </a:extLst>
                </a:gridCol>
              </a:tblGrid>
              <a:tr h="469113">
                <a:tc>
                  <a:txBody>
                    <a:bodyPr/>
                    <a:lstStyle/>
                    <a:p>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       Filter Coefficients</a:t>
                      </a:r>
                    </a:p>
                  </a:txBody>
                  <a:tcPr/>
                </a:tc>
                <a:tc>
                  <a:txBody>
                    <a:bodyPr/>
                    <a:lstStyle/>
                    <a:p>
                      <a:r>
                        <a:rPr lang="en-US" sz="16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Binary Representation</a:t>
                      </a:r>
                    </a:p>
                  </a:txBody>
                  <a:tcPr/>
                </a:tc>
                <a:tc>
                  <a:txBody>
                    <a:bodyPr/>
                    <a:lstStyle/>
                    <a:p>
                      <a:r>
                        <a:rPr lang="en-US" sz="16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CSD Representation</a:t>
                      </a:r>
                    </a:p>
                  </a:txBody>
                  <a:tcPr/>
                </a:tc>
                <a:extLst>
                  <a:ext uri="{0D108BD9-81ED-4DB2-BD59-A6C34878D82A}">
                    <a16:rowId xmlns:a16="http://schemas.microsoft.com/office/drawing/2014/main" val="3745719640"/>
                  </a:ext>
                </a:extLst>
              </a:tr>
              <a:tr h="400686">
                <a:tc>
                  <a:txBody>
                    <a:bodyPr/>
                    <a:lstStyle/>
                    <a:p>
                      <a:r>
                        <a:rPr lang="en-US" sz="1600" b="1" dirty="0">
                          <a:latin typeface="Times New Roman" panose="02020603050405020304" pitchFamily="18" charset="0"/>
                          <a:cs typeface="Times New Roman" panose="02020603050405020304" pitchFamily="18" charset="0"/>
                        </a:rPr>
                        <a:t>1.</a:t>
                      </a:r>
                    </a:p>
                  </a:txBody>
                  <a:tcPr/>
                </a:tc>
                <a:tc>
                  <a:txBody>
                    <a:bodyPr/>
                    <a:lstStyle/>
                    <a:p>
                      <a:pPr>
                        <a:lnSpc>
                          <a:spcPct val="107000"/>
                        </a:lnSpc>
                        <a:spcAft>
                          <a:spcPts val="800"/>
                        </a:spcAf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0.00034127651834</a:t>
                      </a:r>
                    </a:p>
                  </a:txBody>
                  <a:tcPr marL="68580" marR="68580" marT="0" marB="0"/>
                </a:tc>
                <a:tc>
                  <a:txBody>
                    <a:bodyPr/>
                    <a:lstStyle/>
                    <a:p>
                      <a:r>
                        <a:rPr lang="en-US" sz="1600" dirty="0">
                          <a:latin typeface="Times New Roman" panose="02020603050405020304" pitchFamily="18" charset="0"/>
                          <a:cs typeface="Times New Roman" panose="02020603050405020304" pitchFamily="18" charset="0"/>
                        </a:rPr>
                        <a:t>0.0000000000010110011</a:t>
                      </a:r>
                    </a:p>
                  </a:txBody>
                  <a:tcPr/>
                </a:tc>
                <a:tc>
                  <a:txBody>
                    <a:bodyPr/>
                    <a:lstStyle/>
                    <a:p>
                      <a:pPr>
                        <a:lnSpc>
                          <a:spcPct val="107000"/>
                        </a:lnSpc>
                        <a:spcAft>
                          <a:spcPts val="800"/>
                        </a:spcAf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.00000000000+1</a:t>
                      </a:r>
                    </a:p>
                  </a:txBody>
                  <a:tcPr marL="68580" marR="68580" marT="0" marB="0"/>
                </a:tc>
                <a:extLst>
                  <a:ext uri="{0D108BD9-81ED-4DB2-BD59-A6C34878D82A}">
                    <a16:rowId xmlns:a16="http://schemas.microsoft.com/office/drawing/2014/main" val="588924828"/>
                  </a:ext>
                </a:extLst>
              </a:tr>
              <a:tr h="335119">
                <a:tc>
                  <a:txBody>
                    <a:bodyPr/>
                    <a:lstStyle/>
                    <a:p>
                      <a:r>
                        <a:rPr lang="en-US" sz="1600" b="1" dirty="0">
                          <a:latin typeface="Times New Roman" panose="02020603050405020304" pitchFamily="18" charset="0"/>
                          <a:cs typeface="Times New Roman" panose="02020603050405020304" pitchFamily="18" charset="0"/>
                        </a:rPr>
                        <a:t>2.</a:t>
                      </a:r>
                    </a:p>
                  </a:txBody>
                  <a:tcPr/>
                </a:tc>
                <a:tc>
                  <a:txBody>
                    <a:bodyPr/>
                    <a:lstStyle/>
                    <a:p>
                      <a:pPr>
                        <a:lnSpc>
                          <a:spcPct val="107000"/>
                        </a:lnSpc>
                        <a:spcAft>
                          <a:spcPts val="800"/>
                        </a:spcAf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0.000341276518339</a:t>
                      </a:r>
                    </a:p>
                  </a:txBody>
                  <a:tcPr marL="68580" marR="68580" marT="0" marB="0"/>
                </a:tc>
                <a:tc>
                  <a:txBody>
                    <a:bodyPr/>
                    <a:lstStyle/>
                    <a:p>
                      <a:r>
                        <a:rPr lang="en-US" sz="1600" dirty="0">
                          <a:latin typeface="Times New Roman" panose="02020603050405020304" pitchFamily="18" charset="0"/>
                          <a:cs typeface="Times New Roman" panose="02020603050405020304" pitchFamily="18" charset="0"/>
                        </a:rPr>
                        <a:t>0.0000000000010110011</a:t>
                      </a:r>
                    </a:p>
                  </a:txBody>
                  <a:tcPr/>
                </a:tc>
                <a:tc>
                  <a:txBody>
                    <a:bodyPr/>
                    <a:lstStyle/>
                    <a:p>
                      <a:pPr>
                        <a:lnSpc>
                          <a:spcPct val="107000"/>
                        </a:lnSpc>
                        <a:spcAft>
                          <a:spcPts val="800"/>
                        </a:spcAf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.00000000000+1</a:t>
                      </a:r>
                    </a:p>
                  </a:txBody>
                  <a:tcPr marL="68580" marR="68580" marT="0" marB="0"/>
                </a:tc>
                <a:extLst>
                  <a:ext uri="{0D108BD9-81ED-4DB2-BD59-A6C34878D82A}">
                    <a16:rowId xmlns:a16="http://schemas.microsoft.com/office/drawing/2014/main" val="3463111654"/>
                  </a:ext>
                </a:extLst>
              </a:tr>
              <a:tr h="335119">
                <a:tc>
                  <a:txBody>
                    <a:bodyPr/>
                    <a:lstStyle/>
                    <a:p>
                      <a:r>
                        <a:rPr lang="en-US" sz="1600" b="1" dirty="0">
                          <a:latin typeface="Times New Roman" panose="02020603050405020304" pitchFamily="18" charset="0"/>
                          <a:cs typeface="Times New Roman" panose="02020603050405020304" pitchFamily="18" charset="0"/>
                        </a:rPr>
                        <a:t>3.</a:t>
                      </a:r>
                    </a:p>
                  </a:txBody>
                  <a:tcPr/>
                </a:tc>
                <a:tc>
                  <a:txBody>
                    <a:bodyPr/>
                    <a:lstStyle/>
                    <a:p>
                      <a:pPr>
                        <a:lnSpc>
                          <a:spcPct val="107000"/>
                        </a:lnSpc>
                        <a:spcAft>
                          <a:spcPts val="800"/>
                        </a:spcAf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0.001535744332523   </a:t>
                      </a:r>
                    </a:p>
                  </a:txBody>
                  <a:tcPr marL="68580" marR="68580" marT="0" marB="0"/>
                </a:tc>
                <a:tc>
                  <a:txBody>
                    <a:bodyPr/>
                    <a:lstStyle/>
                    <a:p>
                      <a:r>
                        <a:rPr lang="en-US" sz="1600" dirty="0">
                          <a:latin typeface="Times New Roman" panose="02020603050405020304" pitchFamily="18" charset="0"/>
                          <a:cs typeface="Times New Roman" panose="02020603050405020304" pitchFamily="18" charset="0"/>
                        </a:rPr>
                        <a:t>0.0000000001100100101</a:t>
                      </a:r>
                    </a:p>
                  </a:txBody>
                  <a:tcPr/>
                </a:tc>
                <a:tc>
                  <a:txBody>
                    <a:bodyPr/>
                    <a:lstStyle/>
                    <a:p>
                      <a:pPr>
                        <a:lnSpc>
                          <a:spcPct val="107000"/>
                        </a:lnSpc>
                        <a:spcAft>
                          <a:spcPts val="800"/>
                        </a:spcAf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.00000000+10-10</a:t>
                      </a:r>
                    </a:p>
                  </a:txBody>
                  <a:tcPr marL="68580" marR="68580" marT="0" marB="0"/>
                </a:tc>
                <a:extLst>
                  <a:ext uri="{0D108BD9-81ED-4DB2-BD59-A6C34878D82A}">
                    <a16:rowId xmlns:a16="http://schemas.microsoft.com/office/drawing/2014/main" val="3971956956"/>
                  </a:ext>
                </a:extLst>
              </a:tr>
              <a:tr h="335119">
                <a:tc>
                  <a:txBody>
                    <a:bodyPr/>
                    <a:lstStyle/>
                    <a:p>
                      <a:r>
                        <a:rPr lang="en-US" sz="1600" b="1" dirty="0">
                          <a:latin typeface="Times New Roman" panose="02020603050405020304" pitchFamily="18" charset="0"/>
                          <a:cs typeface="Times New Roman" panose="02020603050405020304" pitchFamily="18" charset="0"/>
                        </a:rPr>
                        <a:t>4.</a:t>
                      </a:r>
                    </a:p>
                  </a:txBody>
                  <a:tcPr/>
                </a:tc>
                <a:tc>
                  <a:txBody>
                    <a:bodyPr/>
                    <a:lstStyle/>
                    <a:p>
                      <a:pPr>
                        <a:lnSpc>
                          <a:spcPct val="107000"/>
                        </a:lnSpc>
                        <a:spcAft>
                          <a:spcPts val="800"/>
                        </a:spcAf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0.004095318220062</a:t>
                      </a:r>
                    </a:p>
                  </a:txBody>
                  <a:tcPr marL="68580" marR="68580" marT="0" marB="0"/>
                </a:tc>
                <a:tc>
                  <a:txBody>
                    <a:bodyPr/>
                    <a:lstStyle/>
                    <a:p>
                      <a:r>
                        <a:rPr lang="en-US" sz="1600" dirty="0">
                          <a:latin typeface="Times New Roman" panose="02020603050405020304" pitchFamily="18" charset="0"/>
                          <a:cs typeface="Times New Roman" panose="02020603050405020304" pitchFamily="18" charset="0"/>
                        </a:rPr>
                        <a:t>0.0000000100001100011</a:t>
                      </a:r>
                    </a:p>
                  </a:txBody>
                  <a:tcPr/>
                </a:tc>
                <a:tc>
                  <a:txBody>
                    <a:bodyPr/>
                    <a:lstStyle/>
                    <a:p>
                      <a:pPr>
                        <a:lnSpc>
                          <a:spcPct val="107000"/>
                        </a:lnSpc>
                        <a:spcAft>
                          <a:spcPts val="800"/>
                        </a:spcAf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.0000000+10000</a:t>
                      </a:r>
                    </a:p>
                  </a:txBody>
                  <a:tcPr marL="68580" marR="68580" marT="0" marB="0"/>
                </a:tc>
                <a:extLst>
                  <a:ext uri="{0D108BD9-81ED-4DB2-BD59-A6C34878D82A}">
                    <a16:rowId xmlns:a16="http://schemas.microsoft.com/office/drawing/2014/main" val="224259448"/>
                  </a:ext>
                </a:extLst>
              </a:tr>
              <a:tr h="335119">
                <a:tc>
                  <a:txBody>
                    <a:bodyPr/>
                    <a:lstStyle/>
                    <a:p>
                      <a:r>
                        <a:rPr lang="en-US" sz="1600" b="1" dirty="0">
                          <a:latin typeface="Times New Roman" panose="02020603050405020304" pitchFamily="18" charset="0"/>
                          <a:cs typeface="Times New Roman" panose="02020603050405020304" pitchFamily="18" charset="0"/>
                        </a:rPr>
                        <a:t>5.</a:t>
                      </a:r>
                    </a:p>
                  </a:txBody>
                  <a:tcPr/>
                </a:tc>
                <a:tc>
                  <a:txBody>
                    <a:bodyPr/>
                    <a:lstStyle/>
                    <a:p>
                      <a:pPr>
                        <a:lnSpc>
                          <a:spcPct val="107000"/>
                        </a:lnSpc>
                        <a:spcAft>
                          <a:spcPts val="800"/>
                        </a:spcAf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0.007166806885109A</a:t>
                      </a:r>
                    </a:p>
                  </a:txBody>
                  <a:tcPr marL="68580" marR="68580" marT="0" marB="0">
                    <a:lnB w="12700" cmpd="sng">
                      <a:noFill/>
                    </a:lnB>
                  </a:tcPr>
                </a:tc>
                <a:tc>
                  <a:txBody>
                    <a:bodyPr/>
                    <a:lstStyle/>
                    <a:p>
                      <a:r>
                        <a:rPr lang="en-US" sz="1600" dirty="0">
                          <a:latin typeface="Times New Roman" panose="02020603050405020304" pitchFamily="18" charset="0"/>
                          <a:cs typeface="Times New Roman" panose="02020603050405020304" pitchFamily="18" charset="0"/>
                        </a:rPr>
                        <a:t>0.00000001110101011011</a:t>
                      </a:r>
                    </a:p>
                  </a:txBody>
                  <a:tcPr/>
                </a:tc>
                <a:tc>
                  <a:txBody>
                    <a:bodyPr/>
                    <a:lstStyle/>
                    <a:p>
                      <a:pPr>
                        <a:lnSpc>
                          <a:spcPct val="107000"/>
                        </a:lnSpc>
                        <a:spcAft>
                          <a:spcPts val="800"/>
                        </a:spcAf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.000000+100-10+1</a:t>
                      </a:r>
                    </a:p>
                  </a:txBody>
                  <a:tcPr marL="68580" marR="68580" marT="0" marB="0"/>
                </a:tc>
                <a:extLst>
                  <a:ext uri="{0D108BD9-81ED-4DB2-BD59-A6C34878D82A}">
                    <a16:rowId xmlns:a16="http://schemas.microsoft.com/office/drawing/2014/main" val="1790642058"/>
                  </a:ext>
                </a:extLst>
              </a:tr>
              <a:tr h="335119">
                <a:tc>
                  <a:txBody>
                    <a:bodyPr/>
                    <a:lstStyle/>
                    <a:p>
                      <a:r>
                        <a:rPr lang="en-US" sz="1600" b="1" dirty="0">
                          <a:latin typeface="Times New Roman" panose="02020603050405020304" pitchFamily="18" charset="0"/>
                          <a:cs typeface="Times New Roman" panose="02020603050405020304" pitchFamily="18" charset="0"/>
                        </a:rPr>
                        <a:t>6.</a:t>
                      </a:r>
                    </a:p>
                  </a:txBody>
                  <a:tcPr>
                    <a:lnR w="12700" cmpd="sng">
                      <a:noFill/>
                    </a:lnR>
                  </a:tcPr>
                </a:tc>
                <a:tc>
                  <a:txBody>
                    <a:bodyPr/>
                    <a:lstStyle/>
                    <a:p>
                      <a:pPr>
                        <a:lnSpc>
                          <a:spcPct val="107000"/>
                        </a:lnSpc>
                        <a:spcAft>
                          <a:spcPts val="800"/>
                        </a:spcAf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0.008600168262131</a:t>
                      </a: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600" dirty="0">
                          <a:latin typeface="Times New Roman" panose="02020603050405020304" pitchFamily="18" charset="0"/>
                          <a:cs typeface="Times New Roman" panose="02020603050405020304" pitchFamily="18" charset="0"/>
                        </a:rPr>
                        <a:t>0.0000001000110011101</a:t>
                      </a:r>
                    </a:p>
                  </a:txBody>
                  <a:tcPr>
                    <a:lnL w="12700" cmpd="sng">
                      <a:noFill/>
                    </a:lnL>
                  </a:tcPr>
                </a:tc>
                <a:tc>
                  <a:txBody>
                    <a:bodyPr/>
                    <a:lstStyle/>
                    <a:p>
                      <a:pPr>
                        <a:lnSpc>
                          <a:spcPct val="107000"/>
                        </a:lnSpc>
                        <a:spcAft>
                          <a:spcPts val="800"/>
                        </a:spcAf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.000000+100+10-1</a:t>
                      </a:r>
                    </a:p>
                  </a:txBody>
                  <a:tcPr marL="68580" marR="68580" marT="0" marB="0"/>
                </a:tc>
                <a:extLst>
                  <a:ext uri="{0D108BD9-81ED-4DB2-BD59-A6C34878D82A}">
                    <a16:rowId xmlns:a16="http://schemas.microsoft.com/office/drawing/2014/main" val="1183673152"/>
                  </a:ext>
                </a:extLst>
              </a:tr>
              <a:tr h="335119">
                <a:tc>
                  <a:txBody>
                    <a:bodyPr/>
                    <a:lstStyle/>
                    <a:p>
                      <a:r>
                        <a:rPr lang="en-US" sz="1600" b="1" dirty="0">
                          <a:latin typeface="Times New Roman" panose="02020603050405020304" pitchFamily="18" charset="0"/>
                          <a:cs typeface="Times New Roman" panose="02020603050405020304" pitchFamily="18" charset="0"/>
                        </a:rPr>
                        <a:t>7.</a:t>
                      </a:r>
                    </a:p>
                  </a:txBody>
                  <a:tcPr>
                    <a:lnR w="12700" cmpd="sng">
                      <a:noFill/>
                    </a:lnR>
                  </a:tcPr>
                </a:tc>
                <a:tc>
                  <a:txBody>
                    <a:bodyPr/>
                    <a:lstStyle/>
                    <a:p>
                      <a:pPr>
                        <a:lnSpc>
                          <a:spcPct val="107000"/>
                        </a:lnSpc>
                        <a:spcAft>
                          <a:spcPts val="800"/>
                        </a:spcAf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0.007166806885109</a:t>
                      </a: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600" dirty="0">
                          <a:latin typeface="Times New Roman" panose="02020603050405020304" pitchFamily="18" charset="0"/>
                          <a:cs typeface="Times New Roman" panose="02020603050405020304" pitchFamily="18" charset="0"/>
                        </a:rPr>
                        <a:t>0.00000001110101011011</a:t>
                      </a:r>
                    </a:p>
                  </a:txBody>
                  <a:tcPr>
                    <a:lnL w="12700" cmpd="sng">
                      <a:noFill/>
                    </a:lnL>
                  </a:tcPr>
                </a:tc>
                <a:tc>
                  <a:txBody>
                    <a:bodyPr/>
                    <a:lstStyle/>
                    <a:p>
                      <a:pPr>
                        <a:lnSpc>
                          <a:spcPct val="107000"/>
                        </a:lnSpc>
                        <a:spcAft>
                          <a:spcPts val="800"/>
                        </a:spcAf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.000000+100-10+1</a:t>
                      </a:r>
                    </a:p>
                  </a:txBody>
                  <a:tcPr marL="68580" marR="68580" marT="0" marB="0"/>
                </a:tc>
                <a:extLst>
                  <a:ext uri="{0D108BD9-81ED-4DB2-BD59-A6C34878D82A}">
                    <a16:rowId xmlns:a16="http://schemas.microsoft.com/office/drawing/2014/main" val="1587892769"/>
                  </a:ext>
                </a:extLst>
              </a:tr>
              <a:tr h="335119">
                <a:tc>
                  <a:txBody>
                    <a:bodyPr/>
                    <a:lstStyle/>
                    <a:p>
                      <a:r>
                        <a:rPr lang="en-US" sz="1600" b="1" dirty="0">
                          <a:latin typeface="Times New Roman" panose="02020603050405020304" pitchFamily="18" charset="0"/>
                          <a:cs typeface="Times New Roman" panose="02020603050405020304" pitchFamily="18" charset="0"/>
                        </a:rPr>
                        <a:t>8.</a:t>
                      </a:r>
                    </a:p>
                  </a:txBody>
                  <a:tcPr>
                    <a:lnR w="12700" cmpd="sng">
                      <a:noFill/>
                    </a:lnR>
                  </a:tcPr>
                </a:tc>
                <a:tc>
                  <a:txBody>
                    <a:bodyPr/>
                    <a:lstStyle/>
                    <a:p>
                      <a:pPr>
                        <a:lnSpc>
                          <a:spcPct val="107000"/>
                        </a:lnSpc>
                        <a:spcAft>
                          <a:spcPts val="800"/>
                        </a:spcAf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0.004095318220062</a:t>
                      </a: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600" dirty="0">
                          <a:latin typeface="Times New Roman" panose="02020603050405020304" pitchFamily="18" charset="0"/>
                          <a:cs typeface="Times New Roman" panose="02020603050405020304" pitchFamily="18" charset="0"/>
                        </a:rPr>
                        <a:t>0.0000000100001100011</a:t>
                      </a:r>
                    </a:p>
                  </a:txBody>
                  <a:tcPr>
                    <a:lnL w="12700" cmpd="sng">
                      <a:noFill/>
                    </a:lnL>
                  </a:tcPr>
                </a:tc>
                <a:tc>
                  <a:txBody>
                    <a:bodyPr/>
                    <a:lstStyle/>
                    <a:p>
                      <a:pPr>
                        <a:lnSpc>
                          <a:spcPct val="107000"/>
                        </a:lnSpc>
                        <a:spcAft>
                          <a:spcPts val="800"/>
                        </a:spcAf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.0000000+10000</a:t>
                      </a:r>
                    </a:p>
                  </a:txBody>
                  <a:tcPr marL="68580" marR="68580" marT="0" marB="0"/>
                </a:tc>
                <a:extLst>
                  <a:ext uri="{0D108BD9-81ED-4DB2-BD59-A6C34878D82A}">
                    <a16:rowId xmlns:a16="http://schemas.microsoft.com/office/drawing/2014/main" val="2167653643"/>
                  </a:ext>
                </a:extLst>
              </a:tr>
              <a:tr h="335119">
                <a:tc>
                  <a:txBody>
                    <a:bodyPr/>
                    <a:lstStyle/>
                    <a:p>
                      <a:r>
                        <a:rPr lang="en-US" sz="1600" b="1" dirty="0">
                          <a:latin typeface="Times New Roman" panose="02020603050405020304" pitchFamily="18" charset="0"/>
                          <a:cs typeface="Times New Roman" panose="02020603050405020304" pitchFamily="18" charset="0"/>
                        </a:rPr>
                        <a:t>9.</a:t>
                      </a:r>
                    </a:p>
                  </a:txBody>
                  <a:tcPr>
                    <a:lnR w="12700" cmpd="sng">
                      <a:noFill/>
                    </a:lnR>
                  </a:tcPr>
                </a:tc>
                <a:tc>
                  <a:txBody>
                    <a:bodyPr/>
                    <a:lstStyle/>
                    <a:p>
                      <a:pPr>
                        <a:lnSpc>
                          <a:spcPct val="107000"/>
                        </a:lnSpc>
                        <a:spcAft>
                          <a:spcPts val="800"/>
                        </a:spcAf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0.001535744332523   </a:t>
                      </a: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600" dirty="0">
                          <a:latin typeface="Times New Roman" panose="02020603050405020304" pitchFamily="18" charset="0"/>
                          <a:cs typeface="Times New Roman" panose="02020603050405020304" pitchFamily="18" charset="0"/>
                        </a:rPr>
                        <a:t>0.0000000001100100101</a:t>
                      </a:r>
                    </a:p>
                  </a:txBody>
                  <a:tcPr>
                    <a:lnL w="12700" cmpd="sng">
                      <a:noFill/>
                    </a:lnL>
                  </a:tcPr>
                </a:tc>
                <a:tc>
                  <a:txBody>
                    <a:bodyPr/>
                    <a:lstStyle/>
                    <a:p>
                      <a:pPr>
                        <a:lnSpc>
                          <a:spcPct val="107000"/>
                        </a:lnSpc>
                        <a:spcAft>
                          <a:spcPts val="800"/>
                        </a:spcAf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.00000000+10-10</a:t>
                      </a:r>
                    </a:p>
                  </a:txBody>
                  <a:tcPr marL="68580" marR="68580" marT="0" marB="0"/>
                </a:tc>
                <a:extLst>
                  <a:ext uri="{0D108BD9-81ED-4DB2-BD59-A6C34878D82A}">
                    <a16:rowId xmlns:a16="http://schemas.microsoft.com/office/drawing/2014/main" val="2468860992"/>
                  </a:ext>
                </a:extLst>
              </a:tr>
              <a:tr h="335119">
                <a:tc>
                  <a:txBody>
                    <a:bodyPr/>
                    <a:lstStyle/>
                    <a:p>
                      <a:r>
                        <a:rPr lang="en-US" sz="1600" b="1" dirty="0">
                          <a:latin typeface="Times New Roman" panose="02020603050405020304" pitchFamily="18" charset="0"/>
                          <a:cs typeface="Times New Roman" panose="02020603050405020304" pitchFamily="18" charset="0"/>
                        </a:rPr>
                        <a:t>10.</a:t>
                      </a:r>
                    </a:p>
                  </a:txBody>
                  <a:tcPr>
                    <a:lnR w="12700" cmpd="sng">
                      <a:noFill/>
                    </a:lnR>
                  </a:tcPr>
                </a:tc>
                <a:tc>
                  <a:txBody>
                    <a:bodyPr/>
                    <a:lstStyle/>
                    <a:p>
                      <a:pPr>
                        <a:lnSpc>
                          <a:spcPct val="107000"/>
                        </a:lnSpc>
                        <a:spcAft>
                          <a:spcPts val="800"/>
                        </a:spcAf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0.000341276518339</a:t>
                      </a: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600" dirty="0">
                          <a:latin typeface="Times New Roman" panose="02020603050405020304" pitchFamily="18" charset="0"/>
                          <a:cs typeface="Times New Roman" panose="02020603050405020304" pitchFamily="18" charset="0"/>
                        </a:rPr>
                        <a:t>0.0000000000010110011</a:t>
                      </a:r>
                    </a:p>
                  </a:txBody>
                  <a:tcPr>
                    <a:lnL w="12700" cmpd="sng">
                      <a:noFill/>
                    </a:lnL>
                  </a:tcPr>
                </a:tc>
                <a:tc>
                  <a:txBody>
                    <a:bodyPr/>
                    <a:lstStyle/>
                    <a:p>
                      <a:pPr>
                        <a:lnSpc>
                          <a:spcPct val="107000"/>
                        </a:lnSpc>
                        <a:spcAft>
                          <a:spcPts val="800"/>
                        </a:spcAf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.00000000000+1</a:t>
                      </a:r>
                    </a:p>
                  </a:txBody>
                  <a:tcPr marL="68580" marR="68580" marT="0" marB="0"/>
                </a:tc>
                <a:extLst>
                  <a:ext uri="{0D108BD9-81ED-4DB2-BD59-A6C34878D82A}">
                    <a16:rowId xmlns:a16="http://schemas.microsoft.com/office/drawing/2014/main" val="1870604077"/>
                  </a:ext>
                </a:extLst>
              </a:tr>
              <a:tr h="335119">
                <a:tc>
                  <a:txBody>
                    <a:bodyPr/>
                    <a:lstStyle/>
                    <a:p>
                      <a:r>
                        <a:rPr lang="en-US" sz="1600" b="1" dirty="0">
                          <a:latin typeface="Times New Roman" panose="02020603050405020304" pitchFamily="18" charset="0"/>
                          <a:cs typeface="Times New Roman" panose="02020603050405020304" pitchFamily="18" charset="0"/>
                        </a:rPr>
                        <a:t>11.</a:t>
                      </a:r>
                    </a:p>
                  </a:txBody>
                  <a:tcPr>
                    <a:lnR w="12700" cmpd="sng">
                      <a:noFill/>
                    </a:lnR>
                  </a:tcPr>
                </a:tc>
                <a:tc>
                  <a:txBody>
                    <a:bodyPr/>
                    <a:lstStyle/>
                    <a:p>
                      <a:pPr>
                        <a:lnSpc>
                          <a:spcPct val="107000"/>
                        </a:lnSpc>
                        <a:spcAft>
                          <a:spcPts val="800"/>
                        </a:spcAf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0.00034127651834</a:t>
                      </a: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600" dirty="0">
                          <a:latin typeface="Times New Roman" panose="02020603050405020304" pitchFamily="18" charset="0"/>
                          <a:cs typeface="Times New Roman" panose="02020603050405020304" pitchFamily="18" charset="0"/>
                        </a:rPr>
                        <a:t>0.0000000000010110011</a:t>
                      </a:r>
                    </a:p>
                  </a:txBody>
                  <a:tcPr>
                    <a:lnL w="12700" cmpd="sng">
                      <a:noFill/>
                    </a:lnL>
                  </a:tcPr>
                </a:tc>
                <a:tc>
                  <a:txBody>
                    <a:bodyPr/>
                    <a:lstStyle/>
                    <a:p>
                      <a:pPr>
                        <a:lnSpc>
                          <a:spcPct val="107000"/>
                        </a:lnSpc>
                        <a:spcAft>
                          <a:spcPts val="800"/>
                        </a:spcAf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.00000000000+1</a:t>
                      </a:r>
                    </a:p>
                  </a:txBody>
                  <a:tcPr marL="68580" marR="68580" marT="0" marB="0"/>
                </a:tc>
                <a:extLst>
                  <a:ext uri="{0D108BD9-81ED-4DB2-BD59-A6C34878D82A}">
                    <a16:rowId xmlns:a16="http://schemas.microsoft.com/office/drawing/2014/main" val="2441807287"/>
                  </a:ext>
                </a:extLst>
              </a:tr>
              <a:tr h="586459">
                <a:tc>
                  <a:txBody>
                    <a:bodyPr/>
                    <a:lstStyle/>
                    <a:p>
                      <a:r>
                        <a:rPr lang="en-US" sz="1600" b="1">
                          <a:latin typeface="Times New Roman" panose="02020603050405020304" pitchFamily="18" charset="0"/>
                          <a:cs typeface="Times New Roman" panose="02020603050405020304" pitchFamily="18" charset="0"/>
                        </a:rPr>
                        <a:t>Total Multiplier</a:t>
                      </a:r>
                      <a:endParaRPr lang="en-US" sz="1600" b="1"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      </a:t>
                      </a:r>
                    </a:p>
                  </a:txBody>
                  <a:tcPr>
                    <a:lnT w="12700" cmpd="sng">
                      <a:noFill/>
                    </a:lnT>
                  </a:tcPr>
                </a:tc>
                <a:tc>
                  <a:txBody>
                    <a:bodyPr/>
                    <a:lstStyle/>
                    <a:p>
                      <a:r>
                        <a:rPr lang="en-US" sz="1800" b="1" dirty="0">
                          <a:latin typeface="Times New Roman" panose="02020603050405020304" pitchFamily="18" charset="0"/>
                          <a:cs typeface="Times New Roman" panose="02020603050405020304" pitchFamily="18" charset="0"/>
                        </a:rPr>
                        <a:t>       72</a:t>
                      </a:r>
                    </a:p>
                  </a:txBody>
                  <a:tcPr/>
                </a:tc>
                <a:tc>
                  <a:txBody>
                    <a:bodyPr/>
                    <a:lstStyle/>
                    <a:p>
                      <a:r>
                        <a:rPr lang="en-US" sz="16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22</a:t>
                      </a:r>
                    </a:p>
                  </a:txBody>
                  <a:tcPr/>
                </a:tc>
                <a:extLst>
                  <a:ext uri="{0D108BD9-81ED-4DB2-BD59-A6C34878D82A}">
                    <a16:rowId xmlns:a16="http://schemas.microsoft.com/office/drawing/2014/main" val="1659492791"/>
                  </a:ext>
                </a:extLst>
              </a:tr>
            </a:tbl>
          </a:graphicData>
        </a:graphic>
      </p:graphicFrame>
      <p:sp>
        <p:nvSpPr>
          <p:cNvPr id="9" name="TextBox 8">
            <a:extLst>
              <a:ext uri="{FF2B5EF4-FFF2-40B4-BE49-F238E27FC236}">
                <a16:creationId xmlns:a16="http://schemas.microsoft.com/office/drawing/2014/main" id="{B69DC697-5CB5-4ACC-BA56-D3805A37EC4F}"/>
              </a:ext>
            </a:extLst>
          </p:cNvPr>
          <p:cNvSpPr txBox="1"/>
          <p:nvPr/>
        </p:nvSpPr>
        <p:spPr>
          <a:xfrm>
            <a:off x="2480603" y="406518"/>
            <a:ext cx="7230794" cy="707886"/>
          </a:xfrm>
          <a:prstGeom prst="rect">
            <a:avLst/>
          </a:prstGeom>
          <a:noFill/>
        </p:spPr>
        <p:txBody>
          <a:bodyPr wrap="square" rtlCol="0">
            <a:spAutoFit/>
          </a:bodyPr>
          <a:lstStyle/>
          <a:p>
            <a:pPr algn="ctr"/>
            <a:r>
              <a:rPr lang="en-US" sz="4000" dirty="0">
                <a:solidFill>
                  <a:srgbClr val="FF0000"/>
                </a:solidFill>
                <a:latin typeface="Times New Roman" panose="02020603050405020304" pitchFamily="18" charset="0"/>
                <a:cs typeface="Times New Roman" panose="02020603050405020304" pitchFamily="18" charset="0"/>
              </a:rPr>
              <a:t>WHY CSD?</a:t>
            </a:r>
          </a:p>
        </p:txBody>
      </p:sp>
    </p:spTree>
    <p:extLst>
      <p:ext uri="{BB962C8B-B14F-4D97-AF65-F5344CB8AC3E}">
        <p14:creationId xmlns:p14="http://schemas.microsoft.com/office/powerpoint/2010/main" val="1101959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6AE7B-581B-4990-A55E-A28FD9FFADF8}"/>
              </a:ext>
            </a:extLst>
          </p:cNvPr>
          <p:cNvSpPr>
            <a:spLocks noGrp="1"/>
          </p:cNvSpPr>
          <p:nvPr>
            <p:ph type="title"/>
          </p:nvPr>
        </p:nvSpPr>
        <p:spPr>
          <a:xfrm>
            <a:off x="838200" y="97679"/>
            <a:ext cx="10515600" cy="1325563"/>
          </a:xfrm>
        </p:spPr>
        <p:txBody>
          <a:bodyPr>
            <a:normAutofit/>
          </a:bodyPr>
          <a:lstStyle/>
          <a:p>
            <a:pPr algn="ctr"/>
            <a:r>
              <a:rPr lang="en-US" sz="4000" dirty="0">
                <a:solidFill>
                  <a:srgbClr val="FF0000"/>
                </a:solidFill>
                <a:latin typeface="Times New Roman" panose="02020603050405020304" pitchFamily="18" charset="0"/>
                <a:cs typeface="Times New Roman" panose="02020603050405020304" pitchFamily="18" charset="0"/>
              </a:rPr>
              <a:t>FILTER ARCHITECTURE USING CSD</a:t>
            </a:r>
          </a:p>
        </p:txBody>
      </p:sp>
      <p:pic>
        <p:nvPicPr>
          <p:cNvPr id="7" name="Picture 2">
            <a:extLst>
              <a:ext uri="{FF2B5EF4-FFF2-40B4-BE49-F238E27FC236}">
                <a16:creationId xmlns:a16="http://schemas.microsoft.com/office/drawing/2014/main" id="{DE0B734F-439A-46A4-834B-DC26B6AEE1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750703" cy="152092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1C0BFEB7-CBEF-21FF-7B4C-F9D3279E43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11942" y="1627655"/>
            <a:ext cx="9576766" cy="3820382"/>
          </a:xfrm>
          <a:prstGeom prst="rect">
            <a:avLst/>
          </a:prstGeom>
        </p:spPr>
      </p:pic>
      <p:sp>
        <p:nvSpPr>
          <p:cNvPr id="10" name="TextBox 9">
            <a:extLst>
              <a:ext uri="{FF2B5EF4-FFF2-40B4-BE49-F238E27FC236}">
                <a16:creationId xmlns:a16="http://schemas.microsoft.com/office/drawing/2014/main" id="{240F4B76-3C78-06CD-431A-4BE2D1E736D8}"/>
              </a:ext>
            </a:extLst>
          </p:cNvPr>
          <p:cNvSpPr txBox="1"/>
          <p:nvPr/>
        </p:nvSpPr>
        <p:spPr>
          <a:xfrm>
            <a:off x="2580237" y="5634344"/>
            <a:ext cx="8030424" cy="338554"/>
          </a:xfrm>
          <a:prstGeom prst="rect">
            <a:avLst/>
          </a:prstGeom>
          <a:noFill/>
        </p:spPr>
        <p:txBody>
          <a:bodyPr wrap="square">
            <a:spAutoFit/>
          </a:bodyPr>
          <a:lstStyle/>
          <a:p>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Fig: </a:t>
            </a:r>
            <a:r>
              <a:rPr lang="en-IN" sz="1600" b="1" dirty="0">
                <a:latin typeface="Times New Roman" panose="02020603050405020304" pitchFamily="18" charset="0"/>
                <a:cs typeface="Times New Roman" panose="02020603050405020304" pitchFamily="18" charset="0"/>
              </a:rPr>
              <a:t>The architecture of 2D FIR filter in the fully direct form using CSD coefficients</a:t>
            </a:r>
          </a:p>
        </p:txBody>
      </p:sp>
    </p:spTree>
    <p:extLst>
      <p:ext uri="{BB962C8B-B14F-4D97-AF65-F5344CB8AC3E}">
        <p14:creationId xmlns:p14="http://schemas.microsoft.com/office/powerpoint/2010/main" val="31374008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EBEAA3F-F165-449F-B736-6BC243717261}"/>
              </a:ext>
            </a:extLst>
          </p:cNvPr>
          <p:cNvSpPr>
            <a:spLocks noGrp="1"/>
          </p:cNvSpPr>
          <p:nvPr>
            <p:ph type="title"/>
          </p:nvPr>
        </p:nvSpPr>
        <p:spPr>
          <a:xfrm>
            <a:off x="1119554" y="195360"/>
            <a:ext cx="10515600" cy="1325563"/>
          </a:xfrm>
        </p:spPr>
        <p:txBody>
          <a:bodyPr/>
          <a:lstStyle/>
          <a:p>
            <a:pPr algn="ctr"/>
            <a:r>
              <a:rPr lang="en-US" dirty="0">
                <a:solidFill>
                  <a:srgbClr val="FF0000"/>
                </a:solidFill>
                <a:latin typeface="+mn-lt"/>
              </a:rPr>
              <a:t>ROW FILTER-1 CSD CODE</a:t>
            </a:r>
          </a:p>
        </p:txBody>
      </p:sp>
      <p:pic>
        <p:nvPicPr>
          <p:cNvPr id="5" name="Picture 2">
            <a:extLst>
              <a:ext uri="{FF2B5EF4-FFF2-40B4-BE49-F238E27FC236}">
                <a16:creationId xmlns:a16="http://schemas.microsoft.com/office/drawing/2014/main" id="{2906E85D-C4C9-461A-AAA4-8654A5849D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750703" cy="152092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Table 7">
            <a:extLst>
              <a:ext uri="{FF2B5EF4-FFF2-40B4-BE49-F238E27FC236}">
                <a16:creationId xmlns:a16="http://schemas.microsoft.com/office/drawing/2014/main" id="{2DA199A1-62B6-44F2-99C2-DD2D52BE40F8}"/>
              </a:ext>
            </a:extLst>
          </p:cNvPr>
          <p:cNvGraphicFramePr>
            <a:graphicFrameLocks noGrp="1"/>
          </p:cNvGraphicFramePr>
          <p:nvPr>
            <p:extLst>
              <p:ext uri="{D42A27DB-BD31-4B8C-83A1-F6EECF244321}">
                <p14:modId xmlns:p14="http://schemas.microsoft.com/office/powerpoint/2010/main" val="2347615190"/>
              </p:ext>
            </p:extLst>
          </p:nvPr>
        </p:nvGraphicFramePr>
        <p:xfrm>
          <a:off x="2408222" y="1995683"/>
          <a:ext cx="6473227" cy="3321723"/>
        </p:xfrm>
        <a:graphic>
          <a:graphicData uri="http://schemas.openxmlformats.org/drawingml/2006/table">
            <a:tbl>
              <a:tblPr firstRow="1" bandRow="1">
                <a:effectLst>
                  <a:outerShdw blurRad="50800" dist="38100" dir="5400000" algn="t" rotWithShape="0">
                    <a:prstClr val="black">
                      <a:alpha val="40000"/>
                    </a:prstClr>
                  </a:outerShdw>
                </a:effectLst>
                <a:tableStyleId>{073A0DAA-6AF3-43AB-8588-CEC1D06C72B9}</a:tableStyleId>
              </a:tblPr>
              <a:tblGrid>
                <a:gridCol w="1713627">
                  <a:extLst>
                    <a:ext uri="{9D8B030D-6E8A-4147-A177-3AD203B41FA5}">
                      <a16:colId xmlns:a16="http://schemas.microsoft.com/office/drawing/2014/main" val="847645232"/>
                    </a:ext>
                  </a:extLst>
                </a:gridCol>
                <a:gridCol w="2379800">
                  <a:extLst>
                    <a:ext uri="{9D8B030D-6E8A-4147-A177-3AD203B41FA5}">
                      <a16:colId xmlns:a16="http://schemas.microsoft.com/office/drawing/2014/main" val="2784531723"/>
                    </a:ext>
                  </a:extLst>
                </a:gridCol>
                <a:gridCol w="2379800">
                  <a:extLst>
                    <a:ext uri="{9D8B030D-6E8A-4147-A177-3AD203B41FA5}">
                      <a16:colId xmlns:a16="http://schemas.microsoft.com/office/drawing/2014/main" val="3233611955"/>
                    </a:ext>
                  </a:extLst>
                </a:gridCol>
              </a:tblGrid>
              <a:tr h="736809">
                <a:tc>
                  <a:txBody>
                    <a:bodyPr/>
                    <a:lstStyle/>
                    <a:p>
                      <a:endParaRPr lang="en-US" sz="2000" dirty="0"/>
                    </a:p>
                  </a:txBody>
                  <a:tcPr/>
                </a:tc>
                <a:tc>
                  <a:txBody>
                    <a:bodyPr/>
                    <a:lstStyle/>
                    <a:p>
                      <a:r>
                        <a:rPr lang="en-US" sz="2000" dirty="0"/>
                        <a:t>       Filter Coefficients</a:t>
                      </a:r>
                    </a:p>
                  </a:txBody>
                  <a:tcPr/>
                </a:tc>
                <a:tc>
                  <a:txBody>
                    <a:bodyPr/>
                    <a:lstStyle/>
                    <a:p>
                      <a:r>
                        <a:rPr lang="en-US" dirty="0"/>
                        <a:t>         </a:t>
                      </a:r>
                      <a:r>
                        <a:rPr lang="en-US" sz="2000" dirty="0"/>
                        <a:t>CSD Representation</a:t>
                      </a:r>
                    </a:p>
                  </a:txBody>
                  <a:tcPr/>
                </a:tc>
                <a:extLst>
                  <a:ext uri="{0D108BD9-81ED-4DB2-BD59-A6C34878D82A}">
                    <a16:rowId xmlns:a16="http://schemas.microsoft.com/office/drawing/2014/main" val="3975888384"/>
                  </a:ext>
                </a:extLst>
              </a:tr>
              <a:tr h="430819">
                <a:tc>
                  <a:txBody>
                    <a:bodyPr/>
                    <a:lstStyle/>
                    <a:p>
                      <a:pPr>
                        <a:lnSpc>
                          <a:spcPct val="107000"/>
                        </a:lnSpc>
                        <a:spcAft>
                          <a:spcPts val="800"/>
                        </a:spcAft>
                      </a:pPr>
                      <a:r>
                        <a:rPr lang="en-IN" sz="1800" b="0" kern="100" dirty="0">
                          <a:effectLst/>
                          <a:latin typeface="Calibri" panose="020F0502020204030204" pitchFamily="34" charset="0"/>
                          <a:ea typeface="Calibri" panose="020F0502020204030204" pitchFamily="34" charset="0"/>
                          <a:cs typeface="Times New Roman" panose="02020603050405020304" pitchFamily="18" charset="0"/>
                        </a:rPr>
                        <a:t>H(0, 0) =H(0, 10)</a:t>
                      </a:r>
                    </a:p>
                  </a:txBody>
                  <a:tcPr marL="68580" marR="68580" marT="0" marB="0"/>
                </a:tc>
                <a:tc>
                  <a:txBody>
                    <a:bodyPr/>
                    <a:lstStyle/>
                    <a:p>
                      <a:pPr>
                        <a:lnSpc>
                          <a:spcPct val="107000"/>
                        </a:lnSpc>
                        <a:spcAft>
                          <a:spcPts val="800"/>
                        </a:spcAft>
                      </a:pPr>
                      <a:r>
                        <a:rPr lang="en-IN" sz="1800" b="0" kern="100" dirty="0">
                          <a:effectLst/>
                          <a:latin typeface="Calibri" panose="020F0502020204030204" pitchFamily="34" charset="0"/>
                          <a:ea typeface="Calibri" panose="020F0502020204030204" pitchFamily="34" charset="0"/>
                          <a:cs typeface="Times New Roman" panose="02020603050405020304" pitchFamily="18" charset="0"/>
                        </a:rPr>
                        <a:t>0.000341276518339</a:t>
                      </a:r>
                    </a:p>
                  </a:txBody>
                  <a:tcPr marL="68580" marR="68580" marT="0" marB="0"/>
                </a:tc>
                <a:tc>
                  <a:txBody>
                    <a:bodyPr/>
                    <a:lstStyle/>
                    <a:p>
                      <a:pPr>
                        <a:lnSpc>
                          <a:spcPct val="107000"/>
                        </a:lnSpc>
                        <a:spcAft>
                          <a:spcPts val="800"/>
                        </a:spcAft>
                      </a:pPr>
                      <a:r>
                        <a:rPr lang="en-IN" sz="1800" b="0" kern="100" dirty="0">
                          <a:effectLst/>
                          <a:latin typeface="Calibri" panose="020F0502020204030204" pitchFamily="34" charset="0"/>
                          <a:ea typeface="Calibri" panose="020F0502020204030204" pitchFamily="34" charset="0"/>
                          <a:cs typeface="Times New Roman" panose="02020603050405020304" pitchFamily="18" charset="0"/>
                        </a:rPr>
                        <a:t>.00000000000+1</a:t>
                      </a:r>
                    </a:p>
                  </a:txBody>
                  <a:tcPr marL="68580" marR="68580" marT="0" marB="0"/>
                </a:tc>
                <a:extLst>
                  <a:ext uri="{0D108BD9-81ED-4DB2-BD59-A6C34878D82A}">
                    <a16:rowId xmlns:a16="http://schemas.microsoft.com/office/drawing/2014/main" val="2438862524"/>
                  </a:ext>
                </a:extLst>
              </a:tr>
              <a:tr h="430819">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IN" sz="18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H(0, 1) =H(0, 9)</a:t>
                      </a:r>
                    </a:p>
                  </a:txBody>
                  <a:tcPr marL="68580" marR="68580" marT="0" marB="0"/>
                </a:tc>
                <a:tc>
                  <a:txBody>
                    <a:bodyPr/>
                    <a:lstStyle/>
                    <a:p>
                      <a:pPr>
                        <a:lnSpc>
                          <a:spcPct val="107000"/>
                        </a:lnSpc>
                        <a:spcAft>
                          <a:spcPts val="800"/>
                        </a:spcAft>
                      </a:pPr>
                      <a:r>
                        <a:rPr lang="en-IN" sz="1800" b="0" kern="100" dirty="0">
                          <a:effectLst/>
                          <a:latin typeface="Calibri" panose="020F0502020204030204" pitchFamily="34" charset="0"/>
                          <a:ea typeface="Calibri" panose="020F0502020204030204" pitchFamily="34" charset="0"/>
                          <a:cs typeface="Times New Roman" panose="02020603050405020304" pitchFamily="18" charset="0"/>
                        </a:rPr>
                        <a:t>0.001831757040376</a:t>
                      </a:r>
                    </a:p>
                  </a:txBody>
                  <a:tcPr marL="68580" marR="68580" marT="0" marB="0"/>
                </a:tc>
                <a:tc>
                  <a:txBody>
                    <a:bodyPr/>
                    <a:lstStyle/>
                    <a:p>
                      <a:pPr>
                        <a:lnSpc>
                          <a:spcPct val="107000"/>
                        </a:lnSpc>
                        <a:spcAft>
                          <a:spcPts val="800"/>
                        </a:spcAft>
                      </a:pPr>
                      <a:r>
                        <a:rPr lang="en-IN" sz="1800" b="0" kern="100" dirty="0">
                          <a:effectLst/>
                          <a:latin typeface="Calibri" panose="020F0502020204030204" pitchFamily="34" charset="0"/>
                          <a:ea typeface="Calibri" panose="020F0502020204030204" pitchFamily="34" charset="0"/>
                          <a:cs typeface="Times New Roman" panose="02020603050405020304" pitchFamily="18" charset="0"/>
                        </a:rPr>
                        <a:t>.00000000+100-1</a:t>
                      </a:r>
                    </a:p>
                  </a:txBody>
                  <a:tcPr marL="68580" marR="68580" marT="0" marB="0"/>
                </a:tc>
                <a:extLst>
                  <a:ext uri="{0D108BD9-81ED-4DB2-BD59-A6C34878D82A}">
                    <a16:rowId xmlns:a16="http://schemas.microsoft.com/office/drawing/2014/main" val="2107859079"/>
                  </a:ext>
                </a:extLst>
              </a:tr>
              <a:tr h="430819">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IN" sz="18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H(0, 2) =H(0, 8)</a:t>
                      </a:r>
                    </a:p>
                  </a:txBody>
                  <a:tcPr marL="68580" marR="68580" marT="0" marB="0"/>
                </a:tc>
                <a:tc>
                  <a:txBody>
                    <a:bodyPr/>
                    <a:lstStyle/>
                    <a:p>
                      <a:pPr>
                        <a:lnSpc>
                          <a:spcPct val="107000"/>
                        </a:lnSpc>
                        <a:spcAft>
                          <a:spcPts val="800"/>
                        </a:spcAft>
                      </a:pPr>
                      <a:r>
                        <a:rPr lang="en-IN" sz="1800" b="0" kern="100" dirty="0">
                          <a:effectLst/>
                          <a:latin typeface="Calibri" panose="020F0502020204030204" pitchFamily="34" charset="0"/>
                          <a:ea typeface="Calibri" panose="020F0502020204030204" pitchFamily="34" charset="0"/>
                          <a:cs typeface="Times New Roman" panose="02020603050405020304" pitchFamily="18" charset="0"/>
                        </a:rPr>
                        <a:t>0.002709378181158</a:t>
                      </a:r>
                    </a:p>
                  </a:txBody>
                  <a:tcPr marL="68580" marR="68580" marT="0" marB="0"/>
                </a:tc>
                <a:tc>
                  <a:txBody>
                    <a:bodyPr/>
                    <a:lstStyle/>
                    <a:p>
                      <a:pPr>
                        <a:lnSpc>
                          <a:spcPct val="107000"/>
                        </a:lnSpc>
                        <a:spcAft>
                          <a:spcPts val="800"/>
                        </a:spcAft>
                      </a:pPr>
                      <a:r>
                        <a:rPr lang="en-IN" sz="1800" b="0" kern="100" dirty="0">
                          <a:effectLst/>
                          <a:latin typeface="Calibri" panose="020F0502020204030204" pitchFamily="34" charset="0"/>
                          <a:ea typeface="Calibri" panose="020F0502020204030204" pitchFamily="34" charset="0"/>
                          <a:cs typeface="Times New Roman" panose="02020603050405020304" pitchFamily="18" charset="0"/>
                        </a:rPr>
                        <a:t>.0000000+10-10-1</a:t>
                      </a:r>
                    </a:p>
                  </a:txBody>
                  <a:tcPr marL="68580" marR="68580" marT="0" marB="0"/>
                </a:tc>
                <a:extLst>
                  <a:ext uri="{0D108BD9-81ED-4DB2-BD59-A6C34878D82A}">
                    <a16:rowId xmlns:a16="http://schemas.microsoft.com/office/drawing/2014/main" val="2703293614"/>
                  </a:ext>
                </a:extLst>
              </a:tr>
              <a:tr h="430819">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IN" sz="18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H(0, 3) =H(0, 7)</a:t>
                      </a:r>
                    </a:p>
                  </a:txBody>
                  <a:tcPr marL="68580" marR="68580" marT="0" marB="0"/>
                </a:tc>
                <a:tc>
                  <a:txBody>
                    <a:bodyPr/>
                    <a:lstStyle/>
                    <a:p>
                      <a:pPr>
                        <a:lnSpc>
                          <a:spcPct val="107000"/>
                        </a:lnSpc>
                        <a:spcAft>
                          <a:spcPts val="800"/>
                        </a:spcAft>
                      </a:pPr>
                      <a:r>
                        <a:rPr lang="en-IN" sz="1800" b="0" kern="100" dirty="0">
                          <a:effectLst/>
                          <a:latin typeface="Calibri" panose="020F0502020204030204" pitchFamily="34" charset="0"/>
                          <a:ea typeface="Calibri" panose="020F0502020204030204" pitchFamily="34" charset="0"/>
                          <a:cs typeface="Times New Roman" panose="02020603050405020304" pitchFamily="18" charset="0"/>
                        </a:rPr>
                        <a:t>-0.003315045803642</a:t>
                      </a:r>
                    </a:p>
                  </a:txBody>
                  <a:tcPr marL="68580" marR="68580" marT="0" marB="0"/>
                </a:tc>
                <a:tc>
                  <a:txBody>
                    <a:bodyPr/>
                    <a:lstStyle/>
                    <a:p>
                      <a:pPr>
                        <a:lnSpc>
                          <a:spcPct val="107000"/>
                        </a:lnSpc>
                        <a:spcAft>
                          <a:spcPts val="800"/>
                        </a:spcAft>
                      </a:pPr>
                      <a:r>
                        <a:rPr lang="en-IN" sz="1800" b="0" kern="100" dirty="0">
                          <a:effectLst/>
                          <a:latin typeface="Calibri" panose="020F0502020204030204" pitchFamily="34" charset="0"/>
                          <a:ea typeface="Calibri" panose="020F0502020204030204" pitchFamily="34" charset="0"/>
                          <a:cs typeface="Times New Roman" panose="02020603050405020304" pitchFamily="18" charset="0"/>
                        </a:rPr>
                        <a:t>.0000000-10+10-1</a:t>
                      </a:r>
                    </a:p>
                  </a:txBody>
                  <a:tcPr marL="68580" marR="68580" marT="0" marB="0"/>
                </a:tc>
                <a:extLst>
                  <a:ext uri="{0D108BD9-81ED-4DB2-BD59-A6C34878D82A}">
                    <a16:rowId xmlns:a16="http://schemas.microsoft.com/office/drawing/2014/main" val="3776624642"/>
                  </a:ext>
                </a:extLst>
              </a:tr>
              <a:tr h="430819">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IN" sz="18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H(0, 4) =H(0, 6)</a:t>
                      </a:r>
                    </a:p>
                  </a:txBody>
                  <a:tcPr marL="68580" marR="68580" marT="0" marB="0"/>
                </a:tc>
                <a:tc>
                  <a:txBody>
                    <a:bodyPr/>
                    <a:lstStyle/>
                    <a:p>
                      <a:pPr>
                        <a:lnSpc>
                          <a:spcPct val="107000"/>
                        </a:lnSpc>
                        <a:spcAft>
                          <a:spcPts val="800"/>
                        </a:spcAft>
                      </a:pPr>
                      <a:r>
                        <a:rPr lang="en-IN" sz="1800" b="0" kern="100" dirty="0">
                          <a:effectLst/>
                          <a:latin typeface="Calibri" panose="020F0502020204030204" pitchFamily="34" charset="0"/>
                          <a:ea typeface="Calibri" panose="020F0502020204030204" pitchFamily="34" charset="0"/>
                          <a:cs typeface="Times New Roman" panose="02020603050405020304" pitchFamily="18" charset="0"/>
                        </a:rPr>
                        <a:t>-0.016868387157439</a:t>
                      </a:r>
                    </a:p>
                  </a:txBody>
                  <a:tcPr marL="68580" marR="68580" marT="0" marB="0"/>
                </a:tc>
                <a:tc>
                  <a:txBody>
                    <a:bodyPr/>
                    <a:lstStyle/>
                    <a:p>
                      <a:pPr>
                        <a:lnSpc>
                          <a:spcPct val="107000"/>
                        </a:lnSpc>
                        <a:spcAft>
                          <a:spcPts val="800"/>
                        </a:spcAft>
                      </a:pPr>
                      <a:r>
                        <a:rPr lang="en-IN" sz="1800" b="0" kern="100" dirty="0">
                          <a:effectLst/>
                          <a:latin typeface="Calibri" panose="020F0502020204030204" pitchFamily="34" charset="0"/>
                          <a:ea typeface="Calibri" panose="020F0502020204030204" pitchFamily="34" charset="0"/>
                          <a:cs typeface="Times New Roman" panose="02020603050405020304" pitchFamily="18" charset="0"/>
                        </a:rPr>
                        <a:t>.00000-1000-10-1</a:t>
                      </a:r>
                    </a:p>
                  </a:txBody>
                  <a:tcPr marL="68580" marR="68580" marT="0" marB="0"/>
                </a:tc>
                <a:extLst>
                  <a:ext uri="{0D108BD9-81ED-4DB2-BD59-A6C34878D82A}">
                    <a16:rowId xmlns:a16="http://schemas.microsoft.com/office/drawing/2014/main" val="994192595"/>
                  </a:ext>
                </a:extLst>
              </a:tr>
              <a:tr h="430819">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IN" sz="18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H(0, 5)</a:t>
                      </a:r>
                    </a:p>
                  </a:txBody>
                  <a:tcPr marL="68580" marR="68580" marT="0" marB="0"/>
                </a:tc>
                <a:tc>
                  <a:txBody>
                    <a:bodyPr/>
                    <a:lstStyle/>
                    <a:p>
                      <a:pPr>
                        <a:lnSpc>
                          <a:spcPct val="107000"/>
                        </a:lnSpc>
                        <a:spcAft>
                          <a:spcPts val="800"/>
                        </a:spcAft>
                      </a:pPr>
                      <a:r>
                        <a:rPr lang="en-IN" sz="1800" b="0" kern="100" dirty="0">
                          <a:effectLst/>
                          <a:latin typeface="Calibri" panose="020F0502020204030204" pitchFamily="34" charset="0"/>
                          <a:ea typeface="Calibri" panose="020F0502020204030204" pitchFamily="34" charset="0"/>
                          <a:cs typeface="Times New Roman" panose="02020603050405020304" pitchFamily="18" charset="0"/>
                        </a:rPr>
                        <a:t>-0.024668887389353</a:t>
                      </a:r>
                    </a:p>
                  </a:txBody>
                  <a:tcPr marL="68580" marR="68580" marT="0" marB="0"/>
                </a:tc>
                <a:tc>
                  <a:txBody>
                    <a:bodyPr/>
                    <a:lstStyle/>
                    <a:p>
                      <a:pPr>
                        <a:lnSpc>
                          <a:spcPct val="107000"/>
                        </a:lnSpc>
                        <a:spcAft>
                          <a:spcPts val="800"/>
                        </a:spcAft>
                      </a:pPr>
                      <a:r>
                        <a:rPr lang="en-IN" sz="1800" b="0" kern="100" dirty="0">
                          <a:effectLst/>
                          <a:latin typeface="Calibri" panose="020F0502020204030204" pitchFamily="34" charset="0"/>
                          <a:ea typeface="Calibri" panose="020F0502020204030204" pitchFamily="34" charset="0"/>
                          <a:cs typeface="Times New Roman" panose="02020603050405020304" pitchFamily="18" charset="0"/>
                        </a:rPr>
                        <a:t>.0000-10+100-10-1</a:t>
                      </a:r>
                    </a:p>
                  </a:txBody>
                  <a:tcPr marL="68580" marR="68580" marT="0" marB="0"/>
                </a:tc>
                <a:extLst>
                  <a:ext uri="{0D108BD9-81ED-4DB2-BD59-A6C34878D82A}">
                    <a16:rowId xmlns:a16="http://schemas.microsoft.com/office/drawing/2014/main" val="3966144645"/>
                  </a:ext>
                </a:extLst>
              </a:tr>
            </a:tbl>
          </a:graphicData>
        </a:graphic>
      </p:graphicFrame>
    </p:spTree>
    <p:extLst>
      <p:ext uri="{BB962C8B-B14F-4D97-AF65-F5344CB8AC3E}">
        <p14:creationId xmlns:p14="http://schemas.microsoft.com/office/powerpoint/2010/main" val="1459780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14271E-A5CA-9AC0-39F6-4D32007BC25F}"/>
              </a:ext>
            </a:extLst>
          </p:cNvPr>
          <p:cNvSpPr txBox="1"/>
          <p:nvPr/>
        </p:nvSpPr>
        <p:spPr>
          <a:xfrm>
            <a:off x="1192794" y="551481"/>
            <a:ext cx="10078769" cy="873572"/>
          </a:xfrm>
          <a:prstGeom prst="rect">
            <a:avLst/>
          </a:prstGeom>
          <a:noFill/>
        </p:spPr>
        <p:txBody>
          <a:bodyPr wrap="square">
            <a:spAutoFit/>
          </a:bodyPr>
          <a:lstStyle/>
          <a:p>
            <a:pPr>
              <a:lnSpc>
                <a:spcPct val="150000"/>
              </a:lnSpc>
              <a:tabLst>
                <a:tab pos="228600" algn="l"/>
                <a:tab pos="3204845" algn="ctr"/>
                <a:tab pos="5673090" algn="l"/>
              </a:tabLst>
            </a:pPr>
            <a:r>
              <a:rPr lang="en-US" sz="1800" dirty="0">
                <a:effectLst/>
                <a:latin typeface="Times New Roman" panose="02020603050405020304" pitchFamily="18" charset="0"/>
                <a:ea typeface="Times New Roman" panose="02020603050405020304" pitchFamily="18" charset="0"/>
              </a:rPr>
              <a:t> The FIR filter equations and architectures generated from the obtained filter coefficients following MATLAB simulation by giving the desired filter specifications are expressed </a:t>
            </a:r>
            <a:r>
              <a:rPr lang="en-US" dirty="0">
                <a:latin typeface="Times New Roman" panose="02020603050405020304" pitchFamily="18" charset="0"/>
                <a:ea typeface="Times New Roman" panose="02020603050405020304" pitchFamily="18" charset="0"/>
              </a:rPr>
              <a:t>below</a:t>
            </a:r>
            <a:r>
              <a:rPr lang="en-US" sz="1800" dirty="0">
                <a:effectLst/>
                <a:latin typeface="Times New Roman" panose="02020603050405020304" pitchFamily="18" charset="0"/>
                <a:ea typeface="Times New Roman" panose="02020603050405020304" pitchFamily="18" charset="0"/>
              </a:rPr>
              <a:t>.</a:t>
            </a:r>
            <a:endParaRPr lang="en-IN" sz="1200" dirty="0">
              <a:effectLst/>
              <a:latin typeface="Times New Roman" panose="02020603050405020304" pitchFamily="18" charset="0"/>
              <a:ea typeface="Times New Roman" panose="02020603050405020304" pitchFamily="18" charset="0"/>
            </a:endParaRPr>
          </a:p>
        </p:txBody>
      </p:sp>
      <p:sp>
        <p:nvSpPr>
          <p:cNvPr id="5" name="TextBox 4">
            <a:extLst>
              <a:ext uri="{FF2B5EF4-FFF2-40B4-BE49-F238E27FC236}">
                <a16:creationId xmlns:a16="http://schemas.microsoft.com/office/drawing/2014/main" id="{BBA4B5BE-19C9-9F88-353C-14E0B6E189AE}"/>
              </a:ext>
            </a:extLst>
          </p:cNvPr>
          <p:cNvSpPr txBox="1"/>
          <p:nvPr/>
        </p:nvSpPr>
        <p:spPr>
          <a:xfrm>
            <a:off x="1192793" y="1681309"/>
            <a:ext cx="9417867" cy="584775"/>
          </a:xfrm>
          <a:prstGeom prst="rect">
            <a:avLst/>
          </a:prstGeom>
          <a:noFill/>
        </p:spPr>
        <p:txBody>
          <a:bodyPr wrap="square">
            <a:spAutoFit/>
          </a:bodyPr>
          <a:lstStyle/>
          <a:p>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Row Filter 1</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 Y = [x+(x-10)]&gt;&gt;12  + [(x-1)+(x-9)]&gt;&gt;12 +[(x-2)+(x-8)]&gt;&gt;9 - [(x-2)+(x-8)]&gt;&gt;11+[(x-3)+(x-7)]&gt;&gt;8 +[(x-4)+(x-6)]&gt;&gt;7 –[(x-4)+(x-6)]&gt;&gt;10 +[(x-4)+(x-6)]&gt;&gt;12 +[(x-5)]&gt;&gt;7 +[(x-5)]&gt;&gt;10 -[(x-5)]&gt;&gt;12 </a:t>
            </a:r>
            <a:endParaRPr lang="en-IN" sz="16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136E2442-DFA2-EDF5-068D-9A6BB09F85D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51027" y="2439300"/>
            <a:ext cx="5274310" cy="3335020"/>
          </a:xfrm>
          <a:prstGeom prst="rect">
            <a:avLst/>
          </a:prstGeom>
          <a:noFill/>
          <a:ln>
            <a:noFill/>
          </a:ln>
        </p:spPr>
      </p:pic>
      <p:sp>
        <p:nvSpPr>
          <p:cNvPr id="8" name="TextBox 7">
            <a:extLst>
              <a:ext uri="{FF2B5EF4-FFF2-40B4-BE49-F238E27FC236}">
                <a16:creationId xmlns:a16="http://schemas.microsoft.com/office/drawing/2014/main" id="{A90D7024-4EE1-B2CF-CB3B-CABA60270275}"/>
              </a:ext>
            </a:extLst>
          </p:cNvPr>
          <p:cNvSpPr txBox="1"/>
          <p:nvPr/>
        </p:nvSpPr>
        <p:spPr>
          <a:xfrm>
            <a:off x="2090762" y="5947536"/>
            <a:ext cx="8282831" cy="417422"/>
          </a:xfrm>
          <a:prstGeom prst="rect">
            <a:avLst/>
          </a:prstGeom>
          <a:noFill/>
        </p:spPr>
        <p:txBody>
          <a:bodyPr wrap="square">
            <a:spAutoFit/>
          </a:bodyPr>
          <a:lstStyle/>
          <a:p>
            <a:pPr algn="ctr">
              <a:lnSpc>
                <a:spcPct val="150000"/>
              </a:lnSpc>
              <a:tabLst>
                <a:tab pos="228600" algn="l"/>
                <a:tab pos="457200" algn="l"/>
              </a:tabLst>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Fig: </a:t>
            </a:r>
            <a:r>
              <a:rPr lang="en-US" sz="1600" b="1" dirty="0">
                <a:effectLst/>
                <a:latin typeface="Times New Roman" panose="02020603050405020304" pitchFamily="18" charset="0"/>
                <a:ea typeface="Times New Roman" panose="02020603050405020304" pitchFamily="18" charset="0"/>
              </a:rPr>
              <a:t>Architecture of FIR filter in the direct form using CSD coefficients for row-filter 1</a:t>
            </a:r>
            <a:endParaRPr lang="en-IN" sz="11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5638695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DA34D5F-C8BE-1D12-E344-6009F11EE340}"/>
              </a:ext>
            </a:extLst>
          </p:cNvPr>
          <p:cNvPicPr>
            <a:picLocks noChangeAspect="1"/>
          </p:cNvPicPr>
          <p:nvPr/>
        </p:nvPicPr>
        <p:blipFill>
          <a:blip r:embed="rId2"/>
          <a:stretch>
            <a:fillRect/>
          </a:stretch>
        </p:blipFill>
        <p:spPr>
          <a:xfrm>
            <a:off x="593645" y="1721844"/>
            <a:ext cx="11004710" cy="3414312"/>
          </a:xfrm>
          <a:prstGeom prst="rect">
            <a:avLst/>
          </a:prstGeom>
        </p:spPr>
      </p:pic>
      <p:sp>
        <p:nvSpPr>
          <p:cNvPr id="5" name="TextBox 4">
            <a:extLst>
              <a:ext uri="{FF2B5EF4-FFF2-40B4-BE49-F238E27FC236}">
                <a16:creationId xmlns:a16="http://schemas.microsoft.com/office/drawing/2014/main" id="{1E711207-F237-168F-5472-029A04E36782}"/>
              </a:ext>
            </a:extLst>
          </p:cNvPr>
          <p:cNvSpPr txBox="1"/>
          <p:nvPr/>
        </p:nvSpPr>
        <p:spPr>
          <a:xfrm>
            <a:off x="2984249" y="4927445"/>
            <a:ext cx="6223502" cy="417422"/>
          </a:xfrm>
          <a:prstGeom prst="rect">
            <a:avLst/>
          </a:prstGeom>
          <a:noFill/>
        </p:spPr>
        <p:txBody>
          <a:bodyPr wrap="square">
            <a:spAutoFit/>
          </a:bodyPr>
          <a:lstStyle/>
          <a:p>
            <a:pPr indent="171450" algn="ctr">
              <a:lnSpc>
                <a:spcPct val="150000"/>
              </a:lnSpc>
              <a:tabLst>
                <a:tab pos="228600" algn="l"/>
                <a:tab pos="457200" algn="l"/>
              </a:tabLst>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Fig: </a:t>
            </a:r>
            <a:r>
              <a:rPr lang="en-US" sz="1600" b="1" dirty="0">
                <a:effectLst/>
                <a:latin typeface="Times New Roman" panose="02020603050405020304" pitchFamily="18" charset="0"/>
                <a:ea typeface="Times New Roman" panose="02020603050405020304" pitchFamily="18" charset="0"/>
              </a:rPr>
              <a:t>RTL Schematic of row filter 1</a:t>
            </a:r>
            <a:endParaRPr lang="en-IN" sz="1100"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FE81F1E6-2FCA-EF23-4435-77CEAE8FFCE5}"/>
              </a:ext>
            </a:extLst>
          </p:cNvPr>
          <p:cNvSpPr txBox="1"/>
          <p:nvPr/>
        </p:nvSpPr>
        <p:spPr>
          <a:xfrm>
            <a:off x="1888402" y="805247"/>
            <a:ext cx="9193040" cy="707886"/>
          </a:xfrm>
          <a:prstGeom prst="rect">
            <a:avLst/>
          </a:prstGeom>
          <a:noFill/>
        </p:spPr>
        <p:txBody>
          <a:bodyPr wrap="square">
            <a:spAutoFit/>
          </a:bodyPr>
          <a:lstStyle/>
          <a:p>
            <a:r>
              <a:rPr lang="en-IN" sz="4000" dirty="0">
                <a:solidFill>
                  <a:srgbClr val="FF0000"/>
                </a:solidFill>
                <a:latin typeface="Times New Roman" panose="02020603050405020304" pitchFamily="18" charset="0"/>
                <a:cs typeface="Times New Roman" panose="02020603050405020304" pitchFamily="18" charset="0"/>
              </a:rPr>
              <a:t>RTL SCHEMATICS OF ROW FILTERS</a:t>
            </a:r>
            <a:endParaRPr lang="en-IN" sz="4000" dirty="0">
              <a:solidFill>
                <a:srgbClr val="FF0000"/>
              </a:solidFill>
            </a:endParaRPr>
          </a:p>
        </p:txBody>
      </p:sp>
    </p:spTree>
    <p:extLst>
      <p:ext uri="{BB962C8B-B14F-4D97-AF65-F5344CB8AC3E}">
        <p14:creationId xmlns:p14="http://schemas.microsoft.com/office/powerpoint/2010/main" val="18171201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EBEAA3F-F165-449F-B736-6BC243717261}"/>
              </a:ext>
            </a:extLst>
          </p:cNvPr>
          <p:cNvSpPr>
            <a:spLocks noGrp="1"/>
          </p:cNvSpPr>
          <p:nvPr>
            <p:ph type="title"/>
          </p:nvPr>
        </p:nvSpPr>
        <p:spPr>
          <a:xfrm>
            <a:off x="1119554" y="195360"/>
            <a:ext cx="10515600" cy="1325563"/>
          </a:xfrm>
        </p:spPr>
        <p:txBody>
          <a:bodyPr/>
          <a:lstStyle/>
          <a:p>
            <a:pPr algn="ctr"/>
            <a:r>
              <a:rPr lang="en-US" dirty="0">
                <a:solidFill>
                  <a:srgbClr val="FF0000"/>
                </a:solidFill>
                <a:latin typeface="+mn-lt"/>
              </a:rPr>
              <a:t>ROW FILTER-2 CSD CODE</a:t>
            </a:r>
          </a:p>
        </p:txBody>
      </p:sp>
      <p:pic>
        <p:nvPicPr>
          <p:cNvPr id="5" name="Picture 2">
            <a:extLst>
              <a:ext uri="{FF2B5EF4-FFF2-40B4-BE49-F238E27FC236}">
                <a16:creationId xmlns:a16="http://schemas.microsoft.com/office/drawing/2014/main" id="{2906E85D-C4C9-461A-AAA4-8654A5849D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750703" cy="152092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7">
            <a:extLst>
              <a:ext uri="{FF2B5EF4-FFF2-40B4-BE49-F238E27FC236}">
                <a16:creationId xmlns:a16="http://schemas.microsoft.com/office/drawing/2014/main" id="{B6A8123C-EB82-B7BC-14AB-7F4300573CB1}"/>
              </a:ext>
            </a:extLst>
          </p:cNvPr>
          <p:cNvGraphicFramePr>
            <a:graphicFrameLocks noGrp="1"/>
          </p:cNvGraphicFramePr>
          <p:nvPr>
            <p:extLst>
              <p:ext uri="{D42A27DB-BD31-4B8C-83A1-F6EECF244321}">
                <p14:modId xmlns:p14="http://schemas.microsoft.com/office/powerpoint/2010/main" val="1328835326"/>
              </p:ext>
            </p:extLst>
          </p:nvPr>
        </p:nvGraphicFramePr>
        <p:xfrm>
          <a:off x="3140740" y="1931100"/>
          <a:ext cx="6473227" cy="3321723"/>
        </p:xfrm>
        <a:graphic>
          <a:graphicData uri="http://schemas.openxmlformats.org/drawingml/2006/table">
            <a:tbl>
              <a:tblPr firstRow="1" bandRow="1">
                <a:effectLst>
                  <a:outerShdw blurRad="50800" dist="38100" dir="5400000" algn="t" rotWithShape="0">
                    <a:prstClr val="black">
                      <a:alpha val="40000"/>
                    </a:prstClr>
                  </a:outerShdw>
                </a:effectLst>
                <a:tableStyleId>{073A0DAA-6AF3-43AB-8588-CEC1D06C72B9}</a:tableStyleId>
              </a:tblPr>
              <a:tblGrid>
                <a:gridCol w="1713627">
                  <a:extLst>
                    <a:ext uri="{9D8B030D-6E8A-4147-A177-3AD203B41FA5}">
                      <a16:colId xmlns:a16="http://schemas.microsoft.com/office/drawing/2014/main" val="847645232"/>
                    </a:ext>
                  </a:extLst>
                </a:gridCol>
                <a:gridCol w="2379800">
                  <a:extLst>
                    <a:ext uri="{9D8B030D-6E8A-4147-A177-3AD203B41FA5}">
                      <a16:colId xmlns:a16="http://schemas.microsoft.com/office/drawing/2014/main" val="2784531723"/>
                    </a:ext>
                  </a:extLst>
                </a:gridCol>
                <a:gridCol w="2379800">
                  <a:extLst>
                    <a:ext uri="{9D8B030D-6E8A-4147-A177-3AD203B41FA5}">
                      <a16:colId xmlns:a16="http://schemas.microsoft.com/office/drawing/2014/main" val="3233611955"/>
                    </a:ext>
                  </a:extLst>
                </a:gridCol>
              </a:tblGrid>
              <a:tr h="736809">
                <a:tc>
                  <a:txBody>
                    <a:bodyPr/>
                    <a:lstStyle/>
                    <a:p>
                      <a:endParaRPr lang="en-US" sz="2000" dirty="0"/>
                    </a:p>
                  </a:txBody>
                  <a:tcPr/>
                </a:tc>
                <a:tc>
                  <a:txBody>
                    <a:bodyPr/>
                    <a:lstStyle/>
                    <a:p>
                      <a:r>
                        <a:rPr lang="en-US" sz="2000" dirty="0"/>
                        <a:t>       Filter Coefficients</a:t>
                      </a:r>
                    </a:p>
                  </a:txBody>
                  <a:tcPr/>
                </a:tc>
                <a:tc>
                  <a:txBody>
                    <a:bodyPr/>
                    <a:lstStyle/>
                    <a:p>
                      <a:r>
                        <a:rPr lang="en-US" dirty="0"/>
                        <a:t>         </a:t>
                      </a:r>
                      <a:r>
                        <a:rPr lang="en-US" sz="2000" dirty="0"/>
                        <a:t>CSD Representation</a:t>
                      </a:r>
                    </a:p>
                  </a:txBody>
                  <a:tcPr/>
                </a:tc>
                <a:extLst>
                  <a:ext uri="{0D108BD9-81ED-4DB2-BD59-A6C34878D82A}">
                    <a16:rowId xmlns:a16="http://schemas.microsoft.com/office/drawing/2014/main" val="3975888384"/>
                  </a:ext>
                </a:extLst>
              </a:tr>
              <a:tr h="430819">
                <a:tc>
                  <a:txBody>
                    <a:bodyPr/>
                    <a:lstStyle/>
                    <a:p>
                      <a:pPr>
                        <a:lnSpc>
                          <a:spcPct val="107000"/>
                        </a:lnSpc>
                        <a:spcAft>
                          <a:spcPts val="800"/>
                        </a:spcAft>
                      </a:pPr>
                      <a:r>
                        <a:rPr lang="en-IN" sz="1800" b="0" kern="100" dirty="0">
                          <a:effectLst/>
                          <a:latin typeface="Calibri" panose="020F0502020204030204" pitchFamily="34" charset="0"/>
                          <a:ea typeface="Calibri" panose="020F0502020204030204" pitchFamily="34" charset="0"/>
                          <a:cs typeface="Times New Roman" panose="02020603050405020304" pitchFamily="18" charset="0"/>
                        </a:rPr>
                        <a:t>H(1, 0) =H(1, 10)</a:t>
                      </a:r>
                    </a:p>
                  </a:txBody>
                  <a:tcPr marL="68580" marR="68580" marT="0" marB="0"/>
                </a:tc>
                <a:tc>
                  <a:txBody>
                    <a:bodyPr/>
                    <a:lstStyle/>
                    <a:p>
                      <a:pPr>
                        <a:lnSpc>
                          <a:spcPct val="107000"/>
                        </a:lnSpc>
                        <a:spcAft>
                          <a:spcPts val="800"/>
                        </a:spcAft>
                      </a:pPr>
                      <a:r>
                        <a:rPr lang="en-IN" sz="1600" kern="100">
                          <a:effectLst/>
                          <a:latin typeface="Calibri" panose="020F0502020204030204" pitchFamily="34" charset="0"/>
                          <a:ea typeface="Calibri" panose="020F0502020204030204" pitchFamily="34" charset="0"/>
                          <a:cs typeface="Times New Roman" panose="02020603050405020304" pitchFamily="18" charset="0"/>
                        </a:rPr>
                        <a:t>0.000341276518339</a:t>
                      </a:r>
                    </a:p>
                  </a:txBody>
                  <a:tcPr marL="68580" marR="68580" marT="0" marB="0"/>
                </a:tc>
                <a:tc>
                  <a:txBody>
                    <a:bodyPr/>
                    <a:lstStyle/>
                    <a:p>
                      <a:pPr>
                        <a:lnSpc>
                          <a:spcPct val="107000"/>
                        </a:lnSpc>
                        <a:spcAft>
                          <a:spcPts val="800"/>
                        </a:spcAft>
                      </a:pPr>
                      <a:r>
                        <a:rPr lang="en-IN" sz="1600" kern="100">
                          <a:effectLst/>
                          <a:latin typeface="Calibri" panose="020F0502020204030204" pitchFamily="34" charset="0"/>
                          <a:ea typeface="Calibri" panose="020F0502020204030204" pitchFamily="34" charset="0"/>
                          <a:cs typeface="Times New Roman" panose="02020603050405020304" pitchFamily="18" charset="0"/>
                        </a:rPr>
                        <a:t>.00000000000+</a:t>
                      </a:r>
                    </a:p>
                  </a:txBody>
                  <a:tcPr marL="68580" marR="68580" marT="0" marB="0"/>
                </a:tc>
                <a:extLst>
                  <a:ext uri="{0D108BD9-81ED-4DB2-BD59-A6C34878D82A}">
                    <a16:rowId xmlns:a16="http://schemas.microsoft.com/office/drawing/2014/main" val="2438862524"/>
                  </a:ext>
                </a:extLst>
              </a:tr>
              <a:tr h="430819">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IN" sz="18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H(1, 1) =H(1, 9)</a:t>
                      </a:r>
                    </a:p>
                  </a:txBody>
                  <a:tcPr marL="68580" marR="68580" marT="0" marB="0"/>
                </a:tc>
                <a:tc>
                  <a:txBody>
                    <a:bodyPr/>
                    <a:lstStyle/>
                    <a:p>
                      <a:pPr>
                        <a:lnSpc>
                          <a:spcPct val="107000"/>
                        </a:lnSpc>
                        <a:spcAft>
                          <a:spcPts val="800"/>
                        </a:spcAft>
                      </a:pPr>
                      <a:r>
                        <a:rPr lang="en-IN" sz="1600" kern="100">
                          <a:effectLst/>
                          <a:latin typeface="Calibri" panose="020F0502020204030204" pitchFamily="34" charset="0"/>
                          <a:ea typeface="Calibri" panose="020F0502020204030204" pitchFamily="34" charset="0"/>
                          <a:cs typeface="Times New Roman" panose="02020603050405020304" pitchFamily="18" charset="0"/>
                        </a:rPr>
                        <a:t>0.001831757040376</a:t>
                      </a:r>
                    </a:p>
                  </a:txBody>
                  <a:tcPr marL="68580" marR="68580" marT="0" marB="0"/>
                </a:tc>
                <a:tc>
                  <a:txBody>
                    <a:bodyPr/>
                    <a:lstStyle/>
                    <a:p>
                      <a:pPr>
                        <a:lnSpc>
                          <a:spcPct val="107000"/>
                        </a:lnSpc>
                        <a:spcAft>
                          <a:spcPts val="800"/>
                        </a:spcAft>
                      </a:pPr>
                      <a:r>
                        <a:rPr lang="en-IN" sz="1600" kern="100">
                          <a:effectLst/>
                          <a:latin typeface="Calibri" panose="020F0502020204030204" pitchFamily="34" charset="0"/>
                          <a:ea typeface="Calibri" panose="020F0502020204030204" pitchFamily="34" charset="0"/>
                          <a:cs typeface="Times New Roman" panose="02020603050405020304" pitchFamily="18" charset="0"/>
                        </a:rPr>
                        <a:t>.00000000+00-</a:t>
                      </a:r>
                    </a:p>
                  </a:txBody>
                  <a:tcPr marL="68580" marR="68580" marT="0" marB="0"/>
                </a:tc>
                <a:extLst>
                  <a:ext uri="{0D108BD9-81ED-4DB2-BD59-A6C34878D82A}">
                    <a16:rowId xmlns:a16="http://schemas.microsoft.com/office/drawing/2014/main" val="2107859079"/>
                  </a:ext>
                </a:extLst>
              </a:tr>
              <a:tr h="430819">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IN" sz="18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H(1, 2) =H(1, 8)</a:t>
                      </a:r>
                    </a:p>
                  </a:txBody>
                  <a:tcPr marL="68580" marR="68580" marT="0" marB="0"/>
                </a:tc>
                <a:tc>
                  <a:txBody>
                    <a:bodyPr/>
                    <a:lstStyle/>
                    <a:p>
                      <a:pPr>
                        <a:lnSpc>
                          <a:spcPct val="107000"/>
                        </a:lnSpc>
                        <a:spcAft>
                          <a:spcPts val="800"/>
                        </a:spcAft>
                      </a:pPr>
                      <a:r>
                        <a:rPr lang="en-IN" sz="1600" kern="100">
                          <a:effectLst/>
                          <a:latin typeface="Calibri" panose="020F0502020204030204" pitchFamily="34" charset="0"/>
                          <a:ea typeface="Calibri" panose="020F0502020204030204" pitchFamily="34" charset="0"/>
                          <a:cs typeface="Times New Roman" panose="02020603050405020304" pitchFamily="18" charset="0"/>
                        </a:rPr>
                        <a:t>0.002709378181158</a:t>
                      </a:r>
                    </a:p>
                  </a:txBody>
                  <a:tcPr marL="68580" marR="68580" marT="0" marB="0"/>
                </a:tc>
                <a:tc>
                  <a:txBody>
                    <a:bodyPr/>
                    <a:lstStyle/>
                    <a:p>
                      <a:pPr>
                        <a:lnSpc>
                          <a:spcPct val="107000"/>
                        </a:lnSpc>
                        <a:spcAft>
                          <a:spcPts val="800"/>
                        </a:spcAft>
                      </a:pPr>
                      <a:r>
                        <a:rPr lang="en-IN" sz="1600" kern="100">
                          <a:effectLst/>
                          <a:latin typeface="Calibri" panose="020F0502020204030204" pitchFamily="34" charset="0"/>
                          <a:ea typeface="Calibri" panose="020F0502020204030204" pitchFamily="34" charset="0"/>
                          <a:cs typeface="Times New Roman" panose="02020603050405020304" pitchFamily="18" charset="0"/>
                        </a:rPr>
                        <a:t>.0000000+0-0-</a:t>
                      </a:r>
                    </a:p>
                  </a:txBody>
                  <a:tcPr marL="68580" marR="68580" marT="0" marB="0"/>
                </a:tc>
                <a:extLst>
                  <a:ext uri="{0D108BD9-81ED-4DB2-BD59-A6C34878D82A}">
                    <a16:rowId xmlns:a16="http://schemas.microsoft.com/office/drawing/2014/main" val="2703293614"/>
                  </a:ext>
                </a:extLst>
              </a:tr>
              <a:tr h="430819">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IN" sz="18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H(1, 3) =H(1, 7)</a:t>
                      </a:r>
                    </a:p>
                  </a:txBody>
                  <a:tcPr marL="68580" marR="68580" marT="0" marB="0"/>
                </a:tc>
                <a:tc>
                  <a:txBody>
                    <a:bodyPr/>
                    <a:lstStyle/>
                    <a:p>
                      <a:pPr>
                        <a:lnSpc>
                          <a:spcPct val="107000"/>
                        </a:lnSpc>
                        <a:spcAft>
                          <a:spcPts val="800"/>
                        </a:spcAft>
                      </a:pPr>
                      <a:r>
                        <a:rPr lang="en-IN" sz="1600" kern="100">
                          <a:effectLst/>
                          <a:latin typeface="Calibri" panose="020F0502020204030204" pitchFamily="34" charset="0"/>
                          <a:ea typeface="Calibri" panose="020F0502020204030204" pitchFamily="34" charset="0"/>
                          <a:cs typeface="Times New Roman" panose="02020603050405020304" pitchFamily="18" charset="0"/>
                        </a:rPr>
                        <a:t>-0.003315045803642</a:t>
                      </a:r>
                    </a:p>
                  </a:txBody>
                  <a:tcPr marL="68580" marR="68580" marT="0" marB="0"/>
                </a:tc>
                <a:tc>
                  <a:txBody>
                    <a:bodyPr/>
                    <a:lstStyle/>
                    <a:p>
                      <a:pPr>
                        <a:lnSpc>
                          <a:spcPct val="107000"/>
                        </a:lnSpc>
                        <a:spcAft>
                          <a:spcPts val="800"/>
                        </a:spcAft>
                      </a:pPr>
                      <a:r>
                        <a:rPr lang="en-IN" sz="1600" kern="100">
                          <a:effectLst/>
                          <a:latin typeface="Calibri" panose="020F0502020204030204" pitchFamily="34" charset="0"/>
                          <a:ea typeface="Calibri" panose="020F0502020204030204" pitchFamily="34" charset="0"/>
                          <a:cs typeface="Times New Roman" panose="02020603050405020304" pitchFamily="18" charset="0"/>
                        </a:rPr>
                        <a:t>.0000000-0+0-</a:t>
                      </a:r>
                    </a:p>
                  </a:txBody>
                  <a:tcPr marL="68580" marR="68580" marT="0" marB="0"/>
                </a:tc>
                <a:extLst>
                  <a:ext uri="{0D108BD9-81ED-4DB2-BD59-A6C34878D82A}">
                    <a16:rowId xmlns:a16="http://schemas.microsoft.com/office/drawing/2014/main" val="3776624642"/>
                  </a:ext>
                </a:extLst>
              </a:tr>
              <a:tr h="430819">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IN" sz="18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H(1, 4) =H(1, 6)</a:t>
                      </a:r>
                    </a:p>
                  </a:txBody>
                  <a:tcPr marL="68580" marR="68580" marT="0" marB="0"/>
                </a:tc>
                <a:tc>
                  <a:txBody>
                    <a:bodyPr/>
                    <a:lstStyle/>
                    <a:p>
                      <a:pPr>
                        <a:lnSpc>
                          <a:spcPct val="107000"/>
                        </a:lnSpc>
                        <a:spcAft>
                          <a:spcPts val="800"/>
                        </a:spcAft>
                      </a:pPr>
                      <a:r>
                        <a:rPr lang="en-IN" sz="1600" kern="100">
                          <a:effectLst/>
                          <a:latin typeface="Calibri" panose="020F0502020204030204" pitchFamily="34" charset="0"/>
                          <a:ea typeface="Calibri" panose="020F0502020204030204" pitchFamily="34" charset="0"/>
                          <a:cs typeface="Times New Roman" panose="02020603050405020304" pitchFamily="18" charset="0"/>
                        </a:rPr>
                        <a:t>-0.016868387157439</a:t>
                      </a:r>
                    </a:p>
                  </a:txBody>
                  <a:tcPr marL="68580" marR="68580" marT="0" marB="0"/>
                </a:tc>
                <a:tc>
                  <a:txBody>
                    <a:bodyPr/>
                    <a:lstStyle/>
                    <a:p>
                      <a:pPr>
                        <a:lnSpc>
                          <a:spcPct val="107000"/>
                        </a:lnSpc>
                        <a:spcAft>
                          <a:spcPts val="800"/>
                        </a:spcAft>
                      </a:pPr>
                      <a:r>
                        <a:rPr lang="en-IN" sz="1600" kern="100">
                          <a:effectLst/>
                          <a:latin typeface="Calibri" panose="020F0502020204030204" pitchFamily="34" charset="0"/>
                          <a:ea typeface="Calibri" panose="020F0502020204030204" pitchFamily="34" charset="0"/>
                          <a:cs typeface="Times New Roman" panose="02020603050405020304" pitchFamily="18" charset="0"/>
                        </a:rPr>
                        <a:t>.00000-000-0-</a:t>
                      </a:r>
                    </a:p>
                  </a:txBody>
                  <a:tcPr marL="68580" marR="68580" marT="0" marB="0"/>
                </a:tc>
                <a:extLst>
                  <a:ext uri="{0D108BD9-81ED-4DB2-BD59-A6C34878D82A}">
                    <a16:rowId xmlns:a16="http://schemas.microsoft.com/office/drawing/2014/main" val="994192595"/>
                  </a:ext>
                </a:extLst>
              </a:tr>
              <a:tr h="430819">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IN" sz="18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H(1, 5)</a:t>
                      </a:r>
                    </a:p>
                  </a:txBody>
                  <a:tcPr marL="68580" marR="68580" marT="0" marB="0"/>
                </a:tc>
                <a:tc>
                  <a:txBody>
                    <a:bodyPr/>
                    <a:lstStyle/>
                    <a:p>
                      <a:pPr>
                        <a:lnSpc>
                          <a:spcPct val="107000"/>
                        </a:lnSpc>
                        <a:spcAft>
                          <a:spcPts val="800"/>
                        </a:spcAft>
                      </a:pPr>
                      <a:r>
                        <a:rPr lang="en-IN" sz="1600" kern="100">
                          <a:effectLst/>
                          <a:latin typeface="Calibri" panose="020F0502020204030204" pitchFamily="34" charset="0"/>
                          <a:ea typeface="Calibri" panose="020F0502020204030204" pitchFamily="34" charset="0"/>
                          <a:cs typeface="Times New Roman" panose="02020603050405020304" pitchFamily="18" charset="0"/>
                        </a:rPr>
                        <a:t>-0.024668887389353</a:t>
                      </a:r>
                    </a:p>
                  </a:txBody>
                  <a:tcPr marL="68580" marR="68580" marT="0" marB="0"/>
                </a:tc>
                <a:tc>
                  <a:txBody>
                    <a:bodyPr/>
                    <a:lstStyle/>
                    <a:p>
                      <a:pPr>
                        <a:lnSpc>
                          <a:spcPct val="107000"/>
                        </a:lnSpc>
                        <a:spcAft>
                          <a:spcPts val="800"/>
                        </a:spcAf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.0000-0+00-0-</a:t>
                      </a:r>
                    </a:p>
                  </a:txBody>
                  <a:tcPr marL="68580" marR="68580" marT="0" marB="0"/>
                </a:tc>
                <a:extLst>
                  <a:ext uri="{0D108BD9-81ED-4DB2-BD59-A6C34878D82A}">
                    <a16:rowId xmlns:a16="http://schemas.microsoft.com/office/drawing/2014/main" val="3966144645"/>
                  </a:ext>
                </a:extLst>
              </a:tr>
            </a:tbl>
          </a:graphicData>
        </a:graphic>
      </p:graphicFrame>
    </p:spTree>
    <p:extLst>
      <p:ext uri="{BB962C8B-B14F-4D97-AF65-F5344CB8AC3E}">
        <p14:creationId xmlns:p14="http://schemas.microsoft.com/office/powerpoint/2010/main" val="20213435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27C44FCC-727A-7290-6911-D099BE4AD9E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95941" y="1861552"/>
            <a:ext cx="5453614" cy="37342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8E27F575-C44D-D645-8E6A-A778AC890855}"/>
              </a:ext>
            </a:extLst>
          </p:cNvPr>
          <p:cNvSpPr>
            <a:spLocks noChangeArrowheads="1"/>
          </p:cNvSpPr>
          <p:nvPr/>
        </p:nvSpPr>
        <p:spPr bwMode="auto">
          <a:xfrm>
            <a:off x="662457" y="5792845"/>
            <a:ext cx="1112058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1pPr>
            <a:lvl2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2pPr>
            <a:lvl3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3pPr>
            <a:lvl4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4pPr>
            <a:lvl5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5pPr>
            <a:lvl6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6pPr>
            <a:lvl7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7pPr>
            <a:lvl8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8pPr>
            <a:lvl9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tabLst>
                <a:tab pos="228600" algn="l"/>
                <a:tab pos="3205163" algn="ctr"/>
                <a:tab pos="5673725" algn="l"/>
              </a:tabLst>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Fig: </a:t>
            </a:r>
            <a:r>
              <a:rPr kumimoji="0" lang="en-US" altLang="en-US" sz="16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Architecture of FIR filter for row-filter 2</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Rectangle 2">
            <a:extLst>
              <a:ext uri="{FF2B5EF4-FFF2-40B4-BE49-F238E27FC236}">
                <a16:creationId xmlns:a16="http://schemas.microsoft.com/office/drawing/2014/main" id="{99181001-B4B3-451D-355C-17DA7F006F96}"/>
              </a:ext>
            </a:extLst>
          </p:cNvPr>
          <p:cNvSpPr>
            <a:spLocks noChangeArrowheads="1"/>
          </p:cNvSpPr>
          <p:nvPr/>
        </p:nvSpPr>
        <p:spPr bwMode="auto">
          <a:xfrm>
            <a:off x="1238816" y="556468"/>
            <a:ext cx="9714368"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28600" algn="l"/>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228600" algn="l"/>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228600" algn="l"/>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228600" algn="l"/>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228600" algn="l"/>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228600" algn="l"/>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228600" algn="l"/>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228600" algn="l"/>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228600" algn="l"/>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tabLst>
                <a:tab pos="228600" algn="l"/>
                <a:tab pos="457200" algn="l"/>
              </a:tabLst>
            </a:pPr>
            <a:r>
              <a:rPr kumimoji="0" lang="en-US" altLang="en-US" sz="16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Row Filter 2 </a:t>
            </a:r>
            <a:r>
              <a:rPr kumimoji="0" lang="en-US" altLang="en-US" sz="16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Y = [x+(x-10)]&gt;&gt;12  +[(x-1)+(x-9)]&gt;&gt;9 - [(x-1)+(x-9)]&gt;&gt;12 +[(x-2)+(x-8)]&gt;&gt;8 - [(x-2)+(x-8)]&gt;&gt;10-[(x-2)+(x-8)]&gt;&gt;12 - [(x-3)+(x-7)]&gt;&gt;8 + [(x-3)+(x-7)]&gt;&gt;10 - [(x-3)+(x-7)]&gt;&gt;12 - [(x-4)+(x-6)]&gt;&gt;6 –[(x-4)+(x-6)]&gt;&gt;10 - [(x-4)+(x-6)]&gt;&gt;12 - [(x-5)]&gt;&gt;5 +[(x-5)]&gt;&gt;7 -[(x-5)]&gt;&gt;10 -[(x-5)]&gt;&gt;12</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228600" algn="l"/>
                <a:tab pos="457200" algn="l"/>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390632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9ACEB47-DA18-86A9-0533-F1A01F7CD38F}"/>
              </a:ext>
            </a:extLst>
          </p:cNvPr>
          <p:cNvPicPr>
            <a:picLocks noChangeAspect="1"/>
          </p:cNvPicPr>
          <p:nvPr/>
        </p:nvPicPr>
        <p:blipFill rotWithShape="1">
          <a:blip r:embed="rId2"/>
          <a:srcRect t="12060"/>
          <a:stretch/>
        </p:blipFill>
        <p:spPr>
          <a:xfrm>
            <a:off x="894617" y="1183741"/>
            <a:ext cx="10746884" cy="2844623"/>
          </a:xfrm>
          <a:prstGeom prst="rect">
            <a:avLst/>
          </a:prstGeom>
        </p:spPr>
      </p:pic>
      <p:sp>
        <p:nvSpPr>
          <p:cNvPr id="3" name="TextBox 2">
            <a:extLst>
              <a:ext uri="{FF2B5EF4-FFF2-40B4-BE49-F238E27FC236}">
                <a16:creationId xmlns:a16="http://schemas.microsoft.com/office/drawing/2014/main" id="{F5BB42A3-2FCA-54C2-7AF9-0744F13A3C9F}"/>
              </a:ext>
            </a:extLst>
          </p:cNvPr>
          <p:cNvSpPr txBox="1"/>
          <p:nvPr/>
        </p:nvSpPr>
        <p:spPr>
          <a:xfrm>
            <a:off x="4644428" y="4647642"/>
            <a:ext cx="3313567" cy="338554"/>
          </a:xfrm>
          <a:prstGeom prst="rect">
            <a:avLst/>
          </a:prstGeom>
          <a:noFill/>
        </p:spPr>
        <p:txBody>
          <a:bodyPr wrap="square">
            <a:spAutoFit/>
          </a:bodyPr>
          <a:lstStyle/>
          <a:p>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Fig: RTL Schematic of row filter 2</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81140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EBEAA3F-F165-449F-B736-6BC243717261}"/>
              </a:ext>
            </a:extLst>
          </p:cNvPr>
          <p:cNvSpPr>
            <a:spLocks noGrp="1"/>
          </p:cNvSpPr>
          <p:nvPr>
            <p:ph type="title"/>
          </p:nvPr>
        </p:nvSpPr>
        <p:spPr>
          <a:xfrm>
            <a:off x="1119554" y="195360"/>
            <a:ext cx="10515600" cy="1325563"/>
          </a:xfrm>
        </p:spPr>
        <p:txBody>
          <a:bodyPr/>
          <a:lstStyle/>
          <a:p>
            <a:pPr algn="ctr"/>
            <a:r>
              <a:rPr lang="en-US" dirty="0">
                <a:solidFill>
                  <a:srgbClr val="FF0000"/>
                </a:solidFill>
                <a:latin typeface="+mn-lt"/>
              </a:rPr>
              <a:t>ROW FILTER-3 CSD CODE</a:t>
            </a:r>
          </a:p>
        </p:txBody>
      </p:sp>
      <p:pic>
        <p:nvPicPr>
          <p:cNvPr id="5" name="Picture 2">
            <a:extLst>
              <a:ext uri="{FF2B5EF4-FFF2-40B4-BE49-F238E27FC236}">
                <a16:creationId xmlns:a16="http://schemas.microsoft.com/office/drawing/2014/main" id="{2906E85D-C4C9-461A-AAA4-8654A5849D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750703" cy="152092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7">
            <a:extLst>
              <a:ext uri="{FF2B5EF4-FFF2-40B4-BE49-F238E27FC236}">
                <a16:creationId xmlns:a16="http://schemas.microsoft.com/office/drawing/2014/main" id="{B6A8123C-EB82-B7BC-14AB-7F4300573CB1}"/>
              </a:ext>
            </a:extLst>
          </p:cNvPr>
          <p:cNvGraphicFramePr>
            <a:graphicFrameLocks noGrp="1"/>
          </p:cNvGraphicFramePr>
          <p:nvPr>
            <p:extLst>
              <p:ext uri="{D42A27DB-BD31-4B8C-83A1-F6EECF244321}">
                <p14:modId xmlns:p14="http://schemas.microsoft.com/office/powerpoint/2010/main" val="53604342"/>
              </p:ext>
            </p:extLst>
          </p:nvPr>
        </p:nvGraphicFramePr>
        <p:xfrm>
          <a:off x="3140740" y="1931100"/>
          <a:ext cx="6473227" cy="3321723"/>
        </p:xfrm>
        <a:graphic>
          <a:graphicData uri="http://schemas.openxmlformats.org/drawingml/2006/table">
            <a:tbl>
              <a:tblPr firstRow="1" bandRow="1">
                <a:effectLst>
                  <a:outerShdw blurRad="50800" dist="38100" dir="5400000" algn="t" rotWithShape="0">
                    <a:prstClr val="black">
                      <a:alpha val="40000"/>
                    </a:prstClr>
                  </a:outerShdw>
                </a:effectLst>
                <a:tableStyleId>{073A0DAA-6AF3-43AB-8588-CEC1D06C72B9}</a:tableStyleId>
              </a:tblPr>
              <a:tblGrid>
                <a:gridCol w="1713627">
                  <a:extLst>
                    <a:ext uri="{9D8B030D-6E8A-4147-A177-3AD203B41FA5}">
                      <a16:colId xmlns:a16="http://schemas.microsoft.com/office/drawing/2014/main" val="847645232"/>
                    </a:ext>
                  </a:extLst>
                </a:gridCol>
                <a:gridCol w="2379800">
                  <a:extLst>
                    <a:ext uri="{9D8B030D-6E8A-4147-A177-3AD203B41FA5}">
                      <a16:colId xmlns:a16="http://schemas.microsoft.com/office/drawing/2014/main" val="2784531723"/>
                    </a:ext>
                  </a:extLst>
                </a:gridCol>
                <a:gridCol w="2379800">
                  <a:extLst>
                    <a:ext uri="{9D8B030D-6E8A-4147-A177-3AD203B41FA5}">
                      <a16:colId xmlns:a16="http://schemas.microsoft.com/office/drawing/2014/main" val="3233611955"/>
                    </a:ext>
                  </a:extLst>
                </a:gridCol>
              </a:tblGrid>
              <a:tr h="736809">
                <a:tc>
                  <a:txBody>
                    <a:bodyPr/>
                    <a:lstStyle/>
                    <a:p>
                      <a:endParaRPr lang="en-US" sz="2000" dirty="0"/>
                    </a:p>
                  </a:txBody>
                  <a:tcPr/>
                </a:tc>
                <a:tc>
                  <a:txBody>
                    <a:bodyPr/>
                    <a:lstStyle/>
                    <a:p>
                      <a:r>
                        <a:rPr lang="en-US" sz="2000" dirty="0"/>
                        <a:t>       Filter Coefficients</a:t>
                      </a:r>
                    </a:p>
                  </a:txBody>
                  <a:tcPr/>
                </a:tc>
                <a:tc>
                  <a:txBody>
                    <a:bodyPr/>
                    <a:lstStyle/>
                    <a:p>
                      <a:r>
                        <a:rPr lang="en-US" dirty="0"/>
                        <a:t>         </a:t>
                      </a:r>
                      <a:r>
                        <a:rPr lang="en-US" sz="2000" dirty="0"/>
                        <a:t>CSD Representation</a:t>
                      </a:r>
                    </a:p>
                  </a:txBody>
                  <a:tcPr/>
                </a:tc>
                <a:extLst>
                  <a:ext uri="{0D108BD9-81ED-4DB2-BD59-A6C34878D82A}">
                    <a16:rowId xmlns:a16="http://schemas.microsoft.com/office/drawing/2014/main" val="3975888384"/>
                  </a:ext>
                </a:extLst>
              </a:tr>
              <a:tr h="430819">
                <a:tc>
                  <a:txBody>
                    <a:bodyPr/>
                    <a:lstStyle/>
                    <a:p>
                      <a:pPr>
                        <a:lnSpc>
                          <a:spcPct val="107000"/>
                        </a:lnSpc>
                        <a:spcAft>
                          <a:spcPts val="800"/>
                        </a:spcAft>
                      </a:pPr>
                      <a:r>
                        <a:rPr lang="en-IN" sz="1800" b="0" kern="100" dirty="0">
                          <a:effectLst/>
                          <a:latin typeface="Calibri" panose="020F0502020204030204" pitchFamily="34" charset="0"/>
                          <a:ea typeface="Calibri" panose="020F0502020204030204" pitchFamily="34" charset="0"/>
                          <a:cs typeface="Times New Roman" panose="02020603050405020304" pitchFamily="18" charset="0"/>
                        </a:rPr>
                        <a:t>H(2, 0) =H(2, 10)</a:t>
                      </a:r>
                    </a:p>
                  </a:txBody>
                  <a:tcPr marL="68580" marR="68580" marT="0" marB="0"/>
                </a:tc>
                <a:tc>
                  <a:txBody>
                    <a:bodyPr/>
                    <a:lstStyle/>
                    <a:p>
                      <a:pPr>
                        <a:lnSpc>
                          <a:spcPct val="107000"/>
                        </a:lnSpc>
                        <a:spcAft>
                          <a:spcPts val="800"/>
                        </a:spcAft>
                      </a:pPr>
                      <a:r>
                        <a:rPr lang="en-IN" sz="1600" kern="100">
                          <a:effectLst/>
                          <a:latin typeface="Calibri" panose="020F0502020204030204" pitchFamily="34" charset="0"/>
                          <a:ea typeface="Calibri" panose="020F0502020204030204" pitchFamily="34" charset="0"/>
                          <a:cs typeface="Times New Roman" panose="02020603050405020304" pitchFamily="18" charset="0"/>
                        </a:rPr>
                        <a:t>0.001535744332523</a:t>
                      </a:r>
                    </a:p>
                  </a:txBody>
                  <a:tcPr marL="68580" marR="68580" marT="0" marB="0"/>
                </a:tc>
                <a:tc>
                  <a:txBody>
                    <a:bodyPr/>
                    <a:lstStyle/>
                    <a:p>
                      <a:pPr>
                        <a:lnSpc>
                          <a:spcPct val="107000"/>
                        </a:lnSpc>
                        <a:spcAft>
                          <a:spcPts val="800"/>
                        </a:spcAft>
                      </a:pPr>
                      <a:r>
                        <a:rPr lang="en-IN" sz="1600" kern="100">
                          <a:effectLst/>
                          <a:latin typeface="Calibri" panose="020F0502020204030204" pitchFamily="34" charset="0"/>
                          <a:ea typeface="Calibri" panose="020F0502020204030204" pitchFamily="34" charset="0"/>
                          <a:cs typeface="Times New Roman" panose="02020603050405020304" pitchFamily="18" charset="0"/>
                        </a:rPr>
                        <a:t>.00000000+0-0</a:t>
                      </a:r>
                    </a:p>
                  </a:txBody>
                  <a:tcPr marL="68580" marR="68580" marT="0" marB="0"/>
                </a:tc>
                <a:extLst>
                  <a:ext uri="{0D108BD9-81ED-4DB2-BD59-A6C34878D82A}">
                    <a16:rowId xmlns:a16="http://schemas.microsoft.com/office/drawing/2014/main" val="2438862524"/>
                  </a:ext>
                </a:extLst>
              </a:tr>
              <a:tr h="430819">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IN" sz="18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H(2, 1) =H(2, 9)</a:t>
                      </a:r>
                    </a:p>
                  </a:txBody>
                  <a:tcPr marL="68580" marR="68580" marT="0" marB="0"/>
                </a:tc>
                <a:tc>
                  <a:txBody>
                    <a:bodyPr/>
                    <a:lstStyle/>
                    <a:p>
                      <a:pPr>
                        <a:lnSpc>
                          <a:spcPct val="107000"/>
                        </a:lnSpc>
                        <a:spcAft>
                          <a:spcPts val="800"/>
                        </a:spcAft>
                      </a:pPr>
                      <a:r>
                        <a:rPr lang="en-IN" sz="1600" kern="100">
                          <a:effectLst/>
                          <a:latin typeface="Calibri" panose="020F0502020204030204" pitchFamily="34" charset="0"/>
                          <a:ea typeface="Calibri" panose="020F0502020204030204" pitchFamily="34" charset="0"/>
                          <a:cs typeface="Times New Roman" panose="02020603050405020304" pitchFamily="18" charset="0"/>
                        </a:rPr>
                        <a:t>0.002709378181158  </a:t>
                      </a:r>
                    </a:p>
                  </a:txBody>
                  <a:tcPr marL="68580" marR="68580" marT="0" marB="0"/>
                </a:tc>
                <a:tc>
                  <a:txBody>
                    <a:bodyPr/>
                    <a:lstStyle/>
                    <a:p>
                      <a:pPr>
                        <a:lnSpc>
                          <a:spcPct val="107000"/>
                        </a:lnSpc>
                        <a:spcAft>
                          <a:spcPts val="800"/>
                        </a:spcAft>
                      </a:pPr>
                      <a:r>
                        <a:rPr lang="en-IN" sz="1600" kern="100">
                          <a:effectLst/>
                          <a:latin typeface="Calibri" panose="020F0502020204030204" pitchFamily="34" charset="0"/>
                          <a:ea typeface="Calibri" panose="020F0502020204030204" pitchFamily="34" charset="0"/>
                          <a:cs typeface="Times New Roman" panose="02020603050405020304" pitchFamily="18" charset="0"/>
                        </a:rPr>
                        <a:t>.0000000+0-0-</a:t>
                      </a:r>
                    </a:p>
                  </a:txBody>
                  <a:tcPr marL="68580" marR="68580" marT="0" marB="0"/>
                </a:tc>
                <a:extLst>
                  <a:ext uri="{0D108BD9-81ED-4DB2-BD59-A6C34878D82A}">
                    <a16:rowId xmlns:a16="http://schemas.microsoft.com/office/drawing/2014/main" val="2107859079"/>
                  </a:ext>
                </a:extLst>
              </a:tr>
              <a:tr h="430819">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IN" sz="18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H(2, 2) =H(2, 8)</a:t>
                      </a:r>
                    </a:p>
                  </a:txBody>
                  <a:tcPr marL="68580" marR="68580" marT="0" marB="0"/>
                </a:tc>
                <a:tc>
                  <a:txBody>
                    <a:bodyPr/>
                    <a:lstStyle/>
                    <a:p>
                      <a:pPr>
                        <a:lnSpc>
                          <a:spcPct val="107000"/>
                        </a:lnSpc>
                        <a:spcAft>
                          <a:spcPts val="800"/>
                        </a:spcAft>
                      </a:pPr>
                      <a:r>
                        <a:rPr lang="en-IN" sz="1600" kern="100">
                          <a:effectLst/>
                          <a:latin typeface="Calibri" panose="020F0502020204030204" pitchFamily="34" charset="0"/>
                          <a:ea typeface="Calibri" panose="020F0502020204030204" pitchFamily="34" charset="0"/>
                          <a:cs typeface="Times New Roman" panose="02020603050405020304" pitchFamily="18" charset="0"/>
                        </a:rPr>
                        <a:t>-0.004713702487703</a:t>
                      </a:r>
                    </a:p>
                  </a:txBody>
                  <a:tcPr marL="68580" marR="68580" marT="0" marB="0"/>
                </a:tc>
                <a:tc>
                  <a:txBody>
                    <a:bodyPr/>
                    <a:lstStyle/>
                    <a:p>
                      <a:pPr>
                        <a:lnSpc>
                          <a:spcPct val="107000"/>
                        </a:lnSpc>
                        <a:spcAft>
                          <a:spcPts val="800"/>
                        </a:spcAft>
                      </a:pPr>
                      <a:r>
                        <a:rPr lang="en-IN" sz="1600" kern="100">
                          <a:effectLst/>
                          <a:latin typeface="Calibri" panose="020F0502020204030204" pitchFamily="34" charset="0"/>
                          <a:ea typeface="Calibri" panose="020F0502020204030204" pitchFamily="34" charset="0"/>
                          <a:cs typeface="Times New Roman" panose="02020603050405020304" pitchFamily="18" charset="0"/>
                        </a:rPr>
                        <a:t>.0000000-0-0+</a:t>
                      </a:r>
                    </a:p>
                  </a:txBody>
                  <a:tcPr marL="68580" marR="68580" marT="0" marB="0"/>
                </a:tc>
                <a:extLst>
                  <a:ext uri="{0D108BD9-81ED-4DB2-BD59-A6C34878D82A}">
                    <a16:rowId xmlns:a16="http://schemas.microsoft.com/office/drawing/2014/main" val="2703293614"/>
                  </a:ext>
                </a:extLst>
              </a:tr>
              <a:tr h="430819">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IN" sz="18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H(2, 3) =H(2, 7)</a:t>
                      </a:r>
                    </a:p>
                  </a:txBody>
                  <a:tcPr marL="68580" marR="68580" marT="0" marB="0"/>
                </a:tc>
                <a:tc>
                  <a:txBody>
                    <a:bodyPr/>
                    <a:lstStyle/>
                    <a:p>
                      <a:pPr>
                        <a:lnSpc>
                          <a:spcPct val="107000"/>
                        </a:lnSpc>
                        <a:spcAft>
                          <a:spcPts val="800"/>
                        </a:spcAft>
                      </a:pPr>
                      <a:r>
                        <a:rPr lang="en-IN" sz="1600" kern="100">
                          <a:effectLst/>
                          <a:latin typeface="Calibri" panose="020F0502020204030204" pitchFamily="34" charset="0"/>
                          <a:ea typeface="Calibri" panose="020F0502020204030204" pitchFamily="34" charset="0"/>
                          <a:cs typeface="Times New Roman" panose="02020603050405020304" pitchFamily="18" charset="0"/>
                        </a:rPr>
                        <a:t>-0.005682561923213</a:t>
                      </a:r>
                    </a:p>
                  </a:txBody>
                  <a:tcPr marL="68580" marR="68580" marT="0" marB="0"/>
                </a:tc>
                <a:tc>
                  <a:txBody>
                    <a:bodyPr/>
                    <a:lstStyle/>
                    <a:p>
                      <a:pPr>
                        <a:lnSpc>
                          <a:spcPct val="107000"/>
                        </a:lnSpc>
                        <a:spcAft>
                          <a:spcPts val="800"/>
                        </a:spcAft>
                      </a:pPr>
                      <a:r>
                        <a:rPr lang="en-IN" sz="1600" kern="100">
                          <a:effectLst/>
                          <a:latin typeface="Calibri" panose="020F0502020204030204" pitchFamily="34" charset="0"/>
                          <a:ea typeface="Calibri" panose="020F0502020204030204" pitchFamily="34" charset="0"/>
                          <a:cs typeface="Times New Roman" panose="02020603050405020304" pitchFamily="18" charset="0"/>
                        </a:rPr>
                        <a:t>.000000-0+00+</a:t>
                      </a:r>
                    </a:p>
                  </a:txBody>
                  <a:tcPr marL="68580" marR="68580" marT="0" marB="0"/>
                </a:tc>
                <a:extLst>
                  <a:ext uri="{0D108BD9-81ED-4DB2-BD59-A6C34878D82A}">
                    <a16:rowId xmlns:a16="http://schemas.microsoft.com/office/drawing/2014/main" val="3776624642"/>
                  </a:ext>
                </a:extLst>
              </a:tr>
              <a:tr h="430819">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IN" sz="18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H(2, 4) =H(2, 6)</a:t>
                      </a:r>
                    </a:p>
                  </a:txBody>
                  <a:tcPr marL="68580" marR="68580" marT="0" marB="0"/>
                </a:tc>
                <a:tc>
                  <a:txBody>
                    <a:bodyPr/>
                    <a:lstStyle/>
                    <a:p>
                      <a:pPr>
                        <a:lnSpc>
                          <a:spcPct val="107000"/>
                        </a:lnSpc>
                        <a:spcAft>
                          <a:spcPts val="800"/>
                        </a:spcAft>
                      </a:pPr>
                      <a:r>
                        <a:rPr lang="en-IN" sz="1600" kern="100">
                          <a:effectLst/>
                          <a:latin typeface="Calibri" panose="020F0502020204030204" pitchFamily="34" charset="0"/>
                          <a:ea typeface="Calibri" panose="020F0502020204030204" pitchFamily="34" charset="0"/>
                          <a:cs typeface="Times New Roman" panose="02020603050405020304" pitchFamily="18" charset="0"/>
                        </a:rPr>
                        <a:t>0.024649517281923</a:t>
                      </a:r>
                    </a:p>
                  </a:txBody>
                  <a:tcPr marL="68580" marR="68580" marT="0" marB="0"/>
                </a:tc>
                <a:tc>
                  <a:txBody>
                    <a:bodyPr/>
                    <a:lstStyle/>
                    <a:p>
                      <a:pPr>
                        <a:lnSpc>
                          <a:spcPct val="107000"/>
                        </a:lnSpc>
                        <a:spcAft>
                          <a:spcPts val="800"/>
                        </a:spcAft>
                      </a:pPr>
                      <a:r>
                        <a:rPr lang="en-IN" sz="1600" kern="100">
                          <a:effectLst/>
                          <a:latin typeface="Calibri" panose="020F0502020204030204" pitchFamily="34" charset="0"/>
                          <a:ea typeface="Calibri" panose="020F0502020204030204" pitchFamily="34" charset="0"/>
                          <a:cs typeface="Times New Roman" panose="02020603050405020304" pitchFamily="18" charset="0"/>
                        </a:rPr>
                        <a:t>.0000+0-00+00</a:t>
                      </a:r>
                    </a:p>
                  </a:txBody>
                  <a:tcPr marL="68580" marR="68580" marT="0" marB="0"/>
                </a:tc>
                <a:extLst>
                  <a:ext uri="{0D108BD9-81ED-4DB2-BD59-A6C34878D82A}">
                    <a16:rowId xmlns:a16="http://schemas.microsoft.com/office/drawing/2014/main" val="994192595"/>
                  </a:ext>
                </a:extLst>
              </a:tr>
              <a:tr h="430819">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IN" sz="18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H(2, 5)</a:t>
                      </a:r>
                    </a:p>
                  </a:txBody>
                  <a:tcPr marL="68580" marR="68580" marT="0" marB="0"/>
                </a:tc>
                <a:tc>
                  <a:txBody>
                    <a:bodyPr/>
                    <a:lstStyle/>
                    <a:p>
                      <a:pPr>
                        <a:lnSpc>
                          <a:spcPct val="107000"/>
                        </a:lnSpc>
                        <a:spcAft>
                          <a:spcPts val="800"/>
                        </a:spcAft>
                      </a:pPr>
                      <a:r>
                        <a:rPr lang="en-IN" sz="1600" kern="100">
                          <a:effectLst/>
                          <a:latin typeface="Calibri" panose="020F0502020204030204" pitchFamily="34" charset="0"/>
                          <a:ea typeface="Calibri" panose="020F0502020204030204" pitchFamily="34" charset="0"/>
                          <a:cs typeface="Times New Roman" panose="02020603050405020304" pitchFamily="18" charset="0"/>
                        </a:rPr>
                        <a:t>0.048889485737597</a:t>
                      </a:r>
                    </a:p>
                  </a:txBody>
                  <a:tcPr marL="68580" marR="68580" marT="0" marB="0"/>
                </a:tc>
                <a:tc>
                  <a:txBody>
                    <a:bodyPr/>
                    <a:lstStyle/>
                    <a:p>
                      <a:pPr>
                        <a:lnSpc>
                          <a:spcPct val="107000"/>
                        </a:lnSpc>
                        <a:spcAft>
                          <a:spcPts val="800"/>
                        </a:spcAf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.000+0-00+000</a:t>
                      </a:r>
                    </a:p>
                  </a:txBody>
                  <a:tcPr marL="68580" marR="68580" marT="0" marB="0"/>
                </a:tc>
                <a:extLst>
                  <a:ext uri="{0D108BD9-81ED-4DB2-BD59-A6C34878D82A}">
                    <a16:rowId xmlns:a16="http://schemas.microsoft.com/office/drawing/2014/main" val="3966144645"/>
                  </a:ext>
                </a:extLst>
              </a:tr>
            </a:tbl>
          </a:graphicData>
        </a:graphic>
      </p:graphicFrame>
    </p:spTree>
    <p:extLst>
      <p:ext uri="{BB962C8B-B14F-4D97-AF65-F5344CB8AC3E}">
        <p14:creationId xmlns:p14="http://schemas.microsoft.com/office/powerpoint/2010/main" val="3780245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A716EB8D-5A14-A18F-0599-94F26D8A559D}"/>
              </a:ext>
            </a:extLst>
          </p:cNvPr>
          <p:cNvSpPr>
            <a:spLocks noChangeArrowheads="1"/>
          </p:cNvSpPr>
          <p:nvPr/>
        </p:nvSpPr>
        <p:spPr bwMode="auto">
          <a:xfrm>
            <a:off x="618835" y="457200"/>
            <a:ext cx="11148291"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1pPr>
            <a:lvl2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2pPr>
            <a:lvl3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3pPr>
            <a:lvl4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4pPr>
            <a:lvl5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5pPr>
            <a:lvl6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6pPr>
            <a:lvl7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7pPr>
            <a:lvl8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8pPr>
            <a:lvl9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tabLst>
                <a:tab pos="228600" algn="l"/>
                <a:tab pos="3205163" algn="ctr"/>
                <a:tab pos="5673725" algn="l"/>
              </a:tabLst>
            </a:pPr>
            <a:r>
              <a:rPr kumimoji="0" lang="en-US" altLang="en-US" sz="16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Row Filter 3 :</a:t>
            </a:r>
            <a:r>
              <a:rPr kumimoji="0" lang="en-US" altLang="en-US" sz="16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Y = [x+(x-10)]&gt;&gt;9 - [x+(x-10)]&gt;&gt;11  +[(x-1)+(x-9)]&gt;&gt;8 - [(x-1)+(x-9)]&gt;&gt;10 - [(x-1)+(x-9)]&gt;&gt;12 -[(x-2)+(x-8)]&gt;&gt;8 - [(x-2)+(x-8)]&gt;&gt;10 + [(x-2)+(x-8)]&gt;&gt;12 - [(x-3)+(x-7)]&gt;&gt;7 + [(x-3)+(x-7)]&gt;&gt;9 + [(x-3)+(x-7)]&gt;&gt;12 + [(x-4)+(x-6)]&gt;&gt;5 –[(x-4)+(x-6)]&gt;&gt;7 + [(x-4)+(x-6)]&gt;&gt;10 + [(x-5)]&gt;&gt;4 - [(x-5)]&gt;&gt;6 + [(x-5)]&gt;&gt;9                                                                                                         </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228600" algn="l"/>
                <a:tab pos="3205163" algn="ctr"/>
                <a:tab pos="5673725" algn="l"/>
              </a:tabLst>
            </a:pPr>
            <a:r>
              <a:rPr kumimoji="0" lang="en-US" altLang="en-US" sz="16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(3.2.3)</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3205163" algn="ctr"/>
                <a:tab pos="5673725" algn="l"/>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3073" name="Picture 3">
            <a:extLst>
              <a:ext uri="{FF2B5EF4-FFF2-40B4-BE49-F238E27FC236}">
                <a16:creationId xmlns:a16="http://schemas.microsoft.com/office/drawing/2014/main" id="{6A7CD273-FF46-D01A-F1AC-7BE2D10FBB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2799" y="1600737"/>
            <a:ext cx="5687648" cy="4098099"/>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49ED8D3E-7310-A6A1-9862-7AF3B91930C7}"/>
              </a:ext>
            </a:extLst>
          </p:cNvPr>
          <p:cNvSpPr>
            <a:spLocks noChangeArrowheads="1"/>
          </p:cNvSpPr>
          <p:nvPr/>
        </p:nvSpPr>
        <p:spPr bwMode="auto">
          <a:xfrm>
            <a:off x="782342" y="5972952"/>
            <a:ext cx="1114829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1pPr>
            <a:lvl2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2pPr>
            <a:lvl3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3pPr>
            <a:lvl4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4pPr>
            <a:lvl5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5pPr>
            <a:lvl6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6pPr>
            <a:lvl7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7pPr>
            <a:lvl8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8pPr>
            <a:lvl9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tabLst>
                <a:tab pos="228600" algn="l"/>
                <a:tab pos="3205163" algn="ctr"/>
                <a:tab pos="5673725" algn="l"/>
              </a:tabLst>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Fig: </a:t>
            </a:r>
            <a:r>
              <a:rPr kumimoji="0" lang="en-US" altLang="en-US" sz="16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Architecture of FIR filter for row-filter 3</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98022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D0C97D6-4DD9-03A2-F999-83D042B9B6F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1279" y="1729717"/>
            <a:ext cx="10629442" cy="3398566"/>
          </a:xfrm>
          <a:prstGeom prst="rect">
            <a:avLst/>
          </a:prstGeom>
          <a:noFill/>
          <a:ln>
            <a:noFill/>
          </a:ln>
        </p:spPr>
      </p:pic>
      <p:sp>
        <p:nvSpPr>
          <p:cNvPr id="3" name="TextBox 2">
            <a:extLst>
              <a:ext uri="{FF2B5EF4-FFF2-40B4-BE49-F238E27FC236}">
                <a16:creationId xmlns:a16="http://schemas.microsoft.com/office/drawing/2014/main" id="{2C81F39C-E0B4-2CA5-D0D9-76EDAF96E700}"/>
              </a:ext>
            </a:extLst>
          </p:cNvPr>
          <p:cNvSpPr txBox="1"/>
          <p:nvPr/>
        </p:nvSpPr>
        <p:spPr>
          <a:xfrm>
            <a:off x="4568228" y="5392268"/>
            <a:ext cx="6097508" cy="338554"/>
          </a:xfrm>
          <a:prstGeom prst="rect">
            <a:avLst/>
          </a:prstGeom>
          <a:noFill/>
        </p:spPr>
        <p:txBody>
          <a:bodyPr wrap="square">
            <a:spAutoFit/>
          </a:bodyPr>
          <a:lstStyle/>
          <a:p>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Fig: RTL Schematic of row filter 3</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37397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EBEAA3F-F165-449F-B736-6BC243717261}"/>
              </a:ext>
            </a:extLst>
          </p:cNvPr>
          <p:cNvSpPr>
            <a:spLocks noGrp="1"/>
          </p:cNvSpPr>
          <p:nvPr>
            <p:ph type="title"/>
          </p:nvPr>
        </p:nvSpPr>
        <p:spPr>
          <a:xfrm>
            <a:off x="1119554" y="195360"/>
            <a:ext cx="10515600" cy="1325563"/>
          </a:xfrm>
        </p:spPr>
        <p:txBody>
          <a:bodyPr/>
          <a:lstStyle/>
          <a:p>
            <a:pPr algn="ctr"/>
            <a:r>
              <a:rPr lang="en-US" dirty="0">
                <a:solidFill>
                  <a:srgbClr val="FF0000"/>
                </a:solidFill>
                <a:latin typeface="+mn-lt"/>
              </a:rPr>
              <a:t>ROW FILTER-4 CSD CODE</a:t>
            </a:r>
          </a:p>
        </p:txBody>
      </p:sp>
      <p:pic>
        <p:nvPicPr>
          <p:cNvPr id="5" name="Picture 2">
            <a:extLst>
              <a:ext uri="{FF2B5EF4-FFF2-40B4-BE49-F238E27FC236}">
                <a16:creationId xmlns:a16="http://schemas.microsoft.com/office/drawing/2014/main" id="{2906E85D-C4C9-461A-AAA4-8654A5849D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750703" cy="152092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7">
            <a:extLst>
              <a:ext uri="{FF2B5EF4-FFF2-40B4-BE49-F238E27FC236}">
                <a16:creationId xmlns:a16="http://schemas.microsoft.com/office/drawing/2014/main" id="{B6A8123C-EB82-B7BC-14AB-7F4300573CB1}"/>
              </a:ext>
            </a:extLst>
          </p:cNvPr>
          <p:cNvGraphicFramePr>
            <a:graphicFrameLocks noGrp="1"/>
          </p:cNvGraphicFramePr>
          <p:nvPr>
            <p:extLst>
              <p:ext uri="{D42A27DB-BD31-4B8C-83A1-F6EECF244321}">
                <p14:modId xmlns:p14="http://schemas.microsoft.com/office/powerpoint/2010/main" val="625149524"/>
              </p:ext>
            </p:extLst>
          </p:nvPr>
        </p:nvGraphicFramePr>
        <p:xfrm>
          <a:off x="3140740" y="1931100"/>
          <a:ext cx="6473227" cy="3321723"/>
        </p:xfrm>
        <a:graphic>
          <a:graphicData uri="http://schemas.openxmlformats.org/drawingml/2006/table">
            <a:tbl>
              <a:tblPr firstRow="1" bandRow="1">
                <a:effectLst>
                  <a:outerShdw blurRad="50800" dist="38100" dir="5400000" algn="t" rotWithShape="0">
                    <a:prstClr val="black">
                      <a:alpha val="40000"/>
                    </a:prstClr>
                  </a:outerShdw>
                </a:effectLst>
                <a:tableStyleId>{073A0DAA-6AF3-43AB-8588-CEC1D06C72B9}</a:tableStyleId>
              </a:tblPr>
              <a:tblGrid>
                <a:gridCol w="1713627">
                  <a:extLst>
                    <a:ext uri="{9D8B030D-6E8A-4147-A177-3AD203B41FA5}">
                      <a16:colId xmlns:a16="http://schemas.microsoft.com/office/drawing/2014/main" val="847645232"/>
                    </a:ext>
                  </a:extLst>
                </a:gridCol>
                <a:gridCol w="2379800">
                  <a:extLst>
                    <a:ext uri="{9D8B030D-6E8A-4147-A177-3AD203B41FA5}">
                      <a16:colId xmlns:a16="http://schemas.microsoft.com/office/drawing/2014/main" val="2784531723"/>
                    </a:ext>
                  </a:extLst>
                </a:gridCol>
                <a:gridCol w="2379800">
                  <a:extLst>
                    <a:ext uri="{9D8B030D-6E8A-4147-A177-3AD203B41FA5}">
                      <a16:colId xmlns:a16="http://schemas.microsoft.com/office/drawing/2014/main" val="3233611955"/>
                    </a:ext>
                  </a:extLst>
                </a:gridCol>
              </a:tblGrid>
              <a:tr h="736809">
                <a:tc>
                  <a:txBody>
                    <a:bodyPr/>
                    <a:lstStyle/>
                    <a:p>
                      <a:endParaRPr lang="en-US" sz="2000" dirty="0"/>
                    </a:p>
                  </a:txBody>
                  <a:tcPr/>
                </a:tc>
                <a:tc>
                  <a:txBody>
                    <a:bodyPr/>
                    <a:lstStyle/>
                    <a:p>
                      <a:r>
                        <a:rPr lang="en-US" sz="2000" dirty="0"/>
                        <a:t>       Filter Coefficients</a:t>
                      </a:r>
                    </a:p>
                  </a:txBody>
                  <a:tcPr/>
                </a:tc>
                <a:tc>
                  <a:txBody>
                    <a:bodyPr/>
                    <a:lstStyle/>
                    <a:p>
                      <a:r>
                        <a:rPr lang="en-US" dirty="0"/>
                        <a:t>         </a:t>
                      </a:r>
                      <a:r>
                        <a:rPr lang="en-US" sz="2000" dirty="0"/>
                        <a:t>CSD Representation</a:t>
                      </a:r>
                    </a:p>
                  </a:txBody>
                  <a:tcPr/>
                </a:tc>
                <a:extLst>
                  <a:ext uri="{0D108BD9-81ED-4DB2-BD59-A6C34878D82A}">
                    <a16:rowId xmlns:a16="http://schemas.microsoft.com/office/drawing/2014/main" val="3975888384"/>
                  </a:ext>
                </a:extLst>
              </a:tr>
              <a:tr h="430819">
                <a:tc>
                  <a:txBody>
                    <a:bodyPr/>
                    <a:lstStyle/>
                    <a:p>
                      <a:pPr>
                        <a:lnSpc>
                          <a:spcPct val="107000"/>
                        </a:lnSpc>
                        <a:spcAft>
                          <a:spcPts val="800"/>
                        </a:spcAft>
                      </a:pPr>
                      <a:r>
                        <a:rPr lang="en-IN" sz="1800" b="0" kern="100" dirty="0">
                          <a:effectLst/>
                          <a:latin typeface="Calibri" panose="020F0502020204030204" pitchFamily="34" charset="0"/>
                          <a:ea typeface="Calibri" panose="020F0502020204030204" pitchFamily="34" charset="0"/>
                          <a:cs typeface="Times New Roman" panose="02020603050405020304" pitchFamily="18" charset="0"/>
                        </a:rPr>
                        <a:t>H(3, 0) =H(3, 10)</a:t>
                      </a:r>
                    </a:p>
                  </a:txBody>
                  <a:tcPr marL="68580" marR="68580" marT="0" marB="0"/>
                </a:tc>
                <a:tc>
                  <a:txBody>
                    <a:bodyPr/>
                    <a:lstStyle/>
                    <a:p>
                      <a:pPr>
                        <a:lnSpc>
                          <a:spcPct val="107000"/>
                        </a:lnSpc>
                        <a:spcAft>
                          <a:spcPts val="800"/>
                        </a:spcAft>
                      </a:pPr>
                      <a:r>
                        <a:rPr lang="en-IN" sz="1600" kern="100">
                          <a:effectLst/>
                          <a:latin typeface="Calibri" panose="020F0502020204030204" pitchFamily="34" charset="0"/>
                          <a:ea typeface="Calibri" panose="020F0502020204030204" pitchFamily="34" charset="0"/>
                          <a:cs typeface="Times New Roman" panose="02020603050405020304" pitchFamily="18" charset="0"/>
                        </a:rPr>
                        <a:t>0.004095318220062</a:t>
                      </a:r>
                    </a:p>
                  </a:txBody>
                  <a:tcPr marL="68580" marR="68580" marT="0" marB="0"/>
                </a:tc>
                <a:tc>
                  <a:txBody>
                    <a:bodyPr/>
                    <a:lstStyle/>
                    <a:p>
                      <a:pPr>
                        <a:lnSpc>
                          <a:spcPct val="107000"/>
                        </a:lnSpc>
                        <a:spcAft>
                          <a:spcPts val="800"/>
                        </a:spcAft>
                      </a:pPr>
                      <a:r>
                        <a:rPr lang="en-IN" sz="1600" kern="100">
                          <a:effectLst/>
                          <a:latin typeface="Calibri" panose="020F0502020204030204" pitchFamily="34" charset="0"/>
                          <a:ea typeface="Calibri" panose="020F0502020204030204" pitchFamily="34" charset="0"/>
                          <a:cs typeface="Times New Roman" panose="02020603050405020304" pitchFamily="18" charset="0"/>
                        </a:rPr>
                        <a:t>.0000000+0000</a:t>
                      </a:r>
                    </a:p>
                  </a:txBody>
                  <a:tcPr marL="68580" marR="68580" marT="0" marB="0"/>
                </a:tc>
                <a:extLst>
                  <a:ext uri="{0D108BD9-81ED-4DB2-BD59-A6C34878D82A}">
                    <a16:rowId xmlns:a16="http://schemas.microsoft.com/office/drawing/2014/main" val="2438862524"/>
                  </a:ext>
                </a:extLst>
              </a:tr>
              <a:tr h="430819">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IN" sz="18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H(3, 1) =H(3, 9)</a:t>
                      </a:r>
                    </a:p>
                  </a:txBody>
                  <a:tcPr marL="68580" marR="68580" marT="0" marB="0"/>
                </a:tc>
                <a:tc>
                  <a:txBody>
                    <a:bodyPr/>
                    <a:lstStyle/>
                    <a:p>
                      <a:pPr>
                        <a:lnSpc>
                          <a:spcPct val="107000"/>
                        </a:lnSpc>
                        <a:spcAft>
                          <a:spcPts val="800"/>
                        </a:spcAft>
                      </a:pPr>
                      <a:r>
                        <a:rPr lang="en-IN" sz="1600" kern="100">
                          <a:effectLst/>
                          <a:latin typeface="Calibri" panose="020F0502020204030204" pitchFamily="34" charset="0"/>
                          <a:ea typeface="Calibri" panose="020F0502020204030204" pitchFamily="34" charset="0"/>
                          <a:cs typeface="Times New Roman" panose="02020603050405020304" pitchFamily="18" charset="0"/>
                        </a:rPr>
                        <a:t>-0.003315045803642</a:t>
                      </a:r>
                    </a:p>
                  </a:txBody>
                  <a:tcPr marL="68580" marR="68580" marT="0" marB="0"/>
                </a:tc>
                <a:tc>
                  <a:txBody>
                    <a:bodyPr/>
                    <a:lstStyle/>
                    <a:p>
                      <a:pPr>
                        <a:lnSpc>
                          <a:spcPct val="107000"/>
                        </a:lnSpc>
                        <a:spcAft>
                          <a:spcPts val="800"/>
                        </a:spcAft>
                      </a:pPr>
                      <a:r>
                        <a:rPr lang="en-IN" sz="1600" kern="100">
                          <a:effectLst/>
                          <a:latin typeface="Calibri" panose="020F0502020204030204" pitchFamily="34" charset="0"/>
                          <a:ea typeface="Calibri" panose="020F0502020204030204" pitchFamily="34" charset="0"/>
                          <a:cs typeface="Times New Roman" panose="02020603050405020304" pitchFamily="18" charset="0"/>
                        </a:rPr>
                        <a:t>.0000000-0+0-</a:t>
                      </a:r>
                    </a:p>
                  </a:txBody>
                  <a:tcPr marL="68580" marR="68580" marT="0" marB="0"/>
                </a:tc>
                <a:extLst>
                  <a:ext uri="{0D108BD9-81ED-4DB2-BD59-A6C34878D82A}">
                    <a16:rowId xmlns:a16="http://schemas.microsoft.com/office/drawing/2014/main" val="2107859079"/>
                  </a:ext>
                </a:extLst>
              </a:tr>
              <a:tr h="430819">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IN" sz="18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H(3, 2) =H(3, 8)</a:t>
                      </a:r>
                    </a:p>
                  </a:txBody>
                  <a:tcPr marL="68580" marR="68580" marT="0" marB="0"/>
                </a:tc>
                <a:tc>
                  <a:txBody>
                    <a:bodyPr/>
                    <a:lstStyle/>
                    <a:p>
                      <a:pPr>
                        <a:lnSpc>
                          <a:spcPct val="107000"/>
                        </a:lnSpc>
                        <a:spcAft>
                          <a:spcPts val="800"/>
                        </a:spcAft>
                      </a:pPr>
                      <a:r>
                        <a:rPr lang="en-IN" sz="1600" kern="100">
                          <a:effectLst/>
                          <a:latin typeface="Calibri" panose="020F0502020204030204" pitchFamily="34" charset="0"/>
                          <a:ea typeface="Calibri" panose="020F0502020204030204" pitchFamily="34" charset="0"/>
                          <a:cs typeface="Times New Roman" panose="02020603050405020304" pitchFamily="18" charset="0"/>
                        </a:rPr>
                        <a:t>-0.005682561923213</a:t>
                      </a:r>
                    </a:p>
                  </a:txBody>
                  <a:tcPr marL="68580" marR="68580" marT="0" marB="0"/>
                </a:tc>
                <a:tc>
                  <a:txBody>
                    <a:bodyPr/>
                    <a:lstStyle/>
                    <a:p>
                      <a:pPr>
                        <a:lnSpc>
                          <a:spcPct val="107000"/>
                        </a:lnSpc>
                        <a:spcAft>
                          <a:spcPts val="800"/>
                        </a:spcAft>
                      </a:pPr>
                      <a:r>
                        <a:rPr lang="en-IN" sz="1600" kern="100">
                          <a:effectLst/>
                          <a:latin typeface="Calibri" panose="020F0502020204030204" pitchFamily="34" charset="0"/>
                          <a:ea typeface="Calibri" panose="020F0502020204030204" pitchFamily="34" charset="0"/>
                          <a:cs typeface="Times New Roman" panose="02020603050405020304" pitchFamily="18" charset="0"/>
                        </a:rPr>
                        <a:t>.000000-0+00+</a:t>
                      </a:r>
                    </a:p>
                  </a:txBody>
                  <a:tcPr marL="68580" marR="68580" marT="0" marB="0"/>
                </a:tc>
                <a:extLst>
                  <a:ext uri="{0D108BD9-81ED-4DB2-BD59-A6C34878D82A}">
                    <a16:rowId xmlns:a16="http://schemas.microsoft.com/office/drawing/2014/main" val="2703293614"/>
                  </a:ext>
                </a:extLst>
              </a:tr>
              <a:tr h="430819">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IN" sz="18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H(3, 3) =H(3, 7)</a:t>
                      </a:r>
                    </a:p>
                  </a:txBody>
                  <a:tcPr marL="68580" marR="68580" marT="0" marB="0"/>
                </a:tc>
                <a:tc>
                  <a:txBody>
                    <a:bodyPr/>
                    <a:lstStyle/>
                    <a:p>
                      <a:pPr>
                        <a:lnSpc>
                          <a:spcPct val="107000"/>
                        </a:lnSpc>
                        <a:spcAft>
                          <a:spcPts val="800"/>
                        </a:spcAft>
                      </a:pPr>
                      <a:r>
                        <a:rPr lang="en-IN" sz="1600" kern="100">
                          <a:effectLst/>
                          <a:latin typeface="Calibri" panose="020F0502020204030204" pitchFamily="34" charset="0"/>
                          <a:ea typeface="Calibri" panose="020F0502020204030204" pitchFamily="34" charset="0"/>
                          <a:cs typeface="Times New Roman" panose="02020603050405020304" pitchFamily="18" charset="0"/>
                        </a:rPr>
                        <a:t>0.019300146101299  </a:t>
                      </a:r>
                    </a:p>
                  </a:txBody>
                  <a:tcPr marL="68580" marR="68580" marT="0" marB="0"/>
                </a:tc>
                <a:tc>
                  <a:txBody>
                    <a:bodyPr/>
                    <a:lstStyle/>
                    <a:p>
                      <a:pPr>
                        <a:lnSpc>
                          <a:spcPct val="107000"/>
                        </a:lnSpc>
                        <a:spcAft>
                          <a:spcPts val="800"/>
                        </a:spcAft>
                      </a:pPr>
                      <a:r>
                        <a:rPr lang="en-IN" sz="1600" kern="100">
                          <a:effectLst/>
                          <a:latin typeface="Calibri" panose="020F0502020204030204" pitchFamily="34" charset="0"/>
                          <a:ea typeface="Calibri" panose="020F0502020204030204" pitchFamily="34" charset="0"/>
                          <a:cs typeface="Times New Roman" panose="02020603050405020304" pitchFamily="18" charset="0"/>
                        </a:rPr>
                        <a:t>.00000+0+000-</a:t>
                      </a:r>
                    </a:p>
                  </a:txBody>
                  <a:tcPr marL="68580" marR="68580" marT="0" marB="0"/>
                </a:tc>
                <a:extLst>
                  <a:ext uri="{0D108BD9-81ED-4DB2-BD59-A6C34878D82A}">
                    <a16:rowId xmlns:a16="http://schemas.microsoft.com/office/drawing/2014/main" val="3776624642"/>
                  </a:ext>
                </a:extLst>
              </a:tr>
              <a:tr h="430819">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IN" sz="18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H(3, 4) =H(3, 6)</a:t>
                      </a:r>
                    </a:p>
                  </a:txBody>
                  <a:tcPr marL="68580" marR="68580" marT="0" marB="0"/>
                </a:tc>
                <a:tc>
                  <a:txBody>
                    <a:bodyPr/>
                    <a:lstStyle/>
                    <a:p>
                      <a:pPr>
                        <a:lnSpc>
                          <a:spcPct val="107000"/>
                        </a:lnSpc>
                        <a:spcAft>
                          <a:spcPts val="800"/>
                        </a:spcAft>
                      </a:pPr>
                      <a:r>
                        <a:rPr lang="en-IN" sz="1600" kern="100">
                          <a:effectLst/>
                          <a:latin typeface="Calibri" panose="020F0502020204030204" pitchFamily="34" charset="0"/>
                          <a:ea typeface="Calibri" panose="020F0502020204030204" pitchFamily="34" charset="0"/>
                          <a:cs typeface="Times New Roman" panose="02020603050405020304" pitchFamily="18" charset="0"/>
                        </a:rPr>
                        <a:t>-0.027080046645711</a:t>
                      </a:r>
                    </a:p>
                  </a:txBody>
                  <a:tcPr marL="68580" marR="68580" marT="0" marB="0"/>
                </a:tc>
                <a:tc>
                  <a:txBody>
                    <a:bodyPr/>
                    <a:lstStyle/>
                    <a:p>
                      <a:pPr>
                        <a:lnSpc>
                          <a:spcPct val="107000"/>
                        </a:lnSpc>
                        <a:spcAft>
                          <a:spcPts val="800"/>
                        </a:spcAft>
                      </a:pPr>
                      <a:r>
                        <a:rPr lang="en-IN" sz="1600" kern="100">
                          <a:effectLst/>
                          <a:latin typeface="Calibri" panose="020F0502020204030204" pitchFamily="34" charset="0"/>
                          <a:ea typeface="Calibri" panose="020F0502020204030204" pitchFamily="34" charset="0"/>
                          <a:cs typeface="Times New Roman" panose="02020603050405020304" pitchFamily="18" charset="0"/>
                        </a:rPr>
                        <a:t>.0000-00+00+0</a:t>
                      </a:r>
                    </a:p>
                  </a:txBody>
                  <a:tcPr marL="68580" marR="68580" marT="0" marB="0"/>
                </a:tc>
                <a:extLst>
                  <a:ext uri="{0D108BD9-81ED-4DB2-BD59-A6C34878D82A}">
                    <a16:rowId xmlns:a16="http://schemas.microsoft.com/office/drawing/2014/main" val="994192595"/>
                  </a:ext>
                </a:extLst>
              </a:tr>
              <a:tr h="430819">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IN" sz="18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H(3, 5)</a:t>
                      </a:r>
                    </a:p>
                  </a:txBody>
                  <a:tcPr marL="68580" marR="68580" marT="0" marB="0"/>
                </a:tc>
                <a:tc>
                  <a:txBody>
                    <a:bodyPr/>
                    <a:lstStyle/>
                    <a:p>
                      <a:pPr>
                        <a:lnSpc>
                          <a:spcPct val="107000"/>
                        </a:lnSpc>
                        <a:spcAft>
                          <a:spcPts val="800"/>
                        </a:spcAft>
                      </a:pPr>
                      <a:r>
                        <a:rPr lang="en-IN" sz="1600" kern="100">
                          <a:effectLst/>
                          <a:latin typeface="Calibri" panose="020F0502020204030204" pitchFamily="34" charset="0"/>
                          <a:ea typeface="Calibri" panose="020F0502020204030204" pitchFamily="34" charset="0"/>
                          <a:cs typeface="Times New Roman" panose="02020603050405020304" pitchFamily="18" charset="0"/>
                        </a:rPr>
                        <a:t>-0.089304781293037</a:t>
                      </a:r>
                    </a:p>
                  </a:txBody>
                  <a:tcPr marL="68580" marR="68580" marT="0" marB="0"/>
                </a:tc>
                <a:tc>
                  <a:txBody>
                    <a:bodyPr/>
                    <a:lstStyle/>
                    <a:p>
                      <a:pPr>
                        <a:lnSpc>
                          <a:spcPct val="107000"/>
                        </a:lnSpc>
                        <a:spcAft>
                          <a:spcPts val="800"/>
                        </a:spcAf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.00-0+00+0+0-</a:t>
                      </a:r>
                    </a:p>
                  </a:txBody>
                  <a:tcPr marL="68580" marR="68580" marT="0" marB="0"/>
                </a:tc>
                <a:extLst>
                  <a:ext uri="{0D108BD9-81ED-4DB2-BD59-A6C34878D82A}">
                    <a16:rowId xmlns:a16="http://schemas.microsoft.com/office/drawing/2014/main" val="3966144645"/>
                  </a:ext>
                </a:extLst>
              </a:tr>
            </a:tbl>
          </a:graphicData>
        </a:graphic>
      </p:graphicFrame>
    </p:spTree>
    <p:extLst>
      <p:ext uri="{BB962C8B-B14F-4D97-AF65-F5344CB8AC3E}">
        <p14:creationId xmlns:p14="http://schemas.microsoft.com/office/powerpoint/2010/main" val="26832910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1">
            <a:extLst>
              <a:ext uri="{FF2B5EF4-FFF2-40B4-BE49-F238E27FC236}">
                <a16:creationId xmlns:a16="http://schemas.microsoft.com/office/drawing/2014/main" id="{9F0AF356-73C2-47A1-6424-A2D0C18DFD54}"/>
              </a:ext>
            </a:extLst>
          </p:cNvPr>
          <p:cNvSpPr>
            <a:spLocks noChangeArrowheads="1"/>
          </p:cNvSpPr>
          <p:nvPr/>
        </p:nvSpPr>
        <p:spPr bwMode="auto">
          <a:xfrm>
            <a:off x="1029854" y="481280"/>
            <a:ext cx="10132291"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1pPr>
            <a:lvl2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2pPr>
            <a:lvl3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3pPr>
            <a:lvl4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4pPr>
            <a:lvl5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5pPr>
            <a:lvl6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6pPr>
            <a:lvl7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7pPr>
            <a:lvl8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8pPr>
            <a:lvl9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tabLst>
                <a:tab pos="228600" algn="l"/>
                <a:tab pos="3205163" algn="ctr"/>
                <a:tab pos="5673725" algn="l"/>
              </a:tabLst>
            </a:pPr>
            <a:r>
              <a:rPr kumimoji="0" lang="en-US" altLang="en-US" sz="16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Row Filter 4 :</a:t>
            </a:r>
            <a:r>
              <a:rPr kumimoji="0" lang="en-US" altLang="en-US" sz="16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Y = [x+(x-10)]&gt;&gt;8  - [(x-1)+(x-9)]&gt;&gt;8 + [(x-1)+(x-9)]&gt;&gt;10 - [(x-1)+(x-9)]&gt;&gt;12 -[(x-2)+(x-8)]&gt;&gt;7 + [(x-2)+(x-8)]&gt;&gt;9 + [(x-2)+(x-8)]&gt;&gt;12 + [(x-3)+(x-7)]&gt;&gt;6 + [(x-3)+(x-7)]&gt;&gt;8 - [(x-3)+(x-7)]&gt;&gt;12 - [(x-4)+(x-6)]&gt;&gt;5 –[(x-4)+(x-6)]&gt;&gt;8 + [(x-4)+(x-6)]&gt;&gt;11 - [(x-5)]&gt;&gt;3 + [(x-5)]&gt;&gt;5 + [(x-5)]&gt;&gt;8 + [(x-5)]&gt;&gt;10 - [(x-5)]&gt;&gt;12	                                                                                      (3.2.4)</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3205163" algn="ctr"/>
                <a:tab pos="5673725" algn="l"/>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2058" name="Picture 4">
            <a:extLst>
              <a:ext uri="{FF2B5EF4-FFF2-40B4-BE49-F238E27FC236}">
                <a16:creationId xmlns:a16="http://schemas.microsoft.com/office/drawing/2014/main" id="{FFFAFE2E-C870-5AA0-C343-6EFBD701F8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2297" y="1779020"/>
            <a:ext cx="5874967" cy="4070555"/>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12">
            <a:extLst>
              <a:ext uri="{FF2B5EF4-FFF2-40B4-BE49-F238E27FC236}">
                <a16:creationId xmlns:a16="http://schemas.microsoft.com/office/drawing/2014/main" id="{834AD21E-B8F8-0939-04D8-EF7702F835EF}"/>
              </a:ext>
            </a:extLst>
          </p:cNvPr>
          <p:cNvSpPr>
            <a:spLocks noChangeArrowheads="1"/>
          </p:cNvSpPr>
          <p:nvPr/>
        </p:nvSpPr>
        <p:spPr bwMode="auto">
          <a:xfrm>
            <a:off x="1249379" y="5785789"/>
            <a:ext cx="1013229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1pPr>
            <a:lvl2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2pPr>
            <a:lvl3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3pPr>
            <a:lvl4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4pPr>
            <a:lvl5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5pPr>
            <a:lvl6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6pPr>
            <a:lvl7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7pPr>
            <a:lvl8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8pPr>
            <a:lvl9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tab pos="228600" algn="l"/>
                <a:tab pos="3205163" algn="ctr"/>
                <a:tab pos="5673725" algn="l"/>
              </a:tabLst>
            </a:pPr>
            <a:r>
              <a:rPr kumimoji="0" lang="en-US" altLang="en-US" sz="16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tabLst>
                <a:tab pos="228600" algn="l"/>
                <a:tab pos="3205163" algn="ctr"/>
                <a:tab pos="5673725" algn="l"/>
              </a:tabLst>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Fig: </a:t>
            </a:r>
            <a:r>
              <a:rPr kumimoji="0" lang="en-US" altLang="en-US" sz="16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Architecture of FIR filter for row-filter 4</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24812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78D10D5-C958-7F0B-1B25-AFA1D3BFB90D}"/>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04865" y="1748728"/>
            <a:ext cx="10182271" cy="3360545"/>
          </a:xfrm>
          <a:prstGeom prst="rect">
            <a:avLst/>
          </a:prstGeom>
          <a:noFill/>
          <a:ln>
            <a:noFill/>
          </a:ln>
        </p:spPr>
      </p:pic>
      <p:sp>
        <p:nvSpPr>
          <p:cNvPr id="3" name="TextBox 2">
            <a:extLst>
              <a:ext uri="{FF2B5EF4-FFF2-40B4-BE49-F238E27FC236}">
                <a16:creationId xmlns:a16="http://schemas.microsoft.com/office/drawing/2014/main" id="{8581177C-FABB-EC50-2B5A-34249093F5EF}"/>
              </a:ext>
            </a:extLst>
          </p:cNvPr>
          <p:cNvSpPr txBox="1"/>
          <p:nvPr/>
        </p:nvSpPr>
        <p:spPr>
          <a:xfrm>
            <a:off x="4660273" y="5348865"/>
            <a:ext cx="6097508" cy="338554"/>
          </a:xfrm>
          <a:prstGeom prst="rect">
            <a:avLst/>
          </a:prstGeom>
          <a:noFill/>
        </p:spPr>
        <p:txBody>
          <a:bodyPr wrap="square">
            <a:spAutoFit/>
          </a:bodyPr>
          <a:lstStyle/>
          <a:p>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Fig: RTL Schematic of row filter 4</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35545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EBEAA3F-F165-449F-B736-6BC243717261}"/>
              </a:ext>
            </a:extLst>
          </p:cNvPr>
          <p:cNvSpPr>
            <a:spLocks noGrp="1"/>
          </p:cNvSpPr>
          <p:nvPr>
            <p:ph type="title"/>
          </p:nvPr>
        </p:nvSpPr>
        <p:spPr>
          <a:xfrm>
            <a:off x="1119554" y="195360"/>
            <a:ext cx="10515600" cy="1325563"/>
          </a:xfrm>
        </p:spPr>
        <p:txBody>
          <a:bodyPr/>
          <a:lstStyle/>
          <a:p>
            <a:pPr algn="ctr"/>
            <a:r>
              <a:rPr lang="en-US" dirty="0">
                <a:solidFill>
                  <a:srgbClr val="FF0000"/>
                </a:solidFill>
                <a:latin typeface="+mn-lt"/>
              </a:rPr>
              <a:t>ROW FILTER-5 CSD CODE</a:t>
            </a:r>
          </a:p>
        </p:txBody>
      </p:sp>
      <p:pic>
        <p:nvPicPr>
          <p:cNvPr id="5" name="Picture 2">
            <a:extLst>
              <a:ext uri="{FF2B5EF4-FFF2-40B4-BE49-F238E27FC236}">
                <a16:creationId xmlns:a16="http://schemas.microsoft.com/office/drawing/2014/main" id="{2906E85D-C4C9-461A-AAA4-8654A5849D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750703" cy="152092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7">
            <a:extLst>
              <a:ext uri="{FF2B5EF4-FFF2-40B4-BE49-F238E27FC236}">
                <a16:creationId xmlns:a16="http://schemas.microsoft.com/office/drawing/2014/main" id="{B6A8123C-EB82-B7BC-14AB-7F4300573CB1}"/>
              </a:ext>
            </a:extLst>
          </p:cNvPr>
          <p:cNvGraphicFramePr>
            <a:graphicFrameLocks noGrp="1"/>
          </p:cNvGraphicFramePr>
          <p:nvPr>
            <p:extLst>
              <p:ext uri="{D42A27DB-BD31-4B8C-83A1-F6EECF244321}">
                <p14:modId xmlns:p14="http://schemas.microsoft.com/office/powerpoint/2010/main" val="3235868311"/>
              </p:ext>
            </p:extLst>
          </p:nvPr>
        </p:nvGraphicFramePr>
        <p:xfrm>
          <a:off x="3140740" y="1931100"/>
          <a:ext cx="6473227" cy="3321723"/>
        </p:xfrm>
        <a:graphic>
          <a:graphicData uri="http://schemas.openxmlformats.org/drawingml/2006/table">
            <a:tbl>
              <a:tblPr firstRow="1" bandRow="1">
                <a:effectLst>
                  <a:outerShdw blurRad="50800" dist="38100" dir="5400000" algn="t" rotWithShape="0">
                    <a:prstClr val="black">
                      <a:alpha val="40000"/>
                    </a:prstClr>
                  </a:outerShdw>
                </a:effectLst>
                <a:tableStyleId>{073A0DAA-6AF3-43AB-8588-CEC1D06C72B9}</a:tableStyleId>
              </a:tblPr>
              <a:tblGrid>
                <a:gridCol w="1713627">
                  <a:extLst>
                    <a:ext uri="{9D8B030D-6E8A-4147-A177-3AD203B41FA5}">
                      <a16:colId xmlns:a16="http://schemas.microsoft.com/office/drawing/2014/main" val="847645232"/>
                    </a:ext>
                  </a:extLst>
                </a:gridCol>
                <a:gridCol w="2379800">
                  <a:extLst>
                    <a:ext uri="{9D8B030D-6E8A-4147-A177-3AD203B41FA5}">
                      <a16:colId xmlns:a16="http://schemas.microsoft.com/office/drawing/2014/main" val="2784531723"/>
                    </a:ext>
                  </a:extLst>
                </a:gridCol>
                <a:gridCol w="2379800">
                  <a:extLst>
                    <a:ext uri="{9D8B030D-6E8A-4147-A177-3AD203B41FA5}">
                      <a16:colId xmlns:a16="http://schemas.microsoft.com/office/drawing/2014/main" val="3233611955"/>
                    </a:ext>
                  </a:extLst>
                </a:gridCol>
              </a:tblGrid>
              <a:tr h="736809">
                <a:tc>
                  <a:txBody>
                    <a:bodyPr/>
                    <a:lstStyle/>
                    <a:p>
                      <a:endParaRPr lang="en-US" sz="2000" dirty="0"/>
                    </a:p>
                  </a:txBody>
                  <a:tcPr/>
                </a:tc>
                <a:tc>
                  <a:txBody>
                    <a:bodyPr/>
                    <a:lstStyle/>
                    <a:p>
                      <a:r>
                        <a:rPr lang="en-US" sz="2000" dirty="0"/>
                        <a:t>       Filter Coefficients</a:t>
                      </a:r>
                    </a:p>
                  </a:txBody>
                  <a:tcPr/>
                </a:tc>
                <a:tc>
                  <a:txBody>
                    <a:bodyPr/>
                    <a:lstStyle/>
                    <a:p>
                      <a:r>
                        <a:rPr lang="en-US" dirty="0"/>
                        <a:t>         </a:t>
                      </a:r>
                      <a:r>
                        <a:rPr lang="en-US" sz="2000" dirty="0"/>
                        <a:t>CSD Representation</a:t>
                      </a:r>
                    </a:p>
                  </a:txBody>
                  <a:tcPr/>
                </a:tc>
                <a:extLst>
                  <a:ext uri="{0D108BD9-81ED-4DB2-BD59-A6C34878D82A}">
                    <a16:rowId xmlns:a16="http://schemas.microsoft.com/office/drawing/2014/main" val="3975888384"/>
                  </a:ext>
                </a:extLst>
              </a:tr>
              <a:tr h="430819">
                <a:tc>
                  <a:txBody>
                    <a:bodyPr/>
                    <a:lstStyle/>
                    <a:p>
                      <a:pPr>
                        <a:lnSpc>
                          <a:spcPct val="107000"/>
                        </a:lnSpc>
                        <a:spcAft>
                          <a:spcPts val="800"/>
                        </a:spcAft>
                      </a:pPr>
                      <a:r>
                        <a:rPr lang="en-IN" sz="1800" b="0" kern="100" dirty="0">
                          <a:effectLst/>
                          <a:latin typeface="Calibri" panose="020F0502020204030204" pitchFamily="34" charset="0"/>
                          <a:ea typeface="Calibri" panose="020F0502020204030204" pitchFamily="34" charset="0"/>
                          <a:cs typeface="Times New Roman" panose="02020603050405020304" pitchFamily="18" charset="0"/>
                        </a:rPr>
                        <a:t>H(4, 0) =H(4, 10)</a:t>
                      </a:r>
                    </a:p>
                  </a:txBody>
                  <a:tcPr marL="68580" marR="68580" marT="0" marB="0"/>
                </a:tc>
                <a:tc>
                  <a:txBody>
                    <a:bodyPr/>
                    <a:lstStyle/>
                    <a:p>
                      <a:pPr>
                        <a:lnSpc>
                          <a:spcPct val="107000"/>
                        </a:lnSpc>
                        <a:spcAft>
                          <a:spcPts val="800"/>
                        </a:spcAft>
                      </a:pPr>
                      <a:r>
                        <a:rPr lang="en-IN" sz="1800" kern="100">
                          <a:effectLst/>
                          <a:latin typeface="Calibri" panose="020F0502020204030204" pitchFamily="34" charset="0"/>
                          <a:ea typeface="Calibri" panose="020F0502020204030204" pitchFamily="34" charset="0"/>
                          <a:cs typeface="Times New Roman" panose="02020603050405020304" pitchFamily="18" charset="0"/>
                        </a:rPr>
                        <a:t>0.007166806885109</a:t>
                      </a:r>
                    </a:p>
                  </a:txBody>
                  <a:tcPr marL="68580" marR="68580" marT="0" marB="0"/>
                </a:tc>
                <a:tc>
                  <a:txBody>
                    <a:bodyPr/>
                    <a:lstStyle/>
                    <a:p>
                      <a:pPr>
                        <a:lnSpc>
                          <a:spcPct val="107000"/>
                        </a:lnSpc>
                        <a:spcAft>
                          <a:spcPts val="800"/>
                        </a:spcAft>
                      </a:pPr>
                      <a:r>
                        <a:rPr lang="en-IN" sz="1800" kern="100">
                          <a:effectLst/>
                          <a:latin typeface="Calibri" panose="020F0502020204030204" pitchFamily="34" charset="0"/>
                          <a:ea typeface="Calibri" panose="020F0502020204030204" pitchFamily="34" charset="0"/>
                          <a:cs typeface="Times New Roman" panose="02020603050405020304" pitchFamily="18" charset="0"/>
                        </a:rPr>
                        <a:t>.000000+00-0+</a:t>
                      </a:r>
                    </a:p>
                  </a:txBody>
                  <a:tcPr marL="68580" marR="68580" marT="0" marB="0"/>
                </a:tc>
                <a:extLst>
                  <a:ext uri="{0D108BD9-81ED-4DB2-BD59-A6C34878D82A}">
                    <a16:rowId xmlns:a16="http://schemas.microsoft.com/office/drawing/2014/main" val="2438862524"/>
                  </a:ext>
                </a:extLst>
              </a:tr>
              <a:tr h="430819">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IN" sz="18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H(4, 1) =H(4, 9)</a:t>
                      </a:r>
                    </a:p>
                  </a:txBody>
                  <a:tcPr marL="68580" marR="68580" marT="0" marB="0"/>
                </a:tc>
                <a:tc>
                  <a:txBody>
                    <a:bodyPr/>
                    <a:lstStyle/>
                    <a:p>
                      <a:pPr>
                        <a:lnSpc>
                          <a:spcPct val="107000"/>
                        </a:lnSpc>
                        <a:spcAft>
                          <a:spcPts val="800"/>
                        </a:spcAft>
                      </a:pPr>
                      <a:r>
                        <a:rPr lang="en-IN" sz="1800" kern="100">
                          <a:effectLst/>
                          <a:latin typeface="Calibri" panose="020F0502020204030204" pitchFamily="34" charset="0"/>
                          <a:ea typeface="Calibri" panose="020F0502020204030204" pitchFamily="34" charset="0"/>
                          <a:cs typeface="Times New Roman" panose="02020603050405020304" pitchFamily="18" charset="0"/>
                        </a:rPr>
                        <a:t>-0.016868387157439</a:t>
                      </a:r>
                    </a:p>
                  </a:txBody>
                  <a:tcPr marL="68580" marR="68580" marT="0" marB="0"/>
                </a:tc>
                <a:tc>
                  <a:txBody>
                    <a:bodyPr/>
                    <a:lstStyle/>
                    <a:p>
                      <a:pPr>
                        <a:lnSpc>
                          <a:spcPct val="107000"/>
                        </a:lnSpc>
                        <a:spcAft>
                          <a:spcPts val="800"/>
                        </a:spcAft>
                      </a:pPr>
                      <a:r>
                        <a:rPr lang="en-IN" sz="1800" kern="100">
                          <a:effectLst/>
                          <a:latin typeface="Calibri" panose="020F0502020204030204" pitchFamily="34" charset="0"/>
                          <a:ea typeface="Calibri" panose="020F0502020204030204" pitchFamily="34" charset="0"/>
                          <a:cs typeface="Times New Roman" panose="02020603050405020304" pitchFamily="18" charset="0"/>
                        </a:rPr>
                        <a:t>.00000-000-0-</a:t>
                      </a:r>
                    </a:p>
                  </a:txBody>
                  <a:tcPr marL="68580" marR="68580" marT="0" marB="0"/>
                </a:tc>
                <a:extLst>
                  <a:ext uri="{0D108BD9-81ED-4DB2-BD59-A6C34878D82A}">
                    <a16:rowId xmlns:a16="http://schemas.microsoft.com/office/drawing/2014/main" val="2107859079"/>
                  </a:ext>
                </a:extLst>
              </a:tr>
              <a:tr h="430819">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IN" sz="18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H(4, 2) =H(4, 8)</a:t>
                      </a:r>
                    </a:p>
                  </a:txBody>
                  <a:tcPr marL="68580" marR="68580" marT="0" marB="0"/>
                </a:tc>
                <a:tc>
                  <a:txBody>
                    <a:bodyPr/>
                    <a:lstStyle/>
                    <a:p>
                      <a:pPr>
                        <a:lnSpc>
                          <a:spcPct val="107000"/>
                        </a:lnSpc>
                        <a:spcAft>
                          <a:spcPts val="800"/>
                        </a:spcAft>
                      </a:pPr>
                      <a:r>
                        <a:rPr lang="en-IN" sz="1800" kern="100">
                          <a:effectLst/>
                          <a:latin typeface="Calibri" panose="020F0502020204030204" pitchFamily="34" charset="0"/>
                          <a:ea typeface="Calibri" panose="020F0502020204030204" pitchFamily="34" charset="0"/>
                          <a:cs typeface="Times New Roman" panose="02020603050405020304" pitchFamily="18" charset="0"/>
                        </a:rPr>
                        <a:t>0.024649517281923</a:t>
                      </a:r>
                    </a:p>
                  </a:txBody>
                  <a:tcPr marL="68580" marR="68580" marT="0" marB="0"/>
                </a:tc>
                <a:tc>
                  <a:txBody>
                    <a:bodyPr/>
                    <a:lstStyle/>
                    <a:p>
                      <a:pPr>
                        <a:lnSpc>
                          <a:spcPct val="107000"/>
                        </a:lnSpc>
                        <a:spcAft>
                          <a:spcPts val="800"/>
                        </a:spcAft>
                      </a:pPr>
                      <a:r>
                        <a:rPr lang="en-IN" sz="1800" kern="100">
                          <a:effectLst/>
                          <a:latin typeface="Calibri" panose="020F0502020204030204" pitchFamily="34" charset="0"/>
                          <a:ea typeface="Calibri" panose="020F0502020204030204" pitchFamily="34" charset="0"/>
                          <a:cs typeface="Times New Roman" panose="02020603050405020304" pitchFamily="18" charset="0"/>
                        </a:rPr>
                        <a:t>.0000+0-00+00</a:t>
                      </a:r>
                    </a:p>
                  </a:txBody>
                  <a:tcPr marL="68580" marR="68580" marT="0" marB="0"/>
                </a:tc>
                <a:extLst>
                  <a:ext uri="{0D108BD9-81ED-4DB2-BD59-A6C34878D82A}">
                    <a16:rowId xmlns:a16="http://schemas.microsoft.com/office/drawing/2014/main" val="2703293614"/>
                  </a:ext>
                </a:extLst>
              </a:tr>
              <a:tr h="430819">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IN" sz="18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H(4, 3) =H(4, 7)</a:t>
                      </a:r>
                    </a:p>
                  </a:txBody>
                  <a:tcPr marL="68580" marR="68580" marT="0" marB="0"/>
                </a:tc>
                <a:tc>
                  <a:txBody>
                    <a:bodyPr/>
                    <a:lstStyle/>
                    <a:p>
                      <a:pPr>
                        <a:lnSpc>
                          <a:spcPct val="107000"/>
                        </a:lnSpc>
                        <a:spcAft>
                          <a:spcPts val="800"/>
                        </a:spcAft>
                      </a:pPr>
                      <a:r>
                        <a:rPr lang="en-IN" sz="1800" kern="100">
                          <a:effectLst/>
                          <a:latin typeface="Calibri" panose="020F0502020204030204" pitchFamily="34" charset="0"/>
                          <a:ea typeface="Calibri" panose="020F0502020204030204" pitchFamily="34" charset="0"/>
                          <a:cs typeface="Times New Roman" panose="02020603050405020304" pitchFamily="18" charset="0"/>
                        </a:rPr>
                        <a:t>-0.027080046645711</a:t>
                      </a:r>
                    </a:p>
                  </a:txBody>
                  <a:tcPr marL="68580" marR="68580" marT="0" marB="0"/>
                </a:tc>
                <a:tc>
                  <a:txBody>
                    <a:bodyPr/>
                    <a:lstStyle/>
                    <a:p>
                      <a:pPr>
                        <a:lnSpc>
                          <a:spcPct val="107000"/>
                        </a:lnSpc>
                        <a:spcAft>
                          <a:spcPts val="800"/>
                        </a:spcAft>
                      </a:pPr>
                      <a:r>
                        <a:rPr lang="en-IN" sz="1800" kern="100">
                          <a:effectLst/>
                          <a:latin typeface="Calibri" panose="020F0502020204030204" pitchFamily="34" charset="0"/>
                          <a:ea typeface="Calibri" panose="020F0502020204030204" pitchFamily="34" charset="0"/>
                          <a:cs typeface="Times New Roman" panose="02020603050405020304" pitchFamily="18" charset="0"/>
                        </a:rPr>
                        <a:t>.0000-00+00+0</a:t>
                      </a:r>
                    </a:p>
                  </a:txBody>
                  <a:tcPr marL="68580" marR="68580" marT="0" marB="0"/>
                </a:tc>
                <a:extLst>
                  <a:ext uri="{0D108BD9-81ED-4DB2-BD59-A6C34878D82A}">
                    <a16:rowId xmlns:a16="http://schemas.microsoft.com/office/drawing/2014/main" val="3776624642"/>
                  </a:ext>
                </a:extLst>
              </a:tr>
              <a:tr h="430819">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IN" sz="18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H(4, 4) =H(4, 6)</a:t>
                      </a:r>
                    </a:p>
                  </a:txBody>
                  <a:tcPr marL="68580" marR="68580" marT="0" marB="0"/>
                </a:tc>
                <a:tc>
                  <a:txBody>
                    <a:bodyPr/>
                    <a:lstStyle/>
                    <a:p>
                      <a:pPr>
                        <a:lnSpc>
                          <a:spcPct val="107000"/>
                        </a:lnSpc>
                        <a:spcAft>
                          <a:spcPts val="800"/>
                        </a:spcAft>
                      </a:pPr>
                      <a:r>
                        <a:rPr lang="en-IN" sz="1800" kern="100">
                          <a:effectLst/>
                          <a:latin typeface="Calibri" panose="020F0502020204030204" pitchFamily="34" charset="0"/>
                          <a:ea typeface="Calibri" panose="020F0502020204030204" pitchFamily="34" charset="0"/>
                          <a:cs typeface="Times New Roman" panose="02020603050405020304" pitchFamily="18" charset="0"/>
                        </a:rPr>
                        <a:t>0.001990013552999</a:t>
                      </a:r>
                    </a:p>
                  </a:txBody>
                  <a:tcPr marL="68580" marR="68580" marT="0" marB="0"/>
                </a:tc>
                <a:tc>
                  <a:txBody>
                    <a:bodyPr/>
                    <a:lstStyle/>
                    <a:p>
                      <a:pPr>
                        <a:lnSpc>
                          <a:spcPct val="107000"/>
                        </a:lnSpc>
                        <a:spcAft>
                          <a:spcPts val="800"/>
                        </a:spcAft>
                      </a:pPr>
                      <a:r>
                        <a:rPr lang="en-IN" sz="1800" kern="100">
                          <a:effectLst/>
                          <a:latin typeface="Calibri" panose="020F0502020204030204" pitchFamily="34" charset="0"/>
                          <a:ea typeface="Calibri" panose="020F0502020204030204" pitchFamily="34" charset="0"/>
                          <a:cs typeface="Times New Roman" panose="02020603050405020304" pitchFamily="18" charset="0"/>
                        </a:rPr>
                        <a:t>.00000000+000</a:t>
                      </a:r>
                    </a:p>
                  </a:txBody>
                  <a:tcPr marL="68580" marR="68580" marT="0" marB="0"/>
                </a:tc>
                <a:extLst>
                  <a:ext uri="{0D108BD9-81ED-4DB2-BD59-A6C34878D82A}">
                    <a16:rowId xmlns:a16="http://schemas.microsoft.com/office/drawing/2014/main" val="994192595"/>
                  </a:ext>
                </a:extLst>
              </a:tr>
              <a:tr h="430819">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IN" sz="18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H(4, 5)</a:t>
                      </a:r>
                    </a:p>
                  </a:txBody>
                  <a:tcPr marL="68580" marR="68580" marT="0" marB="0"/>
                </a:tc>
                <a:tc>
                  <a:txBody>
                    <a:bodyPr/>
                    <a:lstStyle/>
                    <a:p>
                      <a:pPr>
                        <a:lnSpc>
                          <a:spcPct val="107000"/>
                        </a:lnSpc>
                        <a:spcAft>
                          <a:spcPts val="800"/>
                        </a:spcAft>
                      </a:pPr>
                      <a:r>
                        <a:rPr lang="en-IN" sz="1800" kern="100">
                          <a:effectLst/>
                          <a:latin typeface="Calibri" panose="020F0502020204030204" pitchFamily="34" charset="0"/>
                          <a:ea typeface="Calibri" panose="020F0502020204030204" pitchFamily="34" charset="0"/>
                          <a:cs typeface="Times New Roman" panose="02020603050405020304" pitchFamily="18" charset="0"/>
                        </a:rPr>
                        <a:t>0.155509543046362</a:t>
                      </a:r>
                    </a:p>
                  </a:txBody>
                  <a:tcPr marL="68580" marR="68580" marT="0" marB="0"/>
                </a:tc>
                <a:tc>
                  <a:txBody>
                    <a:bodyPr/>
                    <a:lstStyle/>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.00+0+0000-00</a:t>
                      </a:r>
                    </a:p>
                  </a:txBody>
                  <a:tcPr marL="68580" marR="68580" marT="0" marB="0"/>
                </a:tc>
                <a:extLst>
                  <a:ext uri="{0D108BD9-81ED-4DB2-BD59-A6C34878D82A}">
                    <a16:rowId xmlns:a16="http://schemas.microsoft.com/office/drawing/2014/main" val="3966144645"/>
                  </a:ext>
                </a:extLst>
              </a:tr>
            </a:tbl>
          </a:graphicData>
        </a:graphic>
      </p:graphicFrame>
    </p:spTree>
    <p:extLst>
      <p:ext uri="{BB962C8B-B14F-4D97-AF65-F5344CB8AC3E}">
        <p14:creationId xmlns:p14="http://schemas.microsoft.com/office/powerpoint/2010/main" val="7110966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E87CD576-A46E-3F9D-0BA9-D667CDA21102}"/>
              </a:ext>
            </a:extLst>
          </p:cNvPr>
          <p:cNvSpPr>
            <a:spLocks noChangeArrowheads="1"/>
          </p:cNvSpPr>
          <p:nvPr/>
        </p:nvSpPr>
        <p:spPr bwMode="auto">
          <a:xfrm>
            <a:off x="889069" y="391987"/>
            <a:ext cx="1056640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724400" algn="r"/>
              </a:tabLst>
              <a:defRPr>
                <a:solidFill>
                  <a:schemeClr val="tx1"/>
                </a:solidFill>
                <a:latin typeface="Arial" panose="020B0604020202020204" pitchFamily="34" charset="0"/>
              </a:defRPr>
            </a:lvl1pPr>
            <a:lvl2pPr eaLnBrk="0" fontAlgn="base" hangingPunct="0">
              <a:spcBef>
                <a:spcPct val="0"/>
              </a:spcBef>
              <a:spcAft>
                <a:spcPct val="0"/>
              </a:spcAft>
              <a:tabLst>
                <a:tab pos="4724400" algn="r"/>
              </a:tabLst>
              <a:defRPr>
                <a:solidFill>
                  <a:schemeClr val="tx1"/>
                </a:solidFill>
                <a:latin typeface="Arial" panose="020B0604020202020204" pitchFamily="34" charset="0"/>
              </a:defRPr>
            </a:lvl2pPr>
            <a:lvl3pPr eaLnBrk="0" fontAlgn="base" hangingPunct="0">
              <a:spcBef>
                <a:spcPct val="0"/>
              </a:spcBef>
              <a:spcAft>
                <a:spcPct val="0"/>
              </a:spcAft>
              <a:tabLst>
                <a:tab pos="4724400" algn="r"/>
              </a:tabLst>
              <a:defRPr>
                <a:solidFill>
                  <a:schemeClr val="tx1"/>
                </a:solidFill>
                <a:latin typeface="Arial" panose="020B0604020202020204" pitchFamily="34" charset="0"/>
              </a:defRPr>
            </a:lvl3pPr>
            <a:lvl4pPr eaLnBrk="0" fontAlgn="base" hangingPunct="0">
              <a:spcBef>
                <a:spcPct val="0"/>
              </a:spcBef>
              <a:spcAft>
                <a:spcPct val="0"/>
              </a:spcAft>
              <a:tabLst>
                <a:tab pos="4724400" algn="r"/>
              </a:tabLst>
              <a:defRPr>
                <a:solidFill>
                  <a:schemeClr val="tx1"/>
                </a:solidFill>
                <a:latin typeface="Arial" panose="020B0604020202020204" pitchFamily="34" charset="0"/>
              </a:defRPr>
            </a:lvl4pPr>
            <a:lvl5pPr eaLnBrk="0" fontAlgn="base" hangingPunct="0">
              <a:spcBef>
                <a:spcPct val="0"/>
              </a:spcBef>
              <a:spcAft>
                <a:spcPct val="0"/>
              </a:spcAft>
              <a:tabLst>
                <a:tab pos="4724400" algn="r"/>
              </a:tabLst>
              <a:defRPr>
                <a:solidFill>
                  <a:schemeClr val="tx1"/>
                </a:solidFill>
                <a:latin typeface="Arial" panose="020B0604020202020204" pitchFamily="34" charset="0"/>
              </a:defRPr>
            </a:lvl5pPr>
            <a:lvl6pPr eaLnBrk="0" fontAlgn="base" hangingPunct="0">
              <a:spcBef>
                <a:spcPct val="0"/>
              </a:spcBef>
              <a:spcAft>
                <a:spcPct val="0"/>
              </a:spcAft>
              <a:tabLst>
                <a:tab pos="4724400" algn="r"/>
              </a:tabLst>
              <a:defRPr>
                <a:solidFill>
                  <a:schemeClr val="tx1"/>
                </a:solidFill>
                <a:latin typeface="Arial" panose="020B0604020202020204" pitchFamily="34" charset="0"/>
              </a:defRPr>
            </a:lvl6pPr>
            <a:lvl7pPr eaLnBrk="0" fontAlgn="base" hangingPunct="0">
              <a:spcBef>
                <a:spcPct val="0"/>
              </a:spcBef>
              <a:spcAft>
                <a:spcPct val="0"/>
              </a:spcAft>
              <a:tabLst>
                <a:tab pos="4724400" algn="r"/>
              </a:tabLst>
              <a:defRPr>
                <a:solidFill>
                  <a:schemeClr val="tx1"/>
                </a:solidFill>
                <a:latin typeface="Arial" panose="020B0604020202020204" pitchFamily="34" charset="0"/>
              </a:defRPr>
            </a:lvl7pPr>
            <a:lvl8pPr eaLnBrk="0" fontAlgn="base" hangingPunct="0">
              <a:spcBef>
                <a:spcPct val="0"/>
              </a:spcBef>
              <a:spcAft>
                <a:spcPct val="0"/>
              </a:spcAft>
              <a:tabLst>
                <a:tab pos="4724400" algn="r"/>
              </a:tabLst>
              <a:defRPr>
                <a:solidFill>
                  <a:schemeClr val="tx1"/>
                </a:solidFill>
                <a:latin typeface="Arial" panose="020B0604020202020204" pitchFamily="34" charset="0"/>
              </a:defRPr>
            </a:lvl8pPr>
            <a:lvl9pPr eaLnBrk="0" fontAlgn="base" hangingPunct="0">
              <a:spcBef>
                <a:spcPct val="0"/>
              </a:spcBef>
              <a:spcAft>
                <a:spcPct val="0"/>
              </a:spcAft>
              <a:tabLst>
                <a:tab pos="4724400" algn="r"/>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4724400" algn="r"/>
              </a:tabLst>
            </a:pPr>
            <a:r>
              <a:rPr kumimoji="0" lang="en-US" altLang="en-US" sz="16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Row Filter 5 :</a:t>
            </a:r>
            <a:r>
              <a:rPr kumimoji="0" lang="en-US" altLang="en-US" sz="16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Y = [x+(x-10)]&gt;&gt;7 - [x+(x-10)]&gt;&gt;10 + [x+(x-10)]&gt;&gt;12 - [(x-1)+(x-9)]&gt;&gt;6 - [(x-1)+(x-9)]&gt;&gt;10 - [(x-1)+(x-9)]&gt;&gt;12 + [(x-2)+(x-8)]&gt;&gt;5 - [(x-2)+(x-8)]&gt;&gt;7 + [(x-2)+(x-8)]&gt;&gt;10 - [(x-3)+(x-7)]&gt;&gt;5 + [(x-3)+(x-7)]&gt;&gt;8 + [(x-3)+(x-7)]&gt;&gt;11 + [(x-4)+(x-6)]&gt;&gt;9 + [(x-5)]&gt;&gt;3 + [(x-5)]&gt;&gt;5 - [(x-5)]&gt;&gt;10    (3.2.5)</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724400" algn="r"/>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4097" name="Picture 5">
            <a:extLst>
              <a:ext uri="{FF2B5EF4-FFF2-40B4-BE49-F238E27FC236}">
                <a16:creationId xmlns:a16="http://schemas.microsoft.com/office/drawing/2014/main" id="{7CC41BD0-05B3-A28C-0353-A585D36356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4714" y="1333423"/>
            <a:ext cx="6330109" cy="423911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EF2D2022-3003-9109-09D6-1ACCC1D01073}"/>
              </a:ext>
            </a:extLst>
          </p:cNvPr>
          <p:cNvSpPr>
            <a:spLocks noChangeArrowheads="1"/>
          </p:cNvSpPr>
          <p:nvPr/>
        </p:nvSpPr>
        <p:spPr bwMode="auto">
          <a:xfrm>
            <a:off x="3903944" y="5870547"/>
            <a:ext cx="415530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1pPr>
            <a:lvl2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2pPr>
            <a:lvl3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3pPr>
            <a:lvl4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4pPr>
            <a:lvl5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5pPr>
            <a:lvl6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6pPr>
            <a:lvl7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7pPr>
            <a:lvl8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8pPr>
            <a:lvl9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tabLst>
                <a:tab pos="228600" algn="l"/>
                <a:tab pos="3205163" algn="ctr"/>
                <a:tab pos="5673725" algn="l"/>
              </a:tabLst>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Fig: </a:t>
            </a:r>
            <a:r>
              <a:rPr kumimoji="0" lang="en-US" altLang="en-US" sz="16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Architecture of FIR filter for row-filter 5</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98301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215DD90-95AD-6EA9-BCE3-C4455A63803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660" y="1687434"/>
            <a:ext cx="10711858" cy="2939924"/>
          </a:xfrm>
          <a:prstGeom prst="rect">
            <a:avLst/>
          </a:prstGeom>
          <a:noFill/>
          <a:ln>
            <a:noFill/>
          </a:ln>
        </p:spPr>
      </p:pic>
      <p:sp>
        <p:nvSpPr>
          <p:cNvPr id="3" name="TextBox 2">
            <a:extLst>
              <a:ext uri="{FF2B5EF4-FFF2-40B4-BE49-F238E27FC236}">
                <a16:creationId xmlns:a16="http://schemas.microsoft.com/office/drawing/2014/main" id="{BF587EFA-AFDA-2AAF-896A-94BD08B4A95D}"/>
              </a:ext>
            </a:extLst>
          </p:cNvPr>
          <p:cNvSpPr txBox="1"/>
          <p:nvPr/>
        </p:nvSpPr>
        <p:spPr>
          <a:xfrm>
            <a:off x="4612741" y="5170566"/>
            <a:ext cx="6097508" cy="338554"/>
          </a:xfrm>
          <a:prstGeom prst="rect">
            <a:avLst/>
          </a:prstGeom>
          <a:noFill/>
        </p:spPr>
        <p:txBody>
          <a:bodyPr wrap="square">
            <a:spAutoFit/>
          </a:bodyPr>
          <a:lstStyle/>
          <a:p>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Fig: RTL Schematic of row filter 5</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6717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EBEAA3F-F165-449F-B736-6BC243717261}"/>
              </a:ext>
            </a:extLst>
          </p:cNvPr>
          <p:cNvSpPr>
            <a:spLocks noGrp="1"/>
          </p:cNvSpPr>
          <p:nvPr>
            <p:ph type="title"/>
          </p:nvPr>
        </p:nvSpPr>
        <p:spPr>
          <a:xfrm>
            <a:off x="1119554" y="195360"/>
            <a:ext cx="10515600" cy="1325563"/>
          </a:xfrm>
        </p:spPr>
        <p:txBody>
          <a:bodyPr/>
          <a:lstStyle/>
          <a:p>
            <a:pPr algn="ctr"/>
            <a:r>
              <a:rPr lang="en-US" dirty="0">
                <a:solidFill>
                  <a:srgbClr val="FF0000"/>
                </a:solidFill>
                <a:latin typeface="+mn-lt"/>
              </a:rPr>
              <a:t>ROW FILTER-6 CSD CODE</a:t>
            </a:r>
          </a:p>
        </p:txBody>
      </p:sp>
      <p:pic>
        <p:nvPicPr>
          <p:cNvPr id="5" name="Picture 2">
            <a:extLst>
              <a:ext uri="{FF2B5EF4-FFF2-40B4-BE49-F238E27FC236}">
                <a16:creationId xmlns:a16="http://schemas.microsoft.com/office/drawing/2014/main" id="{2906E85D-C4C9-461A-AAA4-8654A5849D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750703" cy="152092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7">
            <a:extLst>
              <a:ext uri="{FF2B5EF4-FFF2-40B4-BE49-F238E27FC236}">
                <a16:creationId xmlns:a16="http://schemas.microsoft.com/office/drawing/2014/main" id="{B6A8123C-EB82-B7BC-14AB-7F4300573CB1}"/>
              </a:ext>
            </a:extLst>
          </p:cNvPr>
          <p:cNvGraphicFramePr>
            <a:graphicFrameLocks noGrp="1"/>
          </p:cNvGraphicFramePr>
          <p:nvPr>
            <p:extLst>
              <p:ext uri="{D42A27DB-BD31-4B8C-83A1-F6EECF244321}">
                <p14:modId xmlns:p14="http://schemas.microsoft.com/office/powerpoint/2010/main" val="70759530"/>
              </p:ext>
            </p:extLst>
          </p:nvPr>
        </p:nvGraphicFramePr>
        <p:xfrm>
          <a:off x="3140740" y="1931100"/>
          <a:ext cx="6473227" cy="3321723"/>
        </p:xfrm>
        <a:graphic>
          <a:graphicData uri="http://schemas.openxmlformats.org/drawingml/2006/table">
            <a:tbl>
              <a:tblPr firstRow="1" bandRow="1">
                <a:effectLst>
                  <a:outerShdw blurRad="50800" dist="38100" dir="5400000" algn="t" rotWithShape="0">
                    <a:prstClr val="black">
                      <a:alpha val="40000"/>
                    </a:prstClr>
                  </a:outerShdw>
                </a:effectLst>
                <a:tableStyleId>{073A0DAA-6AF3-43AB-8588-CEC1D06C72B9}</a:tableStyleId>
              </a:tblPr>
              <a:tblGrid>
                <a:gridCol w="1713627">
                  <a:extLst>
                    <a:ext uri="{9D8B030D-6E8A-4147-A177-3AD203B41FA5}">
                      <a16:colId xmlns:a16="http://schemas.microsoft.com/office/drawing/2014/main" val="847645232"/>
                    </a:ext>
                  </a:extLst>
                </a:gridCol>
                <a:gridCol w="2379800">
                  <a:extLst>
                    <a:ext uri="{9D8B030D-6E8A-4147-A177-3AD203B41FA5}">
                      <a16:colId xmlns:a16="http://schemas.microsoft.com/office/drawing/2014/main" val="2784531723"/>
                    </a:ext>
                  </a:extLst>
                </a:gridCol>
                <a:gridCol w="2379800">
                  <a:extLst>
                    <a:ext uri="{9D8B030D-6E8A-4147-A177-3AD203B41FA5}">
                      <a16:colId xmlns:a16="http://schemas.microsoft.com/office/drawing/2014/main" val="3233611955"/>
                    </a:ext>
                  </a:extLst>
                </a:gridCol>
              </a:tblGrid>
              <a:tr h="736809">
                <a:tc>
                  <a:txBody>
                    <a:bodyPr/>
                    <a:lstStyle/>
                    <a:p>
                      <a:endParaRPr lang="en-US" sz="2000" dirty="0"/>
                    </a:p>
                  </a:txBody>
                  <a:tcPr/>
                </a:tc>
                <a:tc>
                  <a:txBody>
                    <a:bodyPr/>
                    <a:lstStyle/>
                    <a:p>
                      <a:r>
                        <a:rPr lang="en-US" sz="2000" dirty="0"/>
                        <a:t>       Filter Coefficients</a:t>
                      </a:r>
                    </a:p>
                  </a:txBody>
                  <a:tcPr/>
                </a:tc>
                <a:tc>
                  <a:txBody>
                    <a:bodyPr/>
                    <a:lstStyle/>
                    <a:p>
                      <a:r>
                        <a:rPr lang="en-US" dirty="0"/>
                        <a:t>         </a:t>
                      </a:r>
                      <a:r>
                        <a:rPr lang="en-US" sz="2000" dirty="0"/>
                        <a:t>CSD Representation</a:t>
                      </a:r>
                    </a:p>
                  </a:txBody>
                  <a:tcPr/>
                </a:tc>
                <a:extLst>
                  <a:ext uri="{0D108BD9-81ED-4DB2-BD59-A6C34878D82A}">
                    <a16:rowId xmlns:a16="http://schemas.microsoft.com/office/drawing/2014/main" val="3975888384"/>
                  </a:ext>
                </a:extLst>
              </a:tr>
              <a:tr h="430819">
                <a:tc>
                  <a:txBody>
                    <a:bodyPr/>
                    <a:lstStyle/>
                    <a:p>
                      <a:pPr>
                        <a:lnSpc>
                          <a:spcPct val="107000"/>
                        </a:lnSpc>
                        <a:spcAft>
                          <a:spcPts val="800"/>
                        </a:spcAft>
                      </a:pPr>
                      <a:r>
                        <a:rPr lang="en-IN" sz="1800" b="0" kern="100" dirty="0">
                          <a:effectLst/>
                          <a:latin typeface="Calibri" panose="020F0502020204030204" pitchFamily="34" charset="0"/>
                          <a:ea typeface="Calibri" panose="020F0502020204030204" pitchFamily="34" charset="0"/>
                          <a:cs typeface="Times New Roman" panose="02020603050405020304" pitchFamily="18" charset="0"/>
                        </a:rPr>
                        <a:t>H(5, 0) =H(5, 10)</a:t>
                      </a:r>
                    </a:p>
                  </a:txBody>
                  <a:tcPr marL="68580" marR="68580" marT="0" marB="0"/>
                </a:tc>
                <a:tc>
                  <a:txBody>
                    <a:bodyPr/>
                    <a:lstStyle/>
                    <a:p>
                      <a:pPr>
                        <a:lnSpc>
                          <a:spcPct val="107000"/>
                        </a:lnSpc>
                        <a:spcAft>
                          <a:spcPts val="800"/>
                        </a:spcAft>
                      </a:pPr>
                      <a:r>
                        <a:rPr lang="en-IN" sz="1600" kern="100">
                          <a:effectLst/>
                          <a:latin typeface="Calibri" panose="020F0502020204030204" pitchFamily="34" charset="0"/>
                          <a:ea typeface="Calibri" panose="020F0502020204030204" pitchFamily="34" charset="0"/>
                          <a:cs typeface="Times New Roman" panose="02020603050405020304" pitchFamily="18" charset="0"/>
                        </a:rPr>
                        <a:t>0.008600168262131</a:t>
                      </a:r>
                    </a:p>
                  </a:txBody>
                  <a:tcPr marL="68580" marR="68580" marT="0" marB="0"/>
                </a:tc>
                <a:tc>
                  <a:txBody>
                    <a:bodyPr/>
                    <a:lstStyle/>
                    <a:p>
                      <a:pPr>
                        <a:lnSpc>
                          <a:spcPct val="107000"/>
                        </a:lnSpc>
                        <a:spcAft>
                          <a:spcPts val="800"/>
                        </a:spcAft>
                      </a:pPr>
                      <a:r>
                        <a:rPr lang="en-IN" sz="1600" kern="100">
                          <a:effectLst/>
                          <a:latin typeface="Calibri" panose="020F0502020204030204" pitchFamily="34" charset="0"/>
                          <a:ea typeface="Calibri" panose="020F0502020204030204" pitchFamily="34" charset="0"/>
                          <a:cs typeface="Times New Roman" panose="02020603050405020304" pitchFamily="18" charset="0"/>
                        </a:rPr>
                        <a:t>.000000+00+0-</a:t>
                      </a:r>
                    </a:p>
                  </a:txBody>
                  <a:tcPr marL="68580" marR="68580" marT="0" marB="0"/>
                </a:tc>
                <a:extLst>
                  <a:ext uri="{0D108BD9-81ED-4DB2-BD59-A6C34878D82A}">
                    <a16:rowId xmlns:a16="http://schemas.microsoft.com/office/drawing/2014/main" val="2438862524"/>
                  </a:ext>
                </a:extLst>
              </a:tr>
              <a:tr h="430819">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IN" sz="18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H(5, 1) =H(5, 9)</a:t>
                      </a:r>
                    </a:p>
                  </a:txBody>
                  <a:tcPr marL="68580" marR="68580" marT="0" marB="0"/>
                </a:tc>
                <a:tc>
                  <a:txBody>
                    <a:bodyPr/>
                    <a:lstStyle/>
                    <a:p>
                      <a:pPr>
                        <a:lnSpc>
                          <a:spcPct val="107000"/>
                        </a:lnSpc>
                        <a:spcAft>
                          <a:spcPts val="800"/>
                        </a:spcAft>
                      </a:pPr>
                      <a:r>
                        <a:rPr lang="en-IN" sz="1600" kern="100">
                          <a:effectLst/>
                          <a:latin typeface="Calibri" panose="020F0502020204030204" pitchFamily="34" charset="0"/>
                          <a:ea typeface="Calibri" panose="020F0502020204030204" pitchFamily="34" charset="0"/>
                          <a:cs typeface="Times New Roman" panose="02020603050405020304" pitchFamily="18" charset="0"/>
                        </a:rPr>
                        <a:t>-0.024668887389353</a:t>
                      </a:r>
                    </a:p>
                  </a:txBody>
                  <a:tcPr marL="68580" marR="68580" marT="0" marB="0"/>
                </a:tc>
                <a:tc>
                  <a:txBody>
                    <a:bodyPr/>
                    <a:lstStyle/>
                    <a:p>
                      <a:pPr>
                        <a:lnSpc>
                          <a:spcPct val="107000"/>
                        </a:lnSpc>
                        <a:spcAft>
                          <a:spcPts val="800"/>
                        </a:spcAft>
                      </a:pPr>
                      <a:r>
                        <a:rPr lang="en-IN" sz="1600" kern="100">
                          <a:effectLst/>
                          <a:latin typeface="Calibri" panose="020F0502020204030204" pitchFamily="34" charset="0"/>
                          <a:ea typeface="Calibri" panose="020F0502020204030204" pitchFamily="34" charset="0"/>
                          <a:cs typeface="Times New Roman" panose="02020603050405020304" pitchFamily="18" charset="0"/>
                        </a:rPr>
                        <a:t>.0000-0+00-0-</a:t>
                      </a:r>
                    </a:p>
                  </a:txBody>
                  <a:tcPr marL="68580" marR="68580" marT="0" marB="0"/>
                </a:tc>
                <a:extLst>
                  <a:ext uri="{0D108BD9-81ED-4DB2-BD59-A6C34878D82A}">
                    <a16:rowId xmlns:a16="http://schemas.microsoft.com/office/drawing/2014/main" val="2107859079"/>
                  </a:ext>
                </a:extLst>
              </a:tr>
              <a:tr h="430819">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IN" sz="18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H(5, 2) =H(5, 8)</a:t>
                      </a:r>
                    </a:p>
                  </a:txBody>
                  <a:tcPr marL="68580" marR="68580" marT="0" marB="0"/>
                </a:tc>
                <a:tc>
                  <a:txBody>
                    <a:bodyPr/>
                    <a:lstStyle/>
                    <a:p>
                      <a:pPr>
                        <a:lnSpc>
                          <a:spcPct val="107000"/>
                        </a:lnSpc>
                        <a:spcAft>
                          <a:spcPts val="800"/>
                        </a:spcAft>
                      </a:pPr>
                      <a:r>
                        <a:rPr lang="en-IN" sz="1600" kern="100">
                          <a:effectLst/>
                          <a:latin typeface="Calibri" panose="020F0502020204030204" pitchFamily="34" charset="0"/>
                          <a:ea typeface="Calibri" panose="020F0502020204030204" pitchFamily="34" charset="0"/>
                          <a:cs typeface="Times New Roman" panose="02020603050405020304" pitchFamily="18" charset="0"/>
                        </a:rPr>
                        <a:t>0.048889485737597</a:t>
                      </a:r>
                    </a:p>
                  </a:txBody>
                  <a:tcPr marL="68580" marR="68580" marT="0" marB="0"/>
                </a:tc>
                <a:tc>
                  <a:txBody>
                    <a:bodyPr/>
                    <a:lstStyle/>
                    <a:p>
                      <a:pPr>
                        <a:lnSpc>
                          <a:spcPct val="107000"/>
                        </a:lnSpc>
                        <a:spcAft>
                          <a:spcPts val="800"/>
                        </a:spcAft>
                      </a:pPr>
                      <a:r>
                        <a:rPr lang="en-IN" sz="1600" kern="100">
                          <a:effectLst/>
                          <a:latin typeface="Calibri" panose="020F0502020204030204" pitchFamily="34" charset="0"/>
                          <a:ea typeface="Calibri" panose="020F0502020204030204" pitchFamily="34" charset="0"/>
                          <a:cs typeface="Times New Roman" panose="02020603050405020304" pitchFamily="18" charset="0"/>
                        </a:rPr>
                        <a:t>.000+0-00+000</a:t>
                      </a:r>
                    </a:p>
                  </a:txBody>
                  <a:tcPr marL="68580" marR="68580" marT="0" marB="0"/>
                </a:tc>
                <a:extLst>
                  <a:ext uri="{0D108BD9-81ED-4DB2-BD59-A6C34878D82A}">
                    <a16:rowId xmlns:a16="http://schemas.microsoft.com/office/drawing/2014/main" val="2703293614"/>
                  </a:ext>
                </a:extLst>
              </a:tr>
              <a:tr h="430819">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IN" sz="18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H(5, 3) =H(5, 7)</a:t>
                      </a:r>
                    </a:p>
                  </a:txBody>
                  <a:tcPr marL="68580" marR="68580" marT="0" marB="0"/>
                </a:tc>
                <a:tc>
                  <a:txBody>
                    <a:bodyPr/>
                    <a:lstStyle/>
                    <a:p>
                      <a:pPr>
                        <a:lnSpc>
                          <a:spcPct val="107000"/>
                        </a:lnSpc>
                        <a:spcAft>
                          <a:spcPts val="800"/>
                        </a:spcAft>
                      </a:pPr>
                      <a:r>
                        <a:rPr lang="en-IN" sz="1600" kern="100">
                          <a:effectLst/>
                          <a:latin typeface="Calibri" panose="020F0502020204030204" pitchFamily="34" charset="0"/>
                          <a:ea typeface="Calibri" panose="020F0502020204030204" pitchFamily="34" charset="0"/>
                          <a:cs typeface="Times New Roman" panose="02020603050405020304" pitchFamily="18" charset="0"/>
                        </a:rPr>
                        <a:t>-0.089304781293037</a:t>
                      </a:r>
                    </a:p>
                  </a:txBody>
                  <a:tcPr marL="68580" marR="68580" marT="0" marB="0"/>
                </a:tc>
                <a:tc>
                  <a:txBody>
                    <a:bodyPr/>
                    <a:lstStyle/>
                    <a:p>
                      <a:pPr>
                        <a:lnSpc>
                          <a:spcPct val="107000"/>
                        </a:lnSpc>
                        <a:spcAft>
                          <a:spcPts val="800"/>
                        </a:spcAft>
                      </a:pPr>
                      <a:r>
                        <a:rPr lang="en-IN" sz="1600" kern="100">
                          <a:effectLst/>
                          <a:latin typeface="Calibri" panose="020F0502020204030204" pitchFamily="34" charset="0"/>
                          <a:ea typeface="Calibri" panose="020F0502020204030204" pitchFamily="34" charset="0"/>
                          <a:cs typeface="Times New Roman" panose="02020603050405020304" pitchFamily="18" charset="0"/>
                        </a:rPr>
                        <a:t>.00-0+00+0+0-</a:t>
                      </a:r>
                    </a:p>
                  </a:txBody>
                  <a:tcPr marL="68580" marR="68580" marT="0" marB="0"/>
                </a:tc>
                <a:extLst>
                  <a:ext uri="{0D108BD9-81ED-4DB2-BD59-A6C34878D82A}">
                    <a16:rowId xmlns:a16="http://schemas.microsoft.com/office/drawing/2014/main" val="3776624642"/>
                  </a:ext>
                </a:extLst>
              </a:tr>
              <a:tr h="430819">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IN" sz="18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H(5, 4) =H(5, 6)</a:t>
                      </a:r>
                    </a:p>
                  </a:txBody>
                  <a:tcPr marL="68580" marR="68580" marT="0" marB="0"/>
                </a:tc>
                <a:tc>
                  <a:txBody>
                    <a:bodyPr/>
                    <a:lstStyle/>
                    <a:p>
                      <a:pPr>
                        <a:lnSpc>
                          <a:spcPct val="107000"/>
                        </a:lnSpc>
                        <a:spcAft>
                          <a:spcPts val="800"/>
                        </a:spcAft>
                      </a:pPr>
                      <a:r>
                        <a:rPr lang="en-IN" sz="1600" kern="100">
                          <a:effectLst/>
                          <a:latin typeface="Calibri" panose="020F0502020204030204" pitchFamily="34" charset="0"/>
                          <a:ea typeface="Calibri" panose="020F0502020204030204" pitchFamily="34" charset="0"/>
                          <a:cs typeface="Times New Roman" panose="02020603050405020304" pitchFamily="18" charset="0"/>
                        </a:rPr>
                        <a:t>0.155509543046362</a:t>
                      </a:r>
                    </a:p>
                  </a:txBody>
                  <a:tcPr marL="68580" marR="68580" marT="0" marB="0"/>
                </a:tc>
                <a:tc>
                  <a:txBody>
                    <a:bodyPr/>
                    <a:lstStyle/>
                    <a:p>
                      <a:pPr>
                        <a:lnSpc>
                          <a:spcPct val="107000"/>
                        </a:lnSpc>
                        <a:spcAft>
                          <a:spcPts val="800"/>
                        </a:spcAft>
                      </a:pPr>
                      <a:r>
                        <a:rPr lang="en-IN" sz="1600" kern="100">
                          <a:effectLst/>
                          <a:latin typeface="Calibri" panose="020F0502020204030204" pitchFamily="34" charset="0"/>
                          <a:ea typeface="Calibri" panose="020F0502020204030204" pitchFamily="34" charset="0"/>
                          <a:cs typeface="Times New Roman" panose="02020603050405020304" pitchFamily="18" charset="0"/>
                        </a:rPr>
                        <a:t>.00+0+0000-00</a:t>
                      </a:r>
                    </a:p>
                  </a:txBody>
                  <a:tcPr marL="68580" marR="68580" marT="0" marB="0"/>
                </a:tc>
                <a:extLst>
                  <a:ext uri="{0D108BD9-81ED-4DB2-BD59-A6C34878D82A}">
                    <a16:rowId xmlns:a16="http://schemas.microsoft.com/office/drawing/2014/main" val="994192595"/>
                  </a:ext>
                </a:extLst>
              </a:tr>
              <a:tr h="430819">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IN" sz="18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H(5, 5)</a:t>
                      </a:r>
                    </a:p>
                  </a:txBody>
                  <a:tcPr marL="68580" marR="68580" marT="0" marB="0"/>
                </a:tc>
                <a:tc>
                  <a:txBody>
                    <a:bodyPr/>
                    <a:lstStyle/>
                    <a:p>
                      <a:pPr>
                        <a:lnSpc>
                          <a:spcPct val="107000"/>
                        </a:lnSpc>
                        <a:spcAft>
                          <a:spcPts val="800"/>
                        </a:spcAft>
                      </a:pPr>
                      <a:r>
                        <a:rPr lang="en-IN" sz="1600" kern="100">
                          <a:effectLst/>
                          <a:latin typeface="Calibri" panose="020F0502020204030204" pitchFamily="34" charset="0"/>
                          <a:ea typeface="Calibri" panose="020F0502020204030204" pitchFamily="34" charset="0"/>
                          <a:cs typeface="Times New Roman" panose="02020603050405020304" pitchFamily="18" charset="0"/>
                        </a:rPr>
                        <a:t>0.659225298223813</a:t>
                      </a:r>
                    </a:p>
                  </a:txBody>
                  <a:tcPr marL="68580" marR="68580" marT="0" marB="0"/>
                </a:tc>
                <a:tc>
                  <a:txBody>
                    <a:bodyPr/>
                    <a:lstStyle/>
                    <a:p>
                      <a:pPr>
                        <a:lnSpc>
                          <a:spcPct val="107000"/>
                        </a:lnSpc>
                        <a:spcAft>
                          <a:spcPts val="800"/>
                        </a:spcAf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.+0+0+00+0-00</a:t>
                      </a:r>
                    </a:p>
                  </a:txBody>
                  <a:tcPr marL="68580" marR="68580" marT="0" marB="0"/>
                </a:tc>
                <a:extLst>
                  <a:ext uri="{0D108BD9-81ED-4DB2-BD59-A6C34878D82A}">
                    <a16:rowId xmlns:a16="http://schemas.microsoft.com/office/drawing/2014/main" val="3966144645"/>
                  </a:ext>
                </a:extLst>
              </a:tr>
            </a:tbl>
          </a:graphicData>
        </a:graphic>
      </p:graphicFrame>
    </p:spTree>
    <p:extLst>
      <p:ext uri="{BB962C8B-B14F-4D97-AF65-F5344CB8AC3E}">
        <p14:creationId xmlns:p14="http://schemas.microsoft.com/office/powerpoint/2010/main" val="24836722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5E93D9CD-48BB-CFA7-00DE-5415894D1D0F}"/>
              </a:ext>
            </a:extLst>
          </p:cNvPr>
          <p:cNvSpPr>
            <a:spLocks noChangeArrowheads="1"/>
          </p:cNvSpPr>
          <p:nvPr/>
        </p:nvSpPr>
        <p:spPr bwMode="auto">
          <a:xfrm>
            <a:off x="788337" y="234436"/>
            <a:ext cx="10615325"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724400" algn="r"/>
              </a:tabLst>
              <a:defRPr>
                <a:solidFill>
                  <a:schemeClr val="tx1"/>
                </a:solidFill>
                <a:latin typeface="Arial" panose="020B0604020202020204" pitchFamily="34" charset="0"/>
              </a:defRPr>
            </a:lvl1pPr>
            <a:lvl2pPr eaLnBrk="0" fontAlgn="base" hangingPunct="0">
              <a:spcBef>
                <a:spcPct val="0"/>
              </a:spcBef>
              <a:spcAft>
                <a:spcPct val="0"/>
              </a:spcAft>
              <a:tabLst>
                <a:tab pos="4724400" algn="r"/>
              </a:tabLst>
              <a:defRPr>
                <a:solidFill>
                  <a:schemeClr val="tx1"/>
                </a:solidFill>
                <a:latin typeface="Arial" panose="020B0604020202020204" pitchFamily="34" charset="0"/>
              </a:defRPr>
            </a:lvl2pPr>
            <a:lvl3pPr eaLnBrk="0" fontAlgn="base" hangingPunct="0">
              <a:spcBef>
                <a:spcPct val="0"/>
              </a:spcBef>
              <a:spcAft>
                <a:spcPct val="0"/>
              </a:spcAft>
              <a:tabLst>
                <a:tab pos="4724400" algn="r"/>
              </a:tabLst>
              <a:defRPr>
                <a:solidFill>
                  <a:schemeClr val="tx1"/>
                </a:solidFill>
                <a:latin typeface="Arial" panose="020B0604020202020204" pitchFamily="34" charset="0"/>
              </a:defRPr>
            </a:lvl3pPr>
            <a:lvl4pPr eaLnBrk="0" fontAlgn="base" hangingPunct="0">
              <a:spcBef>
                <a:spcPct val="0"/>
              </a:spcBef>
              <a:spcAft>
                <a:spcPct val="0"/>
              </a:spcAft>
              <a:tabLst>
                <a:tab pos="4724400" algn="r"/>
              </a:tabLst>
              <a:defRPr>
                <a:solidFill>
                  <a:schemeClr val="tx1"/>
                </a:solidFill>
                <a:latin typeface="Arial" panose="020B0604020202020204" pitchFamily="34" charset="0"/>
              </a:defRPr>
            </a:lvl4pPr>
            <a:lvl5pPr eaLnBrk="0" fontAlgn="base" hangingPunct="0">
              <a:spcBef>
                <a:spcPct val="0"/>
              </a:spcBef>
              <a:spcAft>
                <a:spcPct val="0"/>
              </a:spcAft>
              <a:tabLst>
                <a:tab pos="4724400" algn="r"/>
              </a:tabLst>
              <a:defRPr>
                <a:solidFill>
                  <a:schemeClr val="tx1"/>
                </a:solidFill>
                <a:latin typeface="Arial" panose="020B0604020202020204" pitchFamily="34" charset="0"/>
              </a:defRPr>
            </a:lvl5pPr>
            <a:lvl6pPr eaLnBrk="0" fontAlgn="base" hangingPunct="0">
              <a:spcBef>
                <a:spcPct val="0"/>
              </a:spcBef>
              <a:spcAft>
                <a:spcPct val="0"/>
              </a:spcAft>
              <a:tabLst>
                <a:tab pos="4724400" algn="r"/>
              </a:tabLst>
              <a:defRPr>
                <a:solidFill>
                  <a:schemeClr val="tx1"/>
                </a:solidFill>
                <a:latin typeface="Arial" panose="020B0604020202020204" pitchFamily="34" charset="0"/>
              </a:defRPr>
            </a:lvl6pPr>
            <a:lvl7pPr eaLnBrk="0" fontAlgn="base" hangingPunct="0">
              <a:spcBef>
                <a:spcPct val="0"/>
              </a:spcBef>
              <a:spcAft>
                <a:spcPct val="0"/>
              </a:spcAft>
              <a:tabLst>
                <a:tab pos="4724400" algn="r"/>
              </a:tabLst>
              <a:defRPr>
                <a:solidFill>
                  <a:schemeClr val="tx1"/>
                </a:solidFill>
                <a:latin typeface="Arial" panose="020B0604020202020204" pitchFamily="34" charset="0"/>
              </a:defRPr>
            </a:lvl7pPr>
            <a:lvl8pPr eaLnBrk="0" fontAlgn="base" hangingPunct="0">
              <a:spcBef>
                <a:spcPct val="0"/>
              </a:spcBef>
              <a:spcAft>
                <a:spcPct val="0"/>
              </a:spcAft>
              <a:tabLst>
                <a:tab pos="4724400" algn="r"/>
              </a:tabLst>
              <a:defRPr>
                <a:solidFill>
                  <a:schemeClr val="tx1"/>
                </a:solidFill>
                <a:latin typeface="Arial" panose="020B0604020202020204" pitchFamily="34" charset="0"/>
              </a:defRPr>
            </a:lvl8pPr>
            <a:lvl9pPr eaLnBrk="0" fontAlgn="base" hangingPunct="0">
              <a:spcBef>
                <a:spcPct val="0"/>
              </a:spcBef>
              <a:spcAft>
                <a:spcPct val="0"/>
              </a:spcAft>
              <a:tabLst>
                <a:tab pos="4724400" algn="r"/>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4724400" algn="r"/>
              </a:tabLst>
            </a:pPr>
            <a:r>
              <a:rPr kumimoji="0" lang="en-US" altLang="en-US" sz="16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Row Filter 6 :</a:t>
            </a:r>
            <a:r>
              <a:rPr kumimoji="0" lang="en-US" altLang="en-US" sz="16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Y = [x+(x-10)]&gt;&gt;7 - [x+(x-10)]&gt;&gt;10 - [x+(x-10)]&gt;&gt;12 - [(x-1)+(x-9)]&gt;&gt;5 + [(x-1)+(x-9)]&gt;&gt;7 - [(x-1)+(x-9)]&gt;&gt;10 - [(x-1)+(x-9)]&gt;&gt;12 + [(x-2)+(x-8)]&gt;&gt;4 - [(x-2)+(x-8)]&gt;&gt;6 + [(x-2)+(x-8)]&gt;&gt;9 - [(x-3)+(x-7)]&gt;&gt;3 + [(x-3)+(x-7)]&gt;&gt;5 + [(x-3)+(x-7)]&gt;&gt;8 + [(x-3)+(x-7)]&gt;&gt;10 - [(x-3)+(x-7)]&gt;&gt;12 + [(x-4)+(x-6)]&gt;&gt;3 + [(x-4)+(x-6)]&gt;&gt;5 - [(x-4)+(x-6)]&gt;&gt;10 + [(x-5)]&gt;&gt;1 + [(x-5)]&gt;&gt;3 + [(x-5)]&gt;&gt;5 + [(x-5)]&gt;&gt;8 - [(x-5)]&gt;&gt;10                                                                                                                    (3.2.6)</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724400" algn="r"/>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5121" name="Picture 7">
            <a:extLst>
              <a:ext uri="{FF2B5EF4-FFF2-40B4-BE49-F238E27FC236}">
                <a16:creationId xmlns:a16="http://schemas.microsoft.com/office/drawing/2014/main" id="{6E39997B-BED6-D951-8F13-AFB93CAC4F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9854" y="1677095"/>
            <a:ext cx="7589034" cy="393861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47666BB4-ABD9-92CA-9C65-0C65084D2ADC}"/>
              </a:ext>
            </a:extLst>
          </p:cNvPr>
          <p:cNvSpPr>
            <a:spLocks noChangeArrowheads="1"/>
          </p:cNvSpPr>
          <p:nvPr/>
        </p:nvSpPr>
        <p:spPr bwMode="auto">
          <a:xfrm>
            <a:off x="1048327" y="5822669"/>
            <a:ext cx="1009534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1pPr>
            <a:lvl2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2pPr>
            <a:lvl3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3pPr>
            <a:lvl4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4pPr>
            <a:lvl5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5pPr>
            <a:lvl6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6pPr>
            <a:lvl7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7pPr>
            <a:lvl8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8pPr>
            <a:lvl9pPr eaLnBrk="0" fontAlgn="base" hangingPunct="0">
              <a:spcBef>
                <a:spcPct val="0"/>
              </a:spcBef>
              <a:spcAft>
                <a:spcPct val="0"/>
              </a:spcAft>
              <a:tabLst>
                <a:tab pos="228600" algn="l"/>
                <a:tab pos="3205163" algn="ctr"/>
                <a:tab pos="5673725" algn="l"/>
              </a:tabLs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tabLst>
                <a:tab pos="228600" algn="l"/>
                <a:tab pos="3205163" algn="ctr"/>
                <a:tab pos="5673725" algn="l"/>
              </a:tabLst>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Fig: </a:t>
            </a:r>
            <a:r>
              <a:rPr kumimoji="0" lang="en-US" altLang="en-US" sz="16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Architecture of FIR filter for row-filter 6</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77281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18B4F6B-75EA-4928-88E2-C58AE2B4AF0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32930" y="1299193"/>
            <a:ext cx="9726139" cy="3163432"/>
          </a:xfrm>
          <a:prstGeom prst="rect">
            <a:avLst/>
          </a:prstGeom>
          <a:noFill/>
          <a:ln>
            <a:noFill/>
          </a:ln>
        </p:spPr>
      </p:pic>
      <p:sp>
        <p:nvSpPr>
          <p:cNvPr id="7" name="TextBox 6">
            <a:extLst>
              <a:ext uri="{FF2B5EF4-FFF2-40B4-BE49-F238E27FC236}">
                <a16:creationId xmlns:a16="http://schemas.microsoft.com/office/drawing/2014/main" id="{66C2BA40-593F-1E6C-97DA-D679469FB682}"/>
              </a:ext>
            </a:extLst>
          </p:cNvPr>
          <p:cNvSpPr txBox="1"/>
          <p:nvPr/>
        </p:nvSpPr>
        <p:spPr>
          <a:xfrm>
            <a:off x="4395459" y="4930543"/>
            <a:ext cx="6097508" cy="338554"/>
          </a:xfrm>
          <a:prstGeom prst="rect">
            <a:avLst/>
          </a:prstGeom>
          <a:noFill/>
        </p:spPr>
        <p:txBody>
          <a:bodyPr wrap="square">
            <a:spAutoFit/>
          </a:bodyPr>
          <a:lstStyle/>
          <a:p>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Fig: RTL Schematic of row filter 6</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18394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8C1969-375B-0281-971C-1D67897AA1CC}"/>
              </a:ext>
            </a:extLst>
          </p:cNvPr>
          <p:cNvSpPr txBox="1"/>
          <p:nvPr/>
        </p:nvSpPr>
        <p:spPr>
          <a:xfrm>
            <a:off x="905346" y="1348965"/>
            <a:ext cx="10873212" cy="1200329"/>
          </a:xfrm>
          <a:prstGeom prst="rect">
            <a:avLst/>
          </a:prstGeom>
          <a:noFill/>
        </p:spPr>
        <p:txBody>
          <a:bodyPr wrap="square" rtlCol="0">
            <a:spAutoFit/>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Then the row filters are integrated using shift register block.</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architecture of the 2D FIR filter with shift register blocks is represented below</a:t>
            </a:r>
          </a:p>
          <a:p>
            <a:pPr marL="285750" indent="-285750">
              <a:buFont typeface="Arial" panose="020B0604020202020204" pitchFamily="34" charset="0"/>
              <a:buChar char="•"/>
            </a:pPr>
            <a:endParaRPr lang="en-IN" dirty="0"/>
          </a:p>
        </p:txBody>
      </p:sp>
      <p:pic>
        <p:nvPicPr>
          <p:cNvPr id="3" name="Picture 2">
            <a:extLst>
              <a:ext uri="{FF2B5EF4-FFF2-40B4-BE49-F238E27FC236}">
                <a16:creationId xmlns:a16="http://schemas.microsoft.com/office/drawing/2014/main" id="{A20827CA-2722-48F1-7CC9-3565A658D20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16200" y="2464501"/>
            <a:ext cx="8442199" cy="3241183"/>
          </a:xfrm>
          <a:prstGeom prst="rect">
            <a:avLst/>
          </a:prstGeom>
          <a:noFill/>
          <a:ln>
            <a:noFill/>
          </a:ln>
        </p:spPr>
      </p:pic>
      <p:sp>
        <p:nvSpPr>
          <p:cNvPr id="5" name="TextBox 4">
            <a:extLst>
              <a:ext uri="{FF2B5EF4-FFF2-40B4-BE49-F238E27FC236}">
                <a16:creationId xmlns:a16="http://schemas.microsoft.com/office/drawing/2014/main" id="{4E840179-C5F0-9C58-A5B2-D6997A9C3857}"/>
              </a:ext>
            </a:extLst>
          </p:cNvPr>
          <p:cNvSpPr txBox="1"/>
          <p:nvPr/>
        </p:nvSpPr>
        <p:spPr>
          <a:xfrm>
            <a:off x="3401840" y="6005167"/>
            <a:ext cx="6097508" cy="338554"/>
          </a:xfrm>
          <a:prstGeom prst="rect">
            <a:avLst/>
          </a:prstGeom>
          <a:noFill/>
        </p:spPr>
        <p:txBody>
          <a:bodyPr wrap="square">
            <a:spAutoFit/>
          </a:bodyPr>
          <a:lstStyle/>
          <a:p>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Fig: Architecture of FIR filter using shift register blocks.</a:t>
            </a:r>
            <a:endParaRPr lang="en-IN" sz="16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0E1E19D-C607-1A92-624A-57404FA0AF18}"/>
              </a:ext>
            </a:extLst>
          </p:cNvPr>
          <p:cNvSpPr txBox="1"/>
          <p:nvPr/>
        </p:nvSpPr>
        <p:spPr>
          <a:xfrm>
            <a:off x="1176950" y="514279"/>
            <a:ext cx="10366218" cy="584775"/>
          </a:xfrm>
          <a:prstGeom prst="rect">
            <a:avLst/>
          </a:prstGeom>
          <a:noFill/>
        </p:spPr>
        <p:txBody>
          <a:bodyPr wrap="square" rtlCol="0">
            <a:spAutoFit/>
          </a:bodyPr>
          <a:lstStyle/>
          <a:p>
            <a:pPr algn="ctr"/>
            <a:r>
              <a:rPr lang="en-IN" sz="3200" dirty="0">
                <a:solidFill>
                  <a:srgbClr val="FF0000"/>
                </a:solidFill>
                <a:latin typeface="Times New Roman" panose="02020603050405020304" pitchFamily="18" charset="0"/>
                <a:cs typeface="Times New Roman" panose="02020603050405020304" pitchFamily="18" charset="0"/>
              </a:rPr>
              <a:t>FIR FILTER USING SHIFT REGISTER BLOCKS</a:t>
            </a:r>
          </a:p>
        </p:txBody>
      </p:sp>
    </p:spTree>
    <p:extLst>
      <p:ext uri="{BB962C8B-B14F-4D97-AF65-F5344CB8AC3E}">
        <p14:creationId xmlns:p14="http://schemas.microsoft.com/office/powerpoint/2010/main" val="31439699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FF2BCD3-A000-D85E-8587-CEE905C586D5}"/>
              </a:ext>
            </a:extLst>
          </p:cNvPr>
          <p:cNvSpPr txBox="1"/>
          <p:nvPr/>
        </p:nvSpPr>
        <p:spPr>
          <a:xfrm>
            <a:off x="1158844" y="651850"/>
            <a:ext cx="10076506" cy="1323439"/>
          </a:xfrm>
          <a:prstGeom prst="rect">
            <a:avLst/>
          </a:prstGeom>
          <a:noFill/>
        </p:spPr>
        <p:txBody>
          <a:bodyPr wrap="square" rtlCol="0">
            <a:spAutoFit/>
          </a:bodyPr>
          <a:lstStyle/>
          <a:p>
            <a:pPr algn="ctr"/>
            <a:r>
              <a:rPr lang="en-IN" sz="4000" dirty="0">
                <a:solidFill>
                  <a:srgbClr val="FF0000"/>
                </a:solidFill>
                <a:latin typeface="Times New Roman" panose="02020603050405020304" pitchFamily="18" charset="0"/>
                <a:cs typeface="Times New Roman" panose="02020603050405020304" pitchFamily="18" charset="0"/>
              </a:rPr>
              <a:t>RTL SCHEMATICS OF SHIFT REGISTER BLOCK</a:t>
            </a:r>
          </a:p>
        </p:txBody>
      </p:sp>
      <p:pic>
        <p:nvPicPr>
          <p:cNvPr id="4" name="Picture 3">
            <a:extLst>
              <a:ext uri="{FF2B5EF4-FFF2-40B4-BE49-F238E27FC236}">
                <a16:creationId xmlns:a16="http://schemas.microsoft.com/office/drawing/2014/main" id="{5FDE9D9C-822D-49AA-3465-12CA43DD23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0546" y="2369506"/>
            <a:ext cx="10990907" cy="2192533"/>
          </a:xfrm>
          <a:prstGeom prst="rect">
            <a:avLst/>
          </a:prstGeom>
        </p:spPr>
      </p:pic>
      <p:sp>
        <p:nvSpPr>
          <p:cNvPr id="5" name="TextBox 4">
            <a:extLst>
              <a:ext uri="{FF2B5EF4-FFF2-40B4-BE49-F238E27FC236}">
                <a16:creationId xmlns:a16="http://schemas.microsoft.com/office/drawing/2014/main" id="{02FECF06-6686-9150-0783-E2CE6DEE1D1A}"/>
              </a:ext>
            </a:extLst>
          </p:cNvPr>
          <p:cNvSpPr txBox="1"/>
          <p:nvPr/>
        </p:nvSpPr>
        <p:spPr>
          <a:xfrm>
            <a:off x="3865831" y="4874775"/>
            <a:ext cx="5160475" cy="338554"/>
          </a:xfrm>
          <a:prstGeom prst="rect">
            <a:avLst/>
          </a:prstGeom>
          <a:noFill/>
        </p:spPr>
        <p:txBody>
          <a:bodyPr wrap="square" rtlCol="0">
            <a:spAutoFit/>
          </a:bodyPr>
          <a:lstStyle/>
          <a:p>
            <a:r>
              <a:rPr lang="en-IN" sz="1600" b="1" dirty="0">
                <a:latin typeface="Times New Roman" panose="02020603050405020304" pitchFamily="18" charset="0"/>
                <a:cs typeface="Times New Roman" panose="02020603050405020304" pitchFamily="18" charset="0"/>
              </a:rPr>
              <a:t>Fig: Shift Register Block Architecture for 64 words</a:t>
            </a:r>
          </a:p>
        </p:txBody>
      </p:sp>
    </p:spTree>
    <p:extLst>
      <p:ext uri="{BB962C8B-B14F-4D97-AF65-F5344CB8AC3E}">
        <p14:creationId xmlns:p14="http://schemas.microsoft.com/office/powerpoint/2010/main" val="7351484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6B61CEE-D57D-02A1-37A6-55933E84718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24474" y="355760"/>
            <a:ext cx="4226932" cy="6316644"/>
          </a:xfrm>
          <a:prstGeom prst="rect">
            <a:avLst/>
          </a:prstGeom>
          <a:noFill/>
          <a:ln>
            <a:noFill/>
          </a:ln>
        </p:spPr>
      </p:pic>
      <p:sp>
        <p:nvSpPr>
          <p:cNvPr id="4" name="TextBox 3">
            <a:extLst>
              <a:ext uri="{FF2B5EF4-FFF2-40B4-BE49-F238E27FC236}">
                <a16:creationId xmlns:a16="http://schemas.microsoft.com/office/drawing/2014/main" id="{6C3B1E26-9D83-D586-E31B-E5BDBABC5810}"/>
              </a:ext>
            </a:extLst>
          </p:cNvPr>
          <p:cNvSpPr txBox="1"/>
          <p:nvPr/>
        </p:nvSpPr>
        <p:spPr>
          <a:xfrm>
            <a:off x="1233854" y="355760"/>
            <a:ext cx="4388348" cy="954107"/>
          </a:xfrm>
          <a:prstGeom prst="rect">
            <a:avLst/>
          </a:prstGeom>
          <a:noFill/>
        </p:spPr>
        <p:txBody>
          <a:bodyPr wrap="square">
            <a:spAutoFit/>
          </a:bodyPr>
          <a:lstStyle/>
          <a:p>
            <a:r>
              <a:rPr lang="en-US" sz="28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RTL Schematic of 2D FIR filter</a:t>
            </a:r>
            <a:endParaRPr lang="en-IN" sz="28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45791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BAD13-3250-A93C-44D8-5521667E9308}"/>
              </a:ext>
            </a:extLst>
          </p:cNvPr>
          <p:cNvSpPr>
            <a:spLocks noGrp="1"/>
          </p:cNvSpPr>
          <p:nvPr>
            <p:ph type="title"/>
          </p:nvPr>
        </p:nvSpPr>
        <p:spPr/>
        <p:txBody>
          <a:bodyPr>
            <a:normAutofit/>
          </a:bodyPr>
          <a:lstStyle/>
          <a:p>
            <a:r>
              <a:rPr lang="en-IN" sz="4000" dirty="0">
                <a:solidFill>
                  <a:srgbClr val="FF0000"/>
                </a:solidFill>
                <a:latin typeface="Times New Roman" panose="02020603050405020304" pitchFamily="18" charset="0"/>
                <a:cs typeface="Times New Roman" panose="02020603050405020304" pitchFamily="18" charset="0"/>
              </a:rPr>
              <a:t>PERFORMANCE ANALYSIS AND RESULTS</a:t>
            </a:r>
          </a:p>
        </p:txBody>
      </p:sp>
      <p:pic>
        <p:nvPicPr>
          <p:cNvPr id="4" name="Content Placeholder 3">
            <a:extLst>
              <a:ext uri="{FF2B5EF4-FFF2-40B4-BE49-F238E27FC236}">
                <a16:creationId xmlns:a16="http://schemas.microsoft.com/office/drawing/2014/main" id="{C5DB0676-FF4A-507D-5EE5-122F616DC87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00032" y="2235440"/>
            <a:ext cx="6327329" cy="3277057"/>
          </a:xfrm>
          <a:prstGeom prst="rect">
            <a:avLst/>
          </a:prstGeom>
          <a:noFill/>
          <a:ln>
            <a:noFill/>
          </a:ln>
        </p:spPr>
      </p:pic>
      <p:pic>
        <p:nvPicPr>
          <p:cNvPr id="6" name="Picture 5">
            <a:extLst>
              <a:ext uri="{FF2B5EF4-FFF2-40B4-BE49-F238E27FC236}">
                <a16:creationId xmlns:a16="http://schemas.microsoft.com/office/drawing/2014/main" id="{A880EB54-AA7E-C9B8-4E65-C3C8DC7731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09782" y="1798485"/>
            <a:ext cx="3487294" cy="4150966"/>
          </a:xfrm>
          <a:prstGeom prst="rect">
            <a:avLst/>
          </a:prstGeom>
        </p:spPr>
      </p:pic>
    </p:spTree>
    <p:extLst>
      <p:ext uri="{BB962C8B-B14F-4D97-AF65-F5344CB8AC3E}">
        <p14:creationId xmlns:p14="http://schemas.microsoft.com/office/powerpoint/2010/main" val="38972045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63092304"/>
              </p:ext>
            </p:extLst>
          </p:nvPr>
        </p:nvGraphicFramePr>
        <p:xfrm>
          <a:off x="838200" y="2694112"/>
          <a:ext cx="10515600" cy="2998075"/>
        </p:xfrm>
        <a:graphic>
          <a:graphicData uri="http://schemas.openxmlformats.org/drawingml/2006/table">
            <a:tbl>
              <a:tblPr firstRow="1" firstCol="1" bandRow="1">
                <a:tableStyleId>{5C22544A-7EE6-4342-B048-85BDC9FD1C3A}</a:tableStyleId>
              </a:tblPr>
              <a:tblGrid>
                <a:gridCol w="1762415">
                  <a:extLst>
                    <a:ext uri="{9D8B030D-6E8A-4147-A177-3AD203B41FA5}">
                      <a16:colId xmlns:a16="http://schemas.microsoft.com/office/drawing/2014/main" val="20000"/>
                    </a:ext>
                  </a:extLst>
                </a:gridCol>
                <a:gridCol w="1861261">
                  <a:extLst>
                    <a:ext uri="{9D8B030D-6E8A-4147-A177-3AD203B41FA5}">
                      <a16:colId xmlns:a16="http://schemas.microsoft.com/office/drawing/2014/main" val="20001"/>
                    </a:ext>
                  </a:extLst>
                </a:gridCol>
                <a:gridCol w="1175644">
                  <a:extLst>
                    <a:ext uri="{9D8B030D-6E8A-4147-A177-3AD203B41FA5}">
                      <a16:colId xmlns:a16="http://schemas.microsoft.com/office/drawing/2014/main" val="20002"/>
                    </a:ext>
                  </a:extLst>
                </a:gridCol>
                <a:gridCol w="1175644">
                  <a:extLst>
                    <a:ext uri="{9D8B030D-6E8A-4147-A177-3AD203B41FA5}">
                      <a16:colId xmlns:a16="http://schemas.microsoft.com/office/drawing/2014/main" val="20003"/>
                    </a:ext>
                  </a:extLst>
                </a:gridCol>
                <a:gridCol w="1240841">
                  <a:extLst>
                    <a:ext uri="{9D8B030D-6E8A-4147-A177-3AD203B41FA5}">
                      <a16:colId xmlns:a16="http://schemas.microsoft.com/office/drawing/2014/main" val="20004"/>
                    </a:ext>
                  </a:extLst>
                </a:gridCol>
                <a:gridCol w="1240841">
                  <a:extLst>
                    <a:ext uri="{9D8B030D-6E8A-4147-A177-3AD203B41FA5}">
                      <a16:colId xmlns:a16="http://schemas.microsoft.com/office/drawing/2014/main" val="20005"/>
                    </a:ext>
                  </a:extLst>
                </a:gridCol>
                <a:gridCol w="1175644">
                  <a:extLst>
                    <a:ext uri="{9D8B030D-6E8A-4147-A177-3AD203B41FA5}">
                      <a16:colId xmlns:a16="http://schemas.microsoft.com/office/drawing/2014/main" val="20006"/>
                    </a:ext>
                  </a:extLst>
                </a:gridCol>
                <a:gridCol w="883310">
                  <a:extLst>
                    <a:ext uri="{9D8B030D-6E8A-4147-A177-3AD203B41FA5}">
                      <a16:colId xmlns:a16="http://schemas.microsoft.com/office/drawing/2014/main" val="20007"/>
                    </a:ext>
                  </a:extLst>
                </a:gridCol>
              </a:tblGrid>
              <a:tr h="625943">
                <a:tc rowSpan="2">
                  <a:txBody>
                    <a:bodyPr/>
                    <a:lstStyle/>
                    <a:p>
                      <a:pPr marL="0" marR="0">
                        <a:lnSpc>
                          <a:spcPct val="115000"/>
                        </a:lnSpc>
                        <a:spcBef>
                          <a:spcPts val="0"/>
                        </a:spcBef>
                        <a:spcAft>
                          <a:spcPts val="1000"/>
                        </a:spcAft>
                      </a:pPr>
                      <a:r>
                        <a:rPr lang="en-US" sz="1800" dirty="0">
                          <a:effectLst/>
                        </a:rPr>
                        <a:t>Type of coefficients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rowSpan="2">
                  <a:txBody>
                    <a:bodyPr/>
                    <a:lstStyle/>
                    <a:p>
                      <a:pPr marL="0" marR="0">
                        <a:lnSpc>
                          <a:spcPct val="115000"/>
                        </a:lnSpc>
                        <a:spcBef>
                          <a:spcPts val="0"/>
                        </a:spcBef>
                        <a:spcAft>
                          <a:spcPts val="1000"/>
                        </a:spcAft>
                      </a:pPr>
                      <a:r>
                        <a:rPr lang="en-US" sz="1800" dirty="0">
                          <a:effectLst/>
                        </a:rPr>
                        <a:t>architecture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gridSpan="3">
                  <a:txBody>
                    <a:bodyPr/>
                    <a:lstStyle/>
                    <a:p>
                      <a:pPr marL="0" marR="0">
                        <a:lnSpc>
                          <a:spcPct val="115000"/>
                        </a:lnSpc>
                        <a:spcBef>
                          <a:spcPts val="0"/>
                        </a:spcBef>
                        <a:spcAft>
                          <a:spcPts val="1000"/>
                        </a:spcAft>
                      </a:pPr>
                      <a:r>
                        <a:rPr lang="en-US" sz="1800">
                          <a:effectLst/>
                        </a:rPr>
                        <a:t>8-bit filter input</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hMerge="1">
                  <a:txBody>
                    <a:bodyPr/>
                    <a:lstStyle/>
                    <a:p>
                      <a:endParaRPr lang="en-US"/>
                    </a:p>
                  </a:txBody>
                  <a:tcPr/>
                </a:tc>
                <a:tc hMerge="1">
                  <a:txBody>
                    <a:bodyPr/>
                    <a:lstStyle/>
                    <a:p>
                      <a:endParaRPr lang="en-US"/>
                    </a:p>
                  </a:txBody>
                  <a:tcPr/>
                </a:tc>
                <a:tc gridSpan="3">
                  <a:txBody>
                    <a:bodyPr/>
                    <a:lstStyle/>
                    <a:p>
                      <a:pPr marL="0" marR="0">
                        <a:lnSpc>
                          <a:spcPct val="115000"/>
                        </a:lnSpc>
                        <a:spcBef>
                          <a:spcPts val="0"/>
                        </a:spcBef>
                        <a:spcAft>
                          <a:spcPts val="1000"/>
                        </a:spcAft>
                      </a:pPr>
                      <a:r>
                        <a:rPr lang="en-US" sz="1800">
                          <a:effectLst/>
                        </a:rPr>
                        <a:t>16-bit filter input</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087980">
                <a:tc vMerge="1">
                  <a:txBody>
                    <a:bodyPr/>
                    <a:lstStyle/>
                    <a:p>
                      <a:endParaRPr lang="en-US"/>
                    </a:p>
                  </a:txBody>
                  <a:tcPr/>
                </a:tc>
                <a:tc vMerge="1">
                  <a:txBody>
                    <a:bodyPr/>
                    <a:lstStyle/>
                    <a:p>
                      <a:endParaRPr lang="en-US"/>
                    </a:p>
                  </a:txBody>
                  <a:tcPr/>
                </a:tc>
                <a:tc>
                  <a:txBody>
                    <a:bodyPr/>
                    <a:lstStyle/>
                    <a:p>
                      <a:pPr marL="0" marR="0">
                        <a:lnSpc>
                          <a:spcPct val="115000"/>
                        </a:lnSpc>
                        <a:spcBef>
                          <a:spcPts val="0"/>
                        </a:spcBef>
                        <a:spcAft>
                          <a:spcPts val="1000"/>
                        </a:spcAft>
                      </a:pPr>
                      <a:r>
                        <a:rPr lang="en-US" sz="1800">
                          <a:effectLst/>
                        </a:rPr>
                        <a:t>Area</a:t>
                      </a:r>
                    </a:p>
                    <a:p>
                      <a:pPr marL="0" marR="0">
                        <a:lnSpc>
                          <a:spcPct val="115000"/>
                        </a:lnSpc>
                        <a:spcBef>
                          <a:spcPts val="0"/>
                        </a:spcBef>
                        <a:spcAft>
                          <a:spcPts val="1000"/>
                        </a:spcAft>
                      </a:pPr>
                      <a:r>
                        <a:rPr lang="en-US" sz="1800">
                          <a:effectLst/>
                        </a:rPr>
                        <a:t>(µm</a:t>
                      </a:r>
                      <a:r>
                        <a:rPr lang="en-US" sz="1800" baseline="30000">
                          <a:effectLst/>
                        </a:rPr>
                        <a:t>2</a:t>
                      </a:r>
                      <a:r>
                        <a:rPr lang="en-US" sz="1800">
                          <a:effectLst/>
                        </a:rPr>
                        <a:t>)</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1000"/>
                        </a:spcAft>
                      </a:pPr>
                      <a:r>
                        <a:rPr lang="en-US" sz="1800">
                          <a:effectLst/>
                        </a:rPr>
                        <a:t>Power</a:t>
                      </a:r>
                    </a:p>
                    <a:p>
                      <a:pPr marL="0" marR="0">
                        <a:lnSpc>
                          <a:spcPct val="115000"/>
                        </a:lnSpc>
                        <a:spcBef>
                          <a:spcPts val="0"/>
                        </a:spcBef>
                        <a:spcAft>
                          <a:spcPts val="1000"/>
                        </a:spcAft>
                      </a:pPr>
                      <a:r>
                        <a:rPr lang="en-US" sz="1800">
                          <a:effectLst/>
                        </a:rPr>
                        <a:t>(mW)</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1000"/>
                        </a:spcAft>
                      </a:pPr>
                      <a:r>
                        <a:rPr lang="en-US" sz="1800">
                          <a:effectLst/>
                        </a:rPr>
                        <a:t>Delay</a:t>
                      </a:r>
                    </a:p>
                    <a:p>
                      <a:pPr marL="0" marR="0">
                        <a:lnSpc>
                          <a:spcPct val="115000"/>
                        </a:lnSpc>
                        <a:spcBef>
                          <a:spcPts val="0"/>
                        </a:spcBef>
                        <a:spcAft>
                          <a:spcPts val="1000"/>
                        </a:spcAft>
                      </a:pPr>
                      <a:r>
                        <a:rPr lang="en-US" sz="1800">
                          <a:effectLst/>
                        </a:rPr>
                        <a:t>(ns)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1000"/>
                        </a:spcAft>
                      </a:pPr>
                      <a:r>
                        <a:rPr lang="en-US" sz="1800">
                          <a:effectLst/>
                        </a:rPr>
                        <a:t>Area</a:t>
                      </a:r>
                    </a:p>
                    <a:p>
                      <a:pPr marL="0" marR="0">
                        <a:lnSpc>
                          <a:spcPct val="115000"/>
                        </a:lnSpc>
                        <a:spcBef>
                          <a:spcPts val="0"/>
                        </a:spcBef>
                        <a:spcAft>
                          <a:spcPts val="1000"/>
                        </a:spcAft>
                      </a:pPr>
                      <a:r>
                        <a:rPr lang="en-US" sz="1800">
                          <a:effectLst/>
                        </a:rPr>
                        <a:t>(µm</a:t>
                      </a:r>
                      <a:r>
                        <a:rPr lang="en-US" sz="1800" baseline="30000">
                          <a:effectLst/>
                        </a:rPr>
                        <a:t>2</a:t>
                      </a:r>
                      <a:r>
                        <a:rPr lang="en-US" sz="1800">
                          <a:effectLst/>
                        </a:rPr>
                        <a:t>)</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1000"/>
                        </a:spcAft>
                      </a:pPr>
                      <a:r>
                        <a:rPr lang="en-US" sz="1800">
                          <a:effectLst/>
                        </a:rPr>
                        <a:t>Power</a:t>
                      </a:r>
                    </a:p>
                    <a:p>
                      <a:pPr marL="0" marR="0">
                        <a:lnSpc>
                          <a:spcPct val="115000"/>
                        </a:lnSpc>
                        <a:spcBef>
                          <a:spcPts val="0"/>
                        </a:spcBef>
                        <a:spcAft>
                          <a:spcPts val="1000"/>
                        </a:spcAft>
                      </a:pPr>
                      <a:r>
                        <a:rPr lang="en-US" sz="1800">
                          <a:effectLst/>
                        </a:rPr>
                        <a:t>(mW)</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1000"/>
                        </a:spcAft>
                      </a:pPr>
                      <a:r>
                        <a:rPr lang="en-US" sz="1800">
                          <a:effectLst/>
                        </a:rPr>
                        <a:t>Delay</a:t>
                      </a:r>
                    </a:p>
                    <a:p>
                      <a:pPr marL="0" marR="0">
                        <a:lnSpc>
                          <a:spcPct val="115000"/>
                        </a:lnSpc>
                        <a:spcBef>
                          <a:spcPts val="0"/>
                        </a:spcBef>
                        <a:spcAft>
                          <a:spcPts val="1000"/>
                        </a:spcAft>
                      </a:pPr>
                      <a:r>
                        <a:rPr lang="en-US" sz="1800">
                          <a:effectLst/>
                        </a:rPr>
                        <a:t>(ns)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711123">
                <a:tc>
                  <a:txBody>
                    <a:bodyPr/>
                    <a:lstStyle/>
                    <a:p>
                      <a:pPr marL="0" marR="0">
                        <a:lnSpc>
                          <a:spcPct val="115000"/>
                        </a:lnSpc>
                        <a:spcBef>
                          <a:spcPts val="0"/>
                        </a:spcBef>
                        <a:spcAft>
                          <a:spcPts val="1000"/>
                        </a:spcAft>
                      </a:pPr>
                      <a:r>
                        <a:rPr lang="en-US" sz="1800">
                          <a:effectLst/>
                        </a:rPr>
                        <a:t>Continuous Coefficients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1000"/>
                        </a:spcAft>
                      </a:pPr>
                      <a:r>
                        <a:rPr lang="en-US" sz="1800">
                          <a:effectLst/>
                        </a:rPr>
                        <a:t>Fully-Direct</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1000"/>
                        </a:spcAft>
                      </a:pPr>
                      <a:r>
                        <a:rPr lang="en-US" sz="1800">
                          <a:effectLst/>
                        </a:rPr>
                        <a:t>89010</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1000"/>
                        </a:spcAft>
                      </a:pPr>
                      <a:r>
                        <a:rPr lang="en-US" sz="1800">
                          <a:effectLst/>
                        </a:rPr>
                        <a:t>34.8</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1000"/>
                        </a:spcAft>
                      </a:pPr>
                      <a:r>
                        <a:rPr lang="en-US" sz="1800">
                          <a:effectLst/>
                        </a:rPr>
                        <a:t>9.05</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1000"/>
                        </a:spcAft>
                      </a:pPr>
                      <a:r>
                        <a:rPr lang="en-US" sz="1800">
                          <a:effectLst/>
                        </a:rPr>
                        <a:t>189543</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1000"/>
                        </a:spcAft>
                      </a:pPr>
                      <a:r>
                        <a:rPr lang="en-US" sz="1800">
                          <a:effectLst/>
                        </a:rPr>
                        <a:t>51.002</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1000"/>
                        </a:spcAft>
                      </a:pPr>
                      <a:r>
                        <a:rPr lang="en-US" sz="1800">
                          <a:effectLst/>
                        </a:rPr>
                        <a:t>18.00</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573029">
                <a:tc>
                  <a:txBody>
                    <a:bodyPr/>
                    <a:lstStyle/>
                    <a:p>
                      <a:pPr marL="0" marR="0">
                        <a:lnSpc>
                          <a:spcPct val="115000"/>
                        </a:lnSpc>
                        <a:spcBef>
                          <a:spcPts val="0"/>
                        </a:spcBef>
                        <a:spcAft>
                          <a:spcPts val="1000"/>
                        </a:spcAft>
                      </a:pPr>
                      <a:r>
                        <a:rPr lang="en-US" sz="1800">
                          <a:effectLst/>
                        </a:rPr>
                        <a:t>CSD</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1000"/>
                        </a:spcAft>
                      </a:pPr>
                      <a:r>
                        <a:rPr lang="en-US" sz="1800">
                          <a:effectLst/>
                        </a:rPr>
                        <a:t>Fully-Direct</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1000"/>
                        </a:spcAft>
                      </a:pPr>
                      <a:r>
                        <a:rPr lang="en-US" sz="1800">
                          <a:effectLst/>
                        </a:rPr>
                        <a:t>3109</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1000"/>
                        </a:spcAft>
                      </a:pPr>
                      <a:r>
                        <a:rPr lang="en-US" sz="1800" dirty="0">
                          <a:effectLst/>
                        </a:rPr>
                        <a:t>2.1803</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1000"/>
                        </a:spcAft>
                      </a:pPr>
                      <a:r>
                        <a:rPr lang="en-US" sz="1800">
                          <a:effectLst/>
                        </a:rPr>
                        <a:t>6.28</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1000"/>
                        </a:spcAft>
                      </a:pPr>
                      <a:r>
                        <a:rPr lang="en-US" sz="1800">
                          <a:effectLst/>
                        </a:rPr>
                        <a:t>16239</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1000"/>
                        </a:spcAft>
                      </a:pPr>
                      <a:r>
                        <a:rPr lang="en-US" sz="1800">
                          <a:effectLst/>
                        </a:rPr>
                        <a:t>5.1358</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1000"/>
                        </a:spcAft>
                      </a:pPr>
                      <a:r>
                        <a:rPr lang="en-US" sz="1800" dirty="0">
                          <a:effectLst/>
                        </a:rPr>
                        <a:t>16.56</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bl>
          </a:graphicData>
        </a:graphic>
      </p:graphicFrame>
      <p:sp>
        <p:nvSpPr>
          <p:cNvPr id="5" name="Rectangle 1"/>
          <p:cNvSpPr>
            <a:spLocks noChangeArrowheads="1"/>
          </p:cNvSpPr>
          <p:nvPr/>
        </p:nvSpPr>
        <p:spPr bwMode="auto">
          <a:xfrm>
            <a:off x="970284" y="1552189"/>
            <a:ext cx="1025143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Comparison of ASIC design-based VLSI design metrics of 2-D FIR filter in different architectures using Genus synthesis tool from Cadence in 45 nm </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7" name="Title 1"/>
          <p:cNvSpPr>
            <a:spLocks noGrp="1"/>
          </p:cNvSpPr>
          <p:nvPr>
            <p:ph type="title"/>
          </p:nvPr>
        </p:nvSpPr>
        <p:spPr>
          <a:xfrm>
            <a:off x="838200" y="365125"/>
            <a:ext cx="10515600" cy="1325563"/>
          </a:xfrm>
        </p:spPr>
        <p:txBody>
          <a:bodyPr/>
          <a:lstStyle/>
          <a:p>
            <a:r>
              <a:rPr lang="en-US" dirty="0">
                <a:solidFill>
                  <a:srgbClr val="FF0000"/>
                </a:solidFill>
              </a:rPr>
              <a:t>ASIC Synthesis Results</a:t>
            </a:r>
          </a:p>
        </p:txBody>
      </p:sp>
    </p:spTree>
    <p:extLst>
      <p:ext uri="{BB962C8B-B14F-4D97-AF65-F5344CB8AC3E}">
        <p14:creationId xmlns:p14="http://schemas.microsoft.com/office/powerpoint/2010/main" val="41610703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ASIC Synthesis Results</a:t>
            </a:r>
          </a:p>
        </p:txBody>
      </p:sp>
      <p:graphicFrame>
        <p:nvGraphicFramePr>
          <p:cNvPr id="4" name="Table 3"/>
          <p:cNvGraphicFramePr>
            <a:graphicFrameLocks noGrp="1"/>
          </p:cNvGraphicFramePr>
          <p:nvPr>
            <p:extLst>
              <p:ext uri="{D42A27DB-BD31-4B8C-83A1-F6EECF244321}">
                <p14:modId xmlns:p14="http://schemas.microsoft.com/office/powerpoint/2010/main" val="651480520"/>
              </p:ext>
            </p:extLst>
          </p:nvPr>
        </p:nvGraphicFramePr>
        <p:xfrm>
          <a:off x="890778" y="2907824"/>
          <a:ext cx="10410444" cy="3405890"/>
        </p:xfrm>
        <a:graphic>
          <a:graphicData uri="http://schemas.openxmlformats.org/drawingml/2006/table">
            <a:tbl>
              <a:tblPr firstRow="1" firstCol="1" bandRow="1">
                <a:tableStyleId>{5C22544A-7EE6-4342-B048-85BDC9FD1C3A}</a:tableStyleId>
              </a:tblPr>
              <a:tblGrid>
                <a:gridCol w="2604693">
                  <a:extLst>
                    <a:ext uri="{9D8B030D-6E8A-4147-A177-3AD203B41FA5}">
                      <a16:colId xmlns:a16="http://schemas.microsoft.com/office/drawing/2014/main" val="20000"/>
                    </a:ext>
                  </a:extLst>
                </a:gridCol>
                <a:gridCol w="674597">
                  <a:extLst>
                    <a:ext uri="{9D8B030D-6E8A-4147-A177-3AD203B41FA5}">
                      <a16:colId xmlns:a16="http://schemas.microsoft.com/office/drawing/2014/main" val="20001"/>
                    </a:ext>
                  </a:extLst>
                </a:gridCol>
                <a:gridCol w="1359604">
                  <a:extLst>
                    <a:ext uri="{9D8B030D-6E8A-4147-A177-3AD203B41FA5}">
                      <a16:colId xmlns:a16="http://schemas.microsoft.com/office/drawing/2014/main" val="20002"/>
                    </a:ext>
                  </a:extLst>
                </a:gridCol>
                <a:gridCol w="1463708">
                  <a:extLst>
                    <a:ext uri="{9D8B030D-6E8A-4147-A177-3AD203B41FA5}">
                      <a16:colId xmlns:a16="http://schemas.microsoft.com/office/drawing/2014/main" val="20003"/>
                    </a:ext>
                  </a:extLst>
                </a:gridCol>
                <a:gridCol w="1130574">
                  <a:extLst>
                    <a:ext uri="{9D8B030D-6E8A-4147-A177-3AD203B41FA5}">
                      <a16:colId xmlns:a16="http://schemas.microsoft.com/office/drawing/2014/main" val="20004"/>
                    </a:ext>
                  </a:extLst>
                </a:gridCol>
                <a:gridCol w="1542828">
                  <a:extLst>
                    <a:ext uri="{9D8B030D-6E8A-4147-A177-3AD203B41FA5}">
                      <a16:colId xmlns:a16="http://schemas.microsoft.com/office/drawing/2014/main" val="20005"/>
                    </a:ext>
                  </a:extLst>
                </a:gridCol>
                <a:gridCol w="1634440">
                  <a:extLst>
                    <a:ext uri="{9D8B030D-6E8A-4147-A177-3AD203B41FA5}">
                      <a16:colId xmlns:a16="http://schemas.microsoft.com/office/drawing/2014/main" val="20006"/>
                    </a:ext>
                  </a:extLst>
                </a:gridCol>
              </a:tblGrid>
              <a:tr h="1137164">
                <a:tc>
                  <a:txBody>
                    <a:bodyPr/>
                    <a:lstStyle/>
                    <a:p>
                      <a:pPr marL="0" marR="0">
                        <a:lnSpc>
                          <a:spcPct val="115000"/>
                        </a:lnSpc>
                        <a:spcBef>
                          <a:spcPts val="0"/>
                        </a:spcBef>
                        <a:spcAft>
                          <a:spcPts val="0"/>
                        </a:spcAft>
                      </a:pPr>
                      <a:r>
                        <a:rPr lang="en-US" sz="1800" dirty="0">
                          <a:effectLst/>
                        </a:rPr>
                        <a:t>Architectures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800" dirty="0">
                          <a:effectLst/>
                        </a:rPr>
                        <a:t> </a:t>
                      </a:r>
                    </a:p>
                    <a:p>
                      <a:pPr marL="0" marR="0">
                        <a:lnSpc>
                          <a:spcPct val="115000"/>
                        </a:lnSpc>
                        <a:spcBef>
                          <a:spcPts val="0"/>
                        </a:spcBef>
                        <a:spcAft>
                          <a:spcPts val="0"/>
                        </a:spcAft>
                      </a:pPr>
                      <a:r>
                        <a:rPr lang="en-US" sz="1800" dirty="0">
                          <a:effectLst/>
                        </a:rPr>
                        <a:t>N</a:t>
                      </a:r>
                    </a:p>
                    <a:p>
                      <a:pPr marL="0" marR="0">
                        <a:lnSpc>
                          <a:spcPct val="115000"/>
                        </a:lnSpc>
                        <a:spcBef>
                          <a:spcPts val="0"/>
                        </a:spcBef>
                        <a:spcAft>
                          <a:spcPts val="0"/>
                        </a:spcAft>
                      </a:pPr>
                      <a:r>
                        <a:rPr lang="en-US" sz="1800" dirty="0">
                          <a:effectLst/>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800" dirty="0">
                          <a:effectLst/>
                        </a:rPr>
                        <a:t>Area</a:t>
                      </a:r>
                    </a:p>
                    <a:p>
                      <a:pPr marL="0" marR="0">
                        <a:lnSpc>
                          <a:spcPct val="115000"/>
                        </a:lnSpc>
                        <a:spcBef>
                          <a:spcPts val="0"/>
                        </a:spcBef>
                        <a:spcAft>
                          <a:spcPts val="0"/>
                        </a:spcAft>
                      </a:pPr>
                      <a:r>
                        <a:rPr lang="en-US" sz="1800" dirty="0">
                          <a:effectLst/>
                        </a:rPr>
                        <a:t>(µm</a:t>
                      </a:r>
                      <a:r>
                        <a:rPr lang="en-US" sz="1800" baseline="30000" dirty="0">
                          <a:effectLst/>
                        </a:rPr>
                        <a:t>2</a:t>
                      </a:r>
                      <a:r>
                        <a:rPr lang="en-US" sz="1800" dirty="0">
                          <a:effectLst/>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indent="-1905">
                        <a:lnSpc>
                          <a:spcPct val="115000"/>
                        </a:lnSpc>
                        <a:spcBef>
                          <a:spcPts val="0"/>
                        </a:spcBef>
                        <a:spcAft>
                          <a:spcPts val="0"/>
                        </a:spcAft>
                      </a:pPr>
                      <a:r>
                        <a:rPr lang="en-US" sz="1800">
                          <a:effectLst/>
                        </a:rPr>
                        <a:t>Power</a:t>
                      </a:r>
                    </a:p>
                    <a:p>
                      <a:pPr marL="0" marR="0" indent="-1905">
                        <a:lnSpc>
                          <a:spcPct val="115000"/>
                        </a:lnSpc>
                        <a:spcBef>
                          <a:spcPts val="0"/>
                        </a:spcBef>
                        <a:spcAft>
                          <a:spcPts val="0"/>
                        </a:spcAft>
                      </a:pPr>
                      <a:r>
                        <a:rPr lang="en-US" sz="1800">
                          <a:effectLst/>
                        </a:rPr>
                        <a:t>(mW)</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800">
                          <a:effectLst/>
                        </a:rPr>
                        <a:t>Delay</a:t>
                      </a:r>
                    </a:p>
                    <a:p>
                      <a:pPr marL="0" marR="0">
                        <a:lnSpc>
                          <a:spcPct val="115000"/>
                        </a:lnSpc>
                        <a:spcBef>
                          <a:spcPts val="0"/>
                        </a:spcBef>
                        <a:spcAft>
                          <a:spcPts val="0"/>
                        </a:spcAft>
                      </a:pPr>
                      <a:r>
                        <a:rPr lang="en-US" sz="1800">
                          <a:effectLst/>
                        </a:rPr>
                        <a:t>(ns)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800">
                          <a:effectLst/>
                        </a:rPr>
                        <a:t>ADP</a:t>
                      </a:r>
                    </a:p>
                    <a:p>
                      <a:pPr marL="0" marR="0">
                        <a:lnSpc>
                          <a:spcPct val="115000"/>
                        </a:lnSpc>
                        <a:spcBef>
                          <a:spcPts val="0"/>
                        </a:spcBef>
                        <a:spcAft>
                          <a:spcPts val="0"/>
                        </a:spcAft>
                      </a:pPr>
                      <a:r>
                        <a:rPr lang="en-US" sz="1800">
                          <a:effectLst/>
                        </a:rPr>
                        <a:t>(µm</a:t>
                      </a:r>
                      <a:r>
                        <a:rPr lang="en-US" sz="1800" baseline="30000">
                          <a:effectLst/>
                        </a:rPr>
                        <a:t>2 .</a:t>
                      </a:r>
                      <a:r>
                        <a:rPr lang="en-US" sz="1800">
                          <a:effectLst/>
                        </a:rPr>
                        <a:t>ms)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800">
                          <a:effectLst/>
                        </a:rPr>
                        <a:t>PDP</a:t>
                      </a:r>
                    </a:p>
                    <a:p>
                      <a:pPr marL="0" marR="0">
                        <a:lnSpc>
                          <a:spcPct val="115000"/>
                        </a:lnSpc>
                        <a:spcBef>
                          <a:spcPts val="0"/>
                        </a:spcBef>
                        <a:spcAft>
                          <a:spcPts val="0"/>
                        </a:spcAft>
                      </a:pPr>
                      <a:r>
                        <a:rPr lang="en-US" sz="1800">
                          <a:effectLst/>
                        </a:rPr>
                        <a:t>(µm</a:t>
                      </a:r>
                      <a:r>
                        <a:rPr lang="en-US" sz="1800" baseline="30000">
                          <a:effectLst/>
                        </a:rPr>
                        <a:t>2 . </a:t>
                      </a:r>
                      <a:r>
                        <a:rPr lang="en-US" sz="1800">
                          <a:effectLst/>
                        </a:rPr>
                        <a:t>mW)</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363905">
                <a:tc>
                  <a:txBody>
                    <a:bodyPr/>
                    <a:lstStyle/>
                    <a:p>
                      <a:pPr marL="0" marR="0">
                        <a:lnSpc>
                          <a:spcPct val="115000"/>
                        </a:lnSpc>
                        <a:spcBef>
                          <a:spcPts val="0"/>
                        </a:spcBef>
                        <a:spcAft>
                          <a:spcPts val="0"/>
                        </a:spcAft>
                      </a:pPr>
                      <a:r>
                        <a:rPr lang="en-US" sz="1800" dirty="0">
                          <a:effectLst/>
                        </a:rPr>
                        <a:t>Kumar et al. [42]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800" dirty="0">
                          <a:effectLst/>
                        </a:rPr>
                        <a:t>8</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800" dirty="0">
                          <a:effectLst/>
                        </a:rPr>
                        <a:t>651615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indent="-1905">
                        <a:lnSpc>
                          <a:spcPct val="115000"/>
                        </a:lnSpc>
                        <a:spcBef>
                          <a:spcPts val="0"/>
                        </a:spcBef>
                        <a:spcAft>
                          <a:spcPts val="0"/>
                        </a:spcAft>
                      </a:pPr>
                      <a:r>
                        <a:rPr lang="en-US" sz="1800" dirty="0">
                          <a:effectLst/>
                        </a:rPr>
                        <a:t>20.1069</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800" dirty="0">
                          <a:effectLst/>
                        </a:rPr>
                        <a:t>6.53</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800">
                          <a:effectLst/>
                        </a:rPr>
                        <a:t>0.531880</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800">
                          <a:effectLst/>
                        </a:rPr>
                        <a:t>131.3</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426476">
                <a:tc>
                  <a:txBody>
                    <a:bodyPr/>
                    <a:lstStyle/>
                    <a:p>
                      <a:pPr marL="0" marR="0" algn="just">
                        <a:lnSpc>
                          <a:spcPct val="115000"/>
                        </a:lnSpc>
                        <a:spcBef>
                          <a:spcPts val="0"/>
                        </a:spcBef>
                        <a:spcAft>
                          <a:spcPts val="0"/>
                        </a:spcAft>
                      </a:pPr>
                      <a:r>
                        <a:rPr lang="en-US" sz="1800" dirty="0">
                          <a:effectLst/>
                        </a:rPr>
                        <a:t>Mohanty et al. [43]</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800">
                          <a:effectLst/>
                        </a:rPr>
                        <a:t>8</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800" dirty="0">
                          <a:effectLst/>
                        </a:rPr>
                        <a:t>1720962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indent="-1905">
                        <a:lnSpc>
                          <a:spcPct val="115000"/>
                        </a:lnSpc>
                        <a:spcBef>
                          <a:spcPts val="0"/>
                        </a:spcBef>
                        <a:spcAft>
                          <a:spcPts val="0"/>
                        </a:spcAft>
                      </a:pPr>
                      <a:r>
                        <a:rPr lang="en-US" sz="1800" dirty="0">
                          <a:effectLst/>
                        </a:rPr>
                        <a:t>50.0106</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800" dirty="0">
                          <a:effectLst/>
                        </a:rPr>
                        <a:t>11.79</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800" dirty="0">
                          <a:effectLst/>
                        </a:rPr>
                        <a:t>25.37555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800">
                          <a:effectLst/>
                        </a:rPr>
                        <a:t>589.62</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363905">
                <a:tc>
                  <a:txBody>
                    <a:bodyPr/>
                    <a:lstStyle/>
                    <a:p>
                      <a:pPr marL="0" marR="0">
                        <a:lnSpc>
                          <a:spcPct val="115000"/>
                        </a:lnSpc>
                        <a:spcBef>
                          <a:spcPts val="0"/>
                        </a:spcBef>
                        <a:spcAft>
                          <a:spcPts val="0"/>
                        </a:spcAft>
                      </a:pPr>
                      <a:r>
                        <a:rPr lang="en-US" sz="1800">
                          <a:effectLst/>
                        </a:rPr>
                        <a:t>Khoo et al. [31]</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800">
                          <a:effectLst/>
                        </a:rPr>
                        <a:t>8</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800">
                          <a:effectLst/>
                        </a:rPr>
                        <a:t>356293</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indent="-1905">
                        <a:lnSpc>
                          <a:spcPct val="115000"/>
                        </a:lnSpc>
                        <a:spcBef>
                          <a:spcPts val="0"/>
                        </a:spcBef>
                        <a:spcAft>
                          <a:spcPts val="0"/>
                        </a:spcAft>
                      </a:pPr>
                      <a:r>
                        <a:rPr lang="en-US" sz="1800" dirty="0">
                          <a:effectLst/>
                        </a:rPr>
                        <a:t>9.3807</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800" dirty="0">
                          <a:effectLst/>
                        </a:rPr>
                        <a:t>13.1</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800" dirty="0">
                          <a:effectLst/>
                        </a:rPr>
                        <a:t>4.636084</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800" dirty="0">
                          <a:effectLst/>
                        </a:rPr>
                        <a:t>122.89</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363905">
                <a:tc>
                  <a:txBody>
                    <a:bodyPr/>
                    <a:lstStyle/>
                    <a:p>
                      <a:pPr marL="0" marR="0">
                        <a:lnSpc>
                          <a:spcPct val="115000"/>
                        </a:lnSpc>
                        <a:spcBef>
                          <a:spcPts val="0"/>
                        </a:spcBef>
                        <a:spcAft>
                          <a:spcPts val="0"/>
                        </a:spcAft>
                      </a:pPr>
                      <a:r>
                        <a:rPr lang="en-US" sz="1800" dirty="0">
                          <a:effectLst/>
                        </a:rPr>
                        <a:t>Chen et al. [44]</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800">
                          <a:effectLst/>
                        </a:rPr>
                        <a:t>9</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800">
                          <a:effectLst/>
                        </a:rPr>
                        <a:t>22359</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indent="-1905">
                        <a:lnSpc>
                          <a:spcPct val="115000"/>
                        </a:lnSpc>
                        <a:spcBef>
                          <a:spcPts val="0"/>
                        </a:spcBef>
                        <a:spcAft>
                          <a:spcPts val="0"/>
                        </a:spcAft>
                      </a:pPr>
                      <a:r>
                        <a:rPr lang="en-US" sz="1800">
                          <a:effectLst/>
                        </a:rPr>
                        <a:t>9.356</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800" dirty="0">
                          <a:effectLst/>
                        </a:rPr>
                        <a:t>19.23</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800" dirty="0">
                          <a:effectLst/>
                        </a:rPr>
                        <a:t>0.429963</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800" dirty="0">
                          <a:effectLst/>
                        </a:rPr>
                        <a:t>179.91</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r h="750535">
                <a:tc>
                  <a:txBody>
                    <a:bodyPr/>
                    <a:lstStyle/>
                    <a:p>
                      <a:pPr marL="0" marR="0">
                        <a:lnSpc>
                          <a:spcPct val="115000"/>
                        </a:lnSpc>
                        <a:spcBef>
                          <a:spcPts val="0"/>
                        </a:spcBef>
                        <a:spcAft>
                          <a:spcPts val="0"/>
                        </a:spcAft>
                      </a:pPr>
                      <a:r>
                        <a:rPr lang="en-US" sz="1800">
                          <a:effectLst/>
                        </a:rPr>
                        <a:t>Proposed 1 </a:t>
                      </a:r>
                    </a:p>
                    <a:p>
                      <a:pPr marL="0" marR="0">
                        <a:lnSpc>
                          <a:spcPct val="115000"/>
                        </a:lnSpc>
                        <a:spcBef>
                          <a:spcPts val="0"/>
                        </a:spcBef>
                        <a:spcAft>
                          <a:spcPts val="0"/>
                        </a:spcAft>
                      </a:pPr>
                      <a:r>
                        <a:rPr lang="en-US" sz="1800">
                          <a:effectLst/>
                        </a:rPr>
                        <a:t>(Fully-Direct)</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800">
                          <a:effectLst/>
                        </a:rPr>
                        <a:t>11</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800" dirty="0">
                          <a:effectLst/>
                        </a:rPr>
                        <a:t>16239</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indent="-1905">
                        <a:lnSpc>
                          <a:spcPct val="115000"/>
                        </a:lnSpc>
                        <a:spcBef>
                          <a:spcPts val="0"/>
                        </a:spcBef>
                        <a:spcAft>
                          <a:spcPts val="0"/>
                        </a:spcAft>
                      </a:pPr>
                      <a:r>
                        <a:rPr lang="en-US" sz="1800">
                          <a:effectLst/>
                        </a:rPr>
                        <a:t>5.1358</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800" dirty="0">
                          <a:effectLst/>
                        </a:rPr>
                        <a:t>16.56</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800" dirty="0">
                          <a:effectLst/>
                        </a:rPr>
                        <a:t>0.268917</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800" dirty="0">
                          <a:effectLst/>
                        </a:rPr>
                        <a:t>85.04</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5"/>
                  </a:ext>
                </a:extLst>
              </a:tr>
            </a:tbl>
          </a:graphicData>
        </a:graphic>
      </p:graphicFrame>
      <p:sp>
        <p:nvSpPr>
          <p:cNvPr id="5" name="Rectangle 4"/>
          <p:cNvSpPr/>
          <p:nvPr/>
        </p:nvSpPr>
        <p:spPr>
          <a:xfrm>
            <a:off x="1059542" y="1976090"/>
            <a:ext cx="10241679" cy="369332"/>
          </a:xfrm>
          <a:prstGeom prst="rect">
            <a:avLst/>
          </a:prstGeom>
        </p:spPr>
        <p:txBody>
          <a:bodyPr wrap="square">
            <a:spAutoFit/>
          </a:bodyPr>
          <a:lstStyle/>
          <a:p>
            <a:r>
              <a:rPr lang="en-US" b="1" dirty="0">
                <a:latin typeface="Times New Roman" panose="02020603050405020304" pitchFamily="18" charset="0"/>
                <a:ea typeface="Calibri" panose="020F0502020204030204" pitchFamily="34" charset="0"/>
              </a:rPr>
              <a:t>Synthesis results comparison of the proposed 2-D FIR filter architectures with state-of-the art works.</a:t>
            </a:r>
            <a:endParaRPr lang="en-US" dirty="0"/>
          </a:p>
        </p:txBody>
      </p:sp>
    </p:spTree>
    <p:extLst>
      <p:ext uri="{BB962C8B-B14F-4D97-AF65-F5344CB8AC3E}">
        <p14:creationId xmlns:p14="http://schemas.microsoft.com/office/powerpoint/2010/main" val="39476915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94511-2D7F-9592-D315-B57A0A70973C}"/>
              </a:ext>
            </a:extLst>
          </p:cNvPr>
          <p:cNvSpPr>
            <a:spLocks noGrp="1"/>
          </p:cNvSpPr>
          <p:nvPr>
            <p:ph type="title"/>
          </p:nvPr>
        </p:nvSpPr>
        <p:spPr/>
        <p:txBody>
          <a:bodyPr/>
          <a:lstStyle/>
          <a:p>
            <a:r>
              <a:rPr lang="en-IN" dirty="0">
                <a:solidFill>
                  <a:srgbClr val="FF0000"/>
                </a:solidFill>
              </a:rPr>
              <a:t>Power – Delay Comparison</a:t>
            </a:r>
          </a:p>
        </p:txBody>
      </p:sp>
      <p:graphicFrame>
        <p:nvGraphicFramePr>
          <p:cNvPr id="4" name="Content Placeholder 3">
            <a:extLst>
              <a:ext uri="{FF2B5EF4-FFF2-40B4-BE49-F238E27FC236}">
                <a16:creationId xmlns:a16="http://schemas.microsoft.com/office/drawing/2014/main" id="{C8EA83BC-7B11-DC3C-9CE3-547F62DDC3C3}"/>
              </a:ext>
            </a:extLst>
          </p:cNvPr>
          <p:cNvGraphicFramePr>
            <a:graphicFrameLocks noGrp="1"/>
          </p:cNvGraphicFramePr>
          <p:nvPr>
            <p:ph idx="1"/>
            <p:extLst>
              <p:ext uri="{D42A27DB-BD31-4B8C-83A1-F6EECF244321}">
                <p14:modId xmlns:p14="http://schemas.microsoft.com/office/powerpoint/2010/main" val="2604935347"/>
              </p:ext>
            </p:extLst>
          </p:nvPr>
        </p:nvGraphicFramePr>
        <p:xfrm>
          <a:off x="1027775" y="2067646"/>
          <a:ext cx="10515600" cy="4351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92530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E93F0-AA7D-B5DA-04F4-A08E347DD241}"/>
              </a:ext>
            </a:extLst>
          </p:cNvPr>
          <p:cNvSpPr>
            <a:spLocks noGrp="1"/>
          </p:cNvSpPr>
          <p:nvPr>
            <p:ph type="title"/>
          </p:nvPr>
        </p:nvSpPr>
        <p:spPr/>
        <p:txBody>
          <a:bodyPr/>
          <a:lstStyle/>
          <a:p>
            <a:r>
              <a:rPr lang="en-IN" dirty="0">
                <a:solidFill>
                  <a:srgbClr val="FF0000"/>
                </a:solidFill>
              </a:rPr>
              <a:t>Area Delay Product</a:t>
            </a:r>
          </a:p>
        </p:txBody>
      </p:sp>
      <p:graphicFrame>
        <p:nvGraphicFramePr>
          <p:cNvPr id="4" name="Content Placeholder 3">
            <a:extLst>
              <a:ext uri="{FF2B5EF4-FFF2-40B4-BE49-F238E27FC236}">
                <a16:creationId xmlns:a16="http://schemas.microsoft.com/office/drawing/2014/main" id="{4635FCBE-6642-1625-5794-DAA358BB21A4}"/>
              </a:ext>
            </a:extLst>
          </p:cNvPr>
          <p:cNvGraphicFramePr>
            <a:graphicFrameLocks noGrp="1"/>
          </p:cNvGraphicFramePr>
          <p:nvPr>
            <p:ph idx="1"/>
            <p:extLst>
              <p:ext uri="{D42A27DB-BD31-4B8C-83A1-F6EECF244321}">
                <p14:modId xmlns:p14="http://schemas.microsoft.com/office/powerpoint/2010/main" val="3308507757"/>
              </p:ext>
            </p:extLst>
          </p:nvPr>
        </p:nvGraphicFramePr>
        <p:xfrm>
          <a:off x="838200" y="1825625"/>
          <a:ext cx="10515600" cy="4351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9006561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B51AF-DD03-8C7C-6524-ECABB794D278}"/>
              </a:ext>
            </a:extLst>
          </p:cNvPr>
          <p:cNvSpPr>
            <a:spLocks noGrp="1"/>
          </p:cNvSpPr>
          <p:nvPr>
            <p:ph type="title"/>
          </p:nvPr>
        </p:nvSpPr>
        <p:spPr/>
        <p:txBody>
          <a:bodyPr/>
          <a:lstStyle/>
          <a:p>
            <a:r>
              <a:rPr lang="en-IN" dirty="0">
                <a:solidFill>
                  <a:srgbClr val="FF0000"/>
                </a:solidFill>
              </a:rPr>
              <a:t>Power Delay Product</a:t>
            </a:r>
          </a:p>
        </p:txBody>
      </p:sp>
      <p:graphicFrame>
        <p:nvGraphicFramePr>
          <p:cNvPr id="4" name="Content Placeholder 3">
            <a:extLst>
              <a:ext uri="{FF2B5EF4-FFF2-40B4-BE49-F238E27FC236}">
                <a16:creationId xmlns:a16="http://schemas.microsoft.com/office/drawing/2014/main" id="{B98E2DB2-7149-7D89-3CA0-9B242D46A7A7}"/>
              </a:ext>
            </a:extLst>
          </p:cNvPr>
          <p:cNvGraphicFramePr>
            <a:graphicFrameLocks noGrp="1"/>
          </p:cNvGraphicFramePr>
          <p:nvPr>
            <p:ph idx="1"/>
            <p:extLst>
              <p:ext uri="{D42A27DB-BD31-4B8C-83A1-F6EECF244321}">
                <p14:modId xmlns:p14="http://schemas.microsoft.com/office/powerpoint/2010/main" val="1023992790"/>
              </p:ext>
            </p:extLst>
          </p:nvPr>
        </p:nvGraphicFramePr>
        <p:xfrm>
          <a:off x="838200" y="1825625"/>
          <a:ext cx="10515600" cy="4351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86332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8620B-5EA1-6E2E-F297-5FCCC2A8DB20}"/>
              </a:ext>
            </a:extLst>
          </p:cNvPr>
          <p:cNvSpPr>
            <a:spLocks noGrp="1"/>
          </p:cNvSpPr>
          <p:nvPr>
            <p:ph type="title"/>
          </p:nvPr>
        </p:nvSpPr>
        <p:spPr/>
        <p:txBody>
          <a:bodyPr>
            <a:normAutofit/>
          </a:bodyPr>
          <a:lstStyle/>
          <a:p>
            <a:pPr algn="ctr"/>
            <a:r>
              <a:rPr lang="en-IN" sz="4000" b="1" dirty="0">
                <a:latin typeface="Times New Roman" panose="02020603050405020304" pitchFamily="18" charset="0"/>
                <a:cs typeface="Times New Roman" panose="02020603050405020304" pitchFamily="18" charset="0"/>
              </a:rPr>
              <a:t>TOOLS USED</a:t>
            </a:r>
          </a:p>
        </p:txBody>
      </p:sp>
      <p:sp>
        <p:nvSpPr>
          <p:cNvPr id="3" name="Content Placeholder 2">
            <a:extLst>
              <a:ext uri="{FF2B5EF4-FFF2-40B4-BE49-F238E27FC236}">
                <a16:creationId xmlns:a16="http://schemas.microsoft.com/office/drawing/2014/main" id="{6BBB0908-A323-A1A4-4C94-E30F012F9CD3}"/>
              </a:ext>
            </a:extLst>
          </p:cNvPr>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rPr>
              <a:t>MATLAB</a:t>
            </a:r>
          </a:p>
          <a:p>
            <a:r>
              <a:rPr lang="en-IN" dirty="0">
                <a:latin typeface="Times New Roman" panose="02020603050405020304" pitchFamily="18" charset="0"/>
                <a:cs typeface="Times New Roman" panose="02020603050405020304" pitchFamily="18" charset="0"/>
              </a:rPr>
              <a:t>XILINX VIVADO</a:t>
            </a:r>
          </a:p>
          <a:p>
            <a:r>
              <a:rPr lang="en-IN" dirty="0">
                <a:latin typeface="Times New Roman" panose="02020603050405020304" pitchFamily="18" charset="0"/>
                <a:cs typeface="Times New Roman" panose="02020603050405020304" pitchFamily="18" charset="0"/>
              </a:rPr>
              <a:t>CADENCE Genus Tools</a:t>
            </a:r>
          </a:p>
        </p:txBody>
      </p:sp>
    </p:spTree>
    <p:extLst>
      <p:ext uri="{BB962C8B-B14F-4D97-AF65-F5344CB8AC3E}">
        <p14:creationId xmlns:p14="http://schemas.microsoft.com/office/powerpoint/2010/main" val="3420322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FEA64-BB22-468C-6DAA-7DA56AF3FBEC}"/>
              </a:ext>
            </a:extLst>
          </p:cNvPr>
          <p:cNvSpPr>
            <a:spLocks noGrp="1"/>
          </p:cNvSpPr>
          <p:nvPr>
            <p:ph type="title"/>
          </p:nvPr>
        </p:nvSpPr>
        <p:spPr/>
        <p:txBody>
          <a:bodyPr/>
          <a:lstStyle/>
          <a:p>
            <a:r>
              <a:rPr lang="en-IN" dirty="0">
                <a:solidFill>
                  <a:srgbClr val="FF0000"/>
                </a:solidFill>
              </a:rPr>
              <a:t>Conclusion</a:t>
            </a:r>
          </a:p>
        </p:txBody>
      </p:sp>
      <p:sp>
        <p:nvSpPr>
          <p:cNvPr id="3" name="Content Placeholder 2">
            <a:extLst>
              <a:ext uri="{FF2B5EF4-FFF2-40B4-BE49-F238E27FC236}">
                <a16:creationId xmlns:a16="http://schemas.microsoft.com/office/drawing/2014/main" id="{424B7615-5296-6E9E-BD23-59EA06BD31DA}"/>
              </a:ext>
            </a:extLst>
          </p:cNvPr>
          <p:cNvSpPr>
            <a:spLocks noGrp="1"/>
          </p:cNvSpPr>
          <p:nvPr>
            <p:ph idx="1"/>
          </p:nvPr>
        </p:nvSpPr>
        <p:spPr/>
        <p:txBody>
          <a:bodyPr>
            <a:normAutofit/>
          </a:bodyPr>
          <a:lstStyle/>
          <a:p>
            <a:r>
              <a:rPr lang="en-IN" sz="2400" dirty="0">
                <a:latin typeface="Times New Roman" panose="02020603050405020304" pitchFamily="18" charset="0"/>
                <a:cs typeface="Times New Roman" panose="02020603050405020304" pitchFamily="18" charset="0"/>
              </a:rPr>
              <a:t>A 2D FIR filter coefficients are generated using MATLAB and those coefficients are transformed into CSD bits.</a:t>
            </a:r>
          </a:p>
          <a:p>
            <a:r>
              <a:rPr lang="en-IN" sz="2400" dirty="0">
                <a:latin typeface="Times New Roman" panose="02020603050405020304" pitchFamily="18" charset="0"/>
                <a:cs typeface="Times New Roman" panose="02020603050405020304" pitchFamily="18" charset="0"/>
              </a:rPr>
              <a:t>Filter architectures are designed using CSD bits and architectures are integrated using shift register blocks.</a:t>
            </a:r>
          </a:p>
          <a:p>
            <a:r>
              <a:rPr lang="en-IN" sz="2400" dirty="0">
                <a:latin typeface="Times New Roman" panose="02020603050405020304" pitchFamily="18" charset="0"/>
                <a:cs typeface="Times New Roman" panose="02020603050405020304" pitchFamily="18" charset="0"/>
              </a:rPr>
              <a:t>VLSI architectures are implemented and synthesis reports are generated using Vivado tool.</a:t>
            </a:r>
          </a:p>
          <a:p>
            <a:r>
              <a:rPr lang="en-IN" sz="2400" dirty="0">
                <a:latin typeface="Times New Roman" panose="02020603050405020304" pitchFamily="18" charset="0"/>
                <a:cs typeface="Times New Roman" panose="02020603050405020304" pitchFamily="18" charset="0"/>
              </a:rPr>
              <a:t>Area, Power and Delay are generated using Cadence Genus tool. </a:t>
            </a:r>
          </a:p>
          <a:p>
            <a:r>
              <a:rPr lang="en-IN" sz="2400" dirty="0">
                <a:latin typeface="Times New Roman" panose="02020603050405020304" pitchFamily="18" charset="0"/>
                <a:cs typeface="Times New Roman" panose="02020603050405020304" pitchFamily="18" charset="0"/>
              </a:rPr>
              <a:t>Obtained 2D FIR filter which yielded an optimized area of up to 91%and delay of up to 8%.</a:t>
            </a:r>
          </a:p>
          <a:p>
            <a:endParaRPr lang="en-IN"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02805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AFEE2E7-E37B-4F0D-BBE4-4B44223ED70B}"/>
              </a:ext>
            </a:extLst>
          </p:cNvPr>
          <p:cNvSpPr txBox="1">
            <a:spLocks/>
          </p:cNvSpPr>
          <p:nvPr/>
        </p:nvSpPr>
        <p:spPr>
          <a:xfrm>
            <a:off x="1119554" y="19536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Times New Roman" panose="02020603050405020304" pitchFamily="18" charset="0"/>
                <a:cs typeface="Times New Roman" panose="02020603050405020304" pitchFamily="18" charset="0"/>
              </a:rPr>
              <a:t>REFERENCES</a:t>
            </a:r>
          </a:p>
        </p:txBody>
      </p:sp>
      <p:pic>
        <p:nvPicPr>
          <p:cNvPr id="5" name="Picture 2">
            <a:extLst>
              <a:ext uri="{FF2B5EF4-FFF2-40B4-BE49-F238E27FC236}">
                <a16:creationId xmlns:a16="http://schemas.microsoft.com/office/drawing/2014/main" id="{E1A4D88F-4F85-413D-B8E9-8505C12BC2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750703" cy="152092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644CDEF-CD8F-5023-AD11-52D85600E0AC}"/>
              </a:ext>
            </a:extLst>
          </p:cNvPr>
          <p:cNvSpPr txBox="1"/>
          <p:nvPr/>
        </p:nvSpPr>
        <p:spPr>
          <a:xfrm>
            <a:off x="618067" y="1650999"/>
            <a:ext cx="11286066" cy="3693319"/>
          </a:xfrm>
          <a:prstGeom prst="rect">
            <a:avLst/>
          </a:prstGeom>
          <a:noFill/>
        </p:spPr>
        <p:txBody>
          <a:bodyPr wrap="square" rtlCol="0">
            <a:spAutoFit/>
          </a:bodyPr>
          <a:lstStyle/>
          <a:p>
            <a:pPr marL="342900" indent="-342900">
              <a:buSzPct val="100000"/>
              <a:buFont typeface="+mj-lt"/>
              <a:buAutoNum type="arabicPeriod"/>
            </a:pPr>
            <a:r>
              <a:rPr lang="en-US" dirty="0">
                <a:latin typeface="Times New Roman" panose="02020603050405020304" pitchFamily="18" charset="0"/>
                <a:cs typeface="Times New Roman" panose="02020603050405020304" pitchFamily="18" charset="0"/>
              </a:rPr>
              <a:t>Mohanty B. K., Meher P. K., Al- </a:t>
            </a:r>
            <a:r>
              <a:rPr lang="en-US" dirty="0" err="1">
                <a:latin typeface="Times New Roman" panose="02020603050405020304" pitchFamily="18" charset="0"/>
                <a:cs typeface="Times New Roman" panose="02020603050405020304" pitchFamily="18" charset="0"/>
              </a:rPr>
              <a:t>Maadeed</a:t>
            </a:r>
            <a:r>
              <a:rPr lang="en-US" dirty="0">
                <a:latin typeface="Times New Roman" panose="02020603050405020304" pitchFamily="18" charset="0"/>
                <a:cs typeface="Times New Roman" panose="02020603050405020304" pitchFamily="18" charset="0"/>
              </a:rPr>
              <a:t>  S., &amp; Amira, A. (2013). Memory footprint reduction for power-efficient realization of 2-D finite impulse response filters. IEEE Transactions on Circuits and Systems I: Regular Papers, 61(1), 120–133.</a:t>
            </a:r>
          </a:p>
          <a:p>
            <a:pPr marL="342900" indent="-342900">
              <a:buSzPct val="100000"/>
              <a:buFont typeface="+mj-lt"/>
              <a:buAutoNum type="arabicPeriod"/>
            </a:pPr>
            <a:r>
              <a:rPr lang="en-US" dirty="0">
                <a:latin typeface="Times New Roman" panose="02020603050405020304" pitchFamily="18" charset="0"/>
                <a:cs typeface="Times New Roman" panose="02020603050405020304" pitchFamily="18" charset="0"/>
              </a:rPr>
              <a:t>Chandra, A., &amp; Chattopadhyay, S. (2016). A new strategy of image denoising using multiplier-less FIR filter designed with the aid of the differential evolution algorithm. Multimedia Tools and Applications, 75(2), 1079–1098.</a:t>
            </a:r>
          </a:p>
          <a:p>
            <a:pPr marL="342900" indent="-342900">
              <a:buSzPct val="100000"/>
              <a:buFont typeface="+mj-lt"/>
              <a:buAutoNum type="arabicPeriod"/>
            </a:pPr>
            <a:r>
              <a:rPr lang="en-IN" dirty="0">
                <a:latin typeface="Times New Roman" panose="02020603050405020304" pitchFamily="18" charset="0"/>
                <a:cs typeface="Times New Roman" panose="02020603050405020304" pitchFamily="18" charset="0"/>
              </a:rPr>
              <a:t>Das, P., Naskar, S. K., &amp; Narayan Patra, S. (2019). Fast converging cuckoo search algorithm to design symmetric FIR filters. International Journal of Computers and Applications, 1–19.</a:t>
            </a:r>
          </a:p>
          <a:p>
            <a:pPr marL="342900" indent="-342900">
              <a:buSzPct val="100000"/>
              <a:buFont typeface="+mj-lt"/>
              <a:buAutoNum type="arabicPeriod"/>
            </a:pPr>
            <a:r>
              <a:rPr lang="en-US" dirty="0">
                <a:latin typeface="Times New Roman" panose="02020603050405020304" pitchFamily="18" charset="0"/>
                <a:cs typeface="Times New Roman" panose="02020603050405020304" pitchFamily="18" charset="0"/>
              </a:rPr>
              <a:t>Bindima, T., &amp; Elias, E. (2019). Low-complexity 2-D digital FIR filters using polyphase decomposition and farrow structure. IEEE Transactions on Circuits and Systems I: Regular Papers, 66(6), 2298–2308.</a:t>
            </a:r>
            <a:endParaRPr lang="en-IN" dirty="0">
              <a:latin typeface="Times New Roman" panose="02020603050405020304" pitchFamily="18" charset="0"/>
              <a:cs typeface="Times New Roman" panose="02020603050405020304" pitchFamily="18" charset="0"/>
            </a:endParaRPr>
          </a:p>
          <a:p>
            <a:pPr marL="342900" indent="-342900">
              <a:buSzPct val="100000"/>
              <a:buFont typeface="+mj-lt"/>
              <a:buAutoNum type="arabicPeriod"/>
            </a:pPr>
            <a:r>
              <a:rPr lang="en-US" dirty="0">
                <a:latin typeface="Times New Roman" panose="02020603050405020304" pitchFamily="18" charset="0"/>
                <a:cs typeface="Times New Roman" panose="02020603050405020304" pitchFamily="18" charset="0"/>
              </a:rPr>
              <a:t>Odugu, V. K., Venkata Narasimhulu, C., &amp; Prasad, K. S. (2019). Implementation of low power and memory efficient 2D FIR filter architecture. International Journal of Recent Technology and Engineering, 8(1), 927–935.</a:t>
            </a:r>
          </a:p>
          <a:p>
            <a:pPr marL="342900" indent="-342900">
              <a:buSzPct val="100000"/>
              <a:buFont typeface="+mj-lt"/>
              <a:buAutoNum type="arabicPeriod"/>
            </a:pPr>
            <a:endParaRPr lang="en-US" dirty="0">
              <a:latin typeface="Times New Roman" panose="02020603050405020304" pitchFamily="18" charset="0"/>
              <a:cs typeface="Times New Roman" panose="02020603050405020304" pitchFamily="18" charset="0"/>
            </a:endParaRPr>
          </a:p>
          <a:p>
            <a:pPr marL="342900" indent="-342900">
              <a:buFont typeface="+mj-lt"/>
              <a:buAutoNum type="arabicPeriod"/>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3199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1178</TotalTime>
  <Words>2793</Words>
  <Application>Microsoft Office PowerPoint</Application>
  <PresentationFormat>Widescreen</PresentationFormat>
  <Paragraphs>380</Paragraphs>
  <Slides>41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Arial</vt:lpstr>
      <vt:lpstr>Calibri</vt:lpstr>
      <vt:lpstr>Calibri Light</vt:lpstr>
      <vt:lpstr>Montserrat</vt:lpstr>
      <vt:lpstr>Oswald</vt:lpstr>
      <vt:lpstr>Times New Roman</vt:lpstr>
      <vt:lpstr>Office Theme</vt:lpstr>
      <vt:lpstr>VLSI Design and Implementation of Two Dimensional FIR filter architectures using CSD </vt:lpstr>
      <vt:lpstr>ABSTRACT</vt:lpstr>
      <vt:lpstr>OBJECTIVE</vt:lpstr>
      <vt:lpstr>LITERATURE SURVEY</vt:lpstr>
      <vt:lpstr>  ARCHITECTURE OF DIRECT FORM FIR  FILTER  </vt:lpstr>
      <vt:lpstr>CANONICAL SIGNED DIGIT REPRESENTATION</vt:lpstr>
      <vt:lpstr>CANONIC SIGNED DIGIT EXAMPLE</vt:lpstr>
      <vt:lpstr>PowerPoint Presentation</vt:lpstr>
      <vt:lpstr>PowerPoint Presentation</vt:lpstr>
      <vt:lpstr>PowerPoint Presentation</vt:lpstr>
      <vt:lpstr>FILTER ARCHITECTURE USING CSD</vt:lpstr>
      <vt:lpstr>ROW FILTER-1 CSD CODE</vt:lpstr>
      <vt:lpstr>PowerPoint Presentation</vt:lpstr>
      <vt:lpstr>PowerPoint Presentation</vt:lpstr>
      <vt:lpstr>ROW FILTER-2 CSD CODE</vt:lpstr>
      <vt:lpstr>PowerPoint Presentation</vt:lpstr>
      <vt:lpstr>PowerPoint Presentation</vt:lpstr>
      <vt:lpstr>ROW FILTER-3 CSD CODE</vt:lpstr>
      <vt:lpstr>PowerPoint Presentation</vt:lpstr>
      <vt:lpstr>PowerPoint Presentation</vt:lpstr>
      <vt:lpstr>ROW FILTER-4 CSD CODE</vt:lpstr>
      <vt:lpstr>PowerPoint Presentation</vt:lpstr>
      <vt:lpstr>PowerPoint Presentation</vt:lpstr>
      <vt:lpstr>ROW FILTER-5 CSD CODE</vt:lpstr>
      <vt:lpstr>PowerPoint Presentation</vt:lpstr>
      <vt:lpstr>PowerPoint Presentation</vt:lpstr>
      <vt:lpstr>ROW FILTER-6 CSD CODE</vt:lpstr>
      <vt:lpstr>PowerPoint Presentation</vt:lpstr>
      <vt:lpstr>PowerPoint Presentation</vt:lpstr>
      <vt:lpstr>PowerPoint Presentation</vt:lpstr>
      <vt:lpstr>PowerPoint Presentation</vt:lpstr>
      <vt:lpstr>PowerPoint Presentation</vt:lpstr>
      <vt:lpstr>PERFORMANCE ANALYSIS AND RESULTS</vt:lpstr>
      <vt:lpstr>ASIC Synthesis Results</vt:lpstr>
      <vt:lpstr>ASIC Synthesis Results</vt:lpstr>
      <vt:lpstr>Power – Delay Comparison</vt:lpstr>
      <vt:lpstr>Area Delay Product</vt:lpstr>
      <vt:lpstr>Power Delay Product</vt:lpstr>
      <vt:lpstr>TOOLS USED</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AND IMPLEMENTATION OF VLSI ARCHITECTURE   FOR AREA-POWER EFFICIENT FIR FILTERS USING CSD</dc:title>
  <dc:creator>Pawan kumar</dc:creator>
  <cp:lastModifiedBy>Surya Vardhan</cp:lastModifiedBy>
  <cp:revision>98</cp:revision>
  <dcterms:created xsi:type="dcterms:W3CDTF">2022-08-05T08:44:19Z</dcterms:created>
  <dcterms:modified xsi:type="dcterms:W3CDTF">2023-04-15T06:08:50Z</dcterms:modified>
</cp:coreProperties>
</file>